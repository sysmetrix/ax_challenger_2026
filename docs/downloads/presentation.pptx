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73" r:id="rId4"/>
    <p:sldId id="274" r:id="rId5"/>
    <p:sldId id="275" r:id="rId6"/>
    <p:sldId id="258" r:id="rId7"/>
    <p:sldId id="259" r:id="rId8"/>
    <p:sldId id="276" r:id="rId9"/>
    <p:sldId id="260" r:id="rId10"/>
    <p:sldId id="261" r:id="rId11"/>
    <p:sldId id="277" r:id="rId12"/>
    <p:sldId id="278" r:id="rId13"/>
    <p:sldId id="262" r:id="rId14"/>
    <p:sldId id="263" r:id="rId15"/>
    <p:sldId id="264" r:id="rId16"/>
    <p:sldId id="265" r:id="rId17"/>
    <p:sldId id="266" r:id="rId18"/>
    <p:sldId id="272" r:id="rId19"/>
    <p:sldId id="267" r:id="rId20"/>
    <p:sldId id="268" r:id="rId21"/>
    <p:sldId id="279" r:id="rId22"/>
    <p:sldId id="269" r:id="rId23"/>
    <p:sldId id="270" r:id="rId24"/>
    <p:sldId id="271" r:id="rId25"/>
  </p:sldIdLst>
  <p:sldSz cx="12192000" cy="6858000"/>
  <p:notesSz cx="6807200" cy="9939338"/>
  <p:embeddedFontLst>
    <p:embeddedFont>
      <p:font typeface="KoPub돋움체 Bold" panose="02020603020101020101" pitchFamily="18" charset="-127"/>
      <p:regular r:id="rId27"/>
    </p:embeddedFont>
    <p:embeddedFont>
      <p:font typeface="KoPub돋움체 Medium" panose="02020603020101020101" pitchFamily="18" charset="-127"/>
      <p:regular r:id="rId28"/>
    </p:embeddedFont>
    <p:embeddedFont>
      <p:font typeface="맑은 고딕" panose="020B0503020000020004" pitchFamily="50" charset="-127"/>
      <p:regular r:id="rId29"/>
      <p:bold r:id="rId30"/>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81AB"/>
    <a:srgbClr val="EC5D62"/>
    <a:srgbClr val="82B135"/>
    <a:srgbClr val="FFFFFF"/>
    <a:srgbClr val="FDF1E5"/>
    <a:srgbClr val="FFC000"/>
    <a:srgbClr val="4A4A4A"/>
    <a:srgbClr val="FBC500"/>
    <a:srgbClr val="E2BF13"/>
    <a:srgbClr val="FFDE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965" autoAdjust="0"/>
  </p:normalViewPr>
  <p:slideViewPr>
    <p:cSldViewPr snapToGrid="0">
      <p:cViewPr varScale="1">
        <p:scale>
          <a:sx n="90" d="100"/>
          <a:sy n="90" d="100"/>
        </p:scale>
        <p:origin x="90"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6038" y="0"/>
            <a:ext cx="2949575" cy="498475"/>
          </a:xfrm>
          <a:prstGeom prst="rect">
            <a:avLst/>
          </a:prstGeom>
        </p:spPr>
        <p:txBody>
          <a:bodyPr vert="horz" lIns="91440" tIns="45720" rIns="91440" bIns="45720" rtlCol="0"/>
          <a:lstStyle>
            <a:lvl1pPr algn="r">
              <a:defRPr sz="1200"/>
            </a:lvl1pPr>
          </a:lstStyle>
          <a:p>
            <a:fld id="{87828C2C-2DA5-4894-A387-4CC889B452D0}" type="datetimeFigureOut">
              <a:rPr lang="ko-KR" altLang="en-US" smtClean="0"/>
              <a:t>26-10-04 [Sun]</a:t>
            </a:fld>
            <a:endParaRPr lang="ko-KR" altLang="en-US"/>
          </a:p>
        </p:txBody>
      </p:sp>
      <p:sp>
        <p:nvSpPr>
          <p:cNvPr id="4" name="슬라이드 이미지 개체 틀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1038" y="4783138"/>
            <a:ext cx="5445125" cy="3913187"/>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6038" y="9440863"/>
            <a:ext cx="2949575" cy="498475"/>
          </a:xfrm>
          <a:prstGeom prst="rect">
            <a:avLst/>
          </a:prstGeom>
        </p:spPr>
        <p:txBody>
          <a:bodyPr vert="horz" lIns="91440" tIns="45720" rIns="91440" bIns="45720" rtlCol="0" anchor="b"/>
          <a:lstStyle>
            <a:lvl1pPr algn="r">
              <a:defRPr sz="1200"/>
            </a:lvl1pPr>
          </a:lstStyle>
          <a:p>
            <a:fld id="{29DDF6ED-3067-4706-92A2-8A2E5BC61D97}" type="slidenum">
              <a:rPr lang="ko-KR" altLang="en-US" smtClean="0"/>
              <a:t>‹#›</a:t>
            </a:fld>
            <a:endParaRPr lang="ko-KR" altLang="en-US"/>
          </a:p>
        </p:txBody>
      </p:sp>
    </p:spTree>
    <p:extLst>
      <p:ext uri="{BB962C8B-B14F-4D97-AF65-F5344CB8AC3E}">
        <p14:creationId xmlns:p14="http://schemas.microsoft.com/office/powerpoint/2010/main" val="27673362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00:00~00:30 · 배정 30초</a:t>
            </a:r>
          </a:p>
          <a:p>
            <a:r>
              <a:t>오늘은 AX 챌린저가 현장의 문제를 직접 개선한 과정과 성과를 공유하겠습니다. 올해의 시도를 바탕으로, 2027년에는 자체 개발과 실제 활용을 함께 강화하는 방향을 말씀드리겠습니다. 경과와 주요 성과를 보고드린 뒤 김준호 직원 표창, 차년도 계획 순으로 진행하겠습니다.</a:t>
            </a:r>
          </a:p>
          <a:p>
            <a:r>
              <a:t>근거: E01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00:30~01:15 · 배정 45초</a:t>
            </a:r>
          </a:p>
          <a:p>
            <a:r>
              <a:t>올해 AX 챌린저는 AI 활용과 현장의 사업·행정 문제 개선을 지원하는 활동으로 운영했습니다. 초기에는 도구를 배우고 활용 사례를 찾았고, 이후에는 부서의 반복업무를 함께 개발하고 검증하는 역할로 넓어졌습니다. [클릭] 직원 조사와 문서 전환 등 공통 기반을 정비하고, [클릭] 하반기에는 도구를 실제 업무에 적용하며 사용자 의견을 모았습니다. 현업 담당자가 자료와 서식을 설명하고, 개발 참여자가 기능으로 옮기며, 동료가 오류와 불편을 알려 주는 협업이 이루어졌습니다. 먼저 이 활동을 함께한 챌린저 전원을 소개하겠습니다.</a:t>
            </a:r>
          </a:p>
          <a:p>
            <a:r>
              <a:t>근거: E01;E02;E06;E09;E10;E31 / N02;L01;L02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01:15~01:50 · 배정 35초</a:t>
            </a:r>
          </a:p>
          <a:p>
            <a:r>
              <a:t>AX 챌린저는 세 갈래로 움직였습니다. 전략경영실과 함께 HWPX 전환, 직원 조사, 윤리지침안 같은 공동 기반을 만들고, 각 부서에서는 반복 입력과 서식, 이용자 서비스, 홍보콘텐츠를 직접 개선해 보았습니다. 여러 부서에 걸친 과제는 TF로 함께 추진했습니다.</a:t>
            </a:r>
          </a:p>
          <a:p>
            <a:r>
              <a:t>이 활동은 협업 허브의 자료·사례·회의 기록과 정기모임으로 공유했고, 현장에서 쓴 의견을 다시 다음 개선으로 연결했습니다. 처음에는 모두가 개발을 맡는 구상이었지만, 5~6월에 부서 확산과 필요 시 TF로 역할을 다시 정했습니다.</a:t>
            </a:r>
          </a:p>
          <a:p>
            <a:r>
              <a:t>(유의) 세 갈래는 활동 분류이며 고정 조직·직제가 아닙니다.</a:t>
            </a:r>
          </a:p>
          <a:p>
            <a:r>
              <a:t>근거: E01 / N01;N17;N02;L04;L06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01:50~02:25 · 배정 35초</a:t>
            </a:r>
          </a:p>
          <a:p>
            <a:r>
              <a:t>4월 9일 위촉과 첫 모임으로 출범했습니다. 5~6월에는 역할을 다시 정해 부서 확산과 TF를 병행했고, 6~7월에는 HWPX 전환과 전 직원 조사로 공통 기반을 정비했습니다. 7~9월에는 부서별로 실험·개발·공유를 이어갔고, 9월에는 수입행정 도구 운영을 시작하고 월간 업무보고 시제품을 점검했습니다. 오늘 성과보고회에서 그 결과를 함께 나눕니다.</a:t>
            </a:r>
          </a:p>
          <a:p>
            <a:r>
              <a:t>아래는 정기모임의 흐름입니다. 4월 킥오프와 위촉식, 5월 역할 재정립, 6월 지침안 검토와 TF 구성, 7월 설문 결과 공유, 8월 상반기 결산, 9월 경과보고 공유로 이어졌습니다. 다음 장에서 주요 이정표를 보겠습니다.</a:t>
            </a:r>
          </a:p>
          <a:p>
            <a:r>
              <a:t>근거: E01;E02;E06;E07;E09;E13;E31 / L02;N17;N02;L03;L04;L06;N01 회의록</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02:25~03:00 · 배정 35초</a:t>
            </a:r>
          </a:p>
          <a:p>
            <a:r>
              <a:t>월별 주요 이정표입니다. 5월에 HWPX 전환을 결정하고 챌린저 역할을 다시 정했습니다. 6월에는 HWPX 전면 적용과 전 직원 설문을 진행했고, 소사청소년센터가 6월 17일 첫 직원 AI 활용 안내 워크숍을 열었습니다. 7월에는 설문 결과를 공유하고 KPI 성과관리 시스템을 조건부로 운영하기 시작했으며, 일쉼지원센터가 7월 29일 전 직원 워크숍을 진행했습니다. 8월에는 상반기를 결산하고 윤리 지침안을 정리했고, 9월에는 수입·지출 대시보드 운영, 퀴즈톡 베타 배포, 월간 업무보고 결과 정리, 9월 22일 산울림청소년센터 워크숍이 이어졌습니다. 이어서 함께한 챌린저를 소개하겠습니다.</a:t>
            </a:r>
          </a:p>
          <a:p>
            <a:r>
              <a:t>(유의) 산울림 워크숍 인원은 대상 14명 기준입니다. KPI 시스템은 7.13. 위험 요소 보완 후 조건부 운영 개시이며 전사 배포 일정은 별도입니다.</a:t>
            </a:r>
          </a:p>
          <a:p>
            <a:r>
              <a:t>근거: N01 회의록;N05;N03;N04;N07;L03;L04;L06;L07</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03:00~04:00 · 배정 1분</a:t>
            </a:r>
          </a:p>
          <a:p>
            <a:r>
              <a:t>올해 함께 활동한 15명의 AX 챌린저입니다. 오늘 참석한 분들은 자리에서 가볍게 일어서 인사해 주시면 감사하겠습니다.</a:t>
            </a:r>
          </a:p>
          <a:p>
            <a:r>
              <a:t>윤리감사 이정아 님, 전략경영실 김지은, 오태규 님, 부천시여성회관 이지선 님, 부천여성청소년센터 이숙진 님, 부천시청소년센터 김성애 님,</a:t>
            </a:r>
          </a:p>
          <a:p>
            <a:r>
              <a:t>[클릭] 산울림청소년센터 김민선, 김준환 님, 소사청소년센터 김준호, 태진호 님, 부천시청소년상담복지센터 이영운, 신홍철 님, 부천시일쉼지원센터 김숙희 님, 부천시건강가정지원센터 정소라, 신동은 님입니다.</a:t>
            </a:r>
          </a:p>
          <a:p>
            <a:r>
              <a:t>업무 속에서 배우고, 만들고, 동료의 활용을 도와주신 모든 챌린저에게 감사드립니다. 큰 박수 부탁드립니다. 자리에 앉아 주십시오. 이어서 주요 성과를 말씀드리겠습니다.</a:t>
            </a:r>
          </a:p>
          <a:p>
            <a:r>
              <a:t>근거: E37 / L14;N01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04:00 · 전환</a:t>
            </a:r>
          </a:p>
          <a:p>
            <a:r>
              <a:t>주요 성과는 공통 기반, 부서 현장 사례, 시행착오, TF 공동 결과물 순으로 말씀드리겠습니다.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04:00~04:40 · 배정 40초</a:t>
            </a:r>
          </a:p>
          <a:p>
            <a:r>
              <a:t>올해 성과를 숫자로 먼저 보겠습니다. 10개 부서 15명의 챌린저가 참여했고, 전 직원 조사 응답자의 92.9%가 업무에 AI를 활용한다고 답했습니다. 소사청소년센터의 안전교육일지는 10개 작성에 약 20분 걸리던 일이 1분 이내로, 전략경영실의 보안점검 결과 정리는 40분에서 5분으로 줄었습니다. 직원 AI 활용 워크숍은 소사청소년센터(6.17., 15명 중 13명 참석), 일쉼지원센터(7.29., 6명 전원), 산울림청소년센터(9.22., 14명 대상) 세 곳에서 열렸고, 일쉼지원센터 공동실습 뒤에는 활용 방법을 모르겠다는 응답이 4명에서 2명으로 줄었습니다.</a:t>
            </a:r>
          </a:p>
          <a:p>
            <a:r>
              <a:t>(유의) 각 수치는 해당 사례·조사의 조건에서 나온 값입니다. 전사 평균 절감률이나 사업 효과율로 일반화하지 않습니다. 전체 결과물 개수(27종·22건 등)는 재검증 전이라 쓰지 않았습니다.</a:t>
            </a:r>
          </a:p>
          <a:p>
            <a:r>
              <a:t>근거: E01;E03;E11;E13;E18;E23;E30 / N03;N04;N07</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04:40~05:20 · 배정 40초</a:t>
            </a:r>
          </a:p>
          <a:p>
            <a:r>
              <a:t>전 직원 대상 6월 조사에 143명 중 113명이 응답했고, 응답률은 79.0퍼센트입니다. 응답자 중 92.9퍼센트가 업무에 AI를 활용한다고 답했으며, 활용 자신감은 10점 만점에 평균 4.96점이었습니다. [클릭] 활용 경험과 함께 실습·사용지원이 필요함을 확인했습니다.</a:t>
            </a:r>
          </a:p>
          <a:p>
            <a:r>
              <a:t>(유의) 응답자의 자기보고로, 전 직원의 확정 활용률이나 사업에 따른 증가율은 아닙니다. 미확정 전체 결과물 수 대신 반복 입력 감소, 공통 데이터 구조와 동료 활용지원 사례를 보겠습니다.</a:t>
            </a:r>
          </a:p>
          <a:p>
            <a:r>
              <a:t>근거: E02;E03;E04;E05 / L03 4·5·8·12·23·25쪽</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05:20~06:10 · 배정 50초</a:t>
            </a:r>
          </a:p>
          <a:p>
            <a:r>
              <a:t>통합 결과물은 앞으로의 개발과 활용을 위한 공통 기반입니다.</a:t>
            </a:r>
          </a:p>
          <a:p>
            <a:r>
              <a:t>첫째, HWPX 문서 체계 전환을 공표하고 적용을 지원했습니다. 직원들이 AI로 작성하거나 정리한 내용을 업무 문서로 옮길 수 있도록 변환 도구도 안내했습니다. 다만 과거 문서가 모두 전환됐다는 의미는 아닙니다. 자주 사용하는 서식과 저장 관행을 정착시키는 지원이 계속 필요합니다.</a:t>
            </a:r>
          </a:p>
          <a:p>
            <a:r>
              <a:t>[클릭] 둘째, 직원 현황조사입니다. 앞에서 본 수치에 더해, 직원들은 업무별 사례자료와 실습 중심 교육을 원했습니다. 도구 이름과 기능을 많이 소개하는 것보다 자신의 업무를 직접 해보는 교육이 중요하다는 방향을 확인했습니다. 차년도에는 이 수요를 공동실습과 현장 검증 과정으로 연결하겠습니다.</a:t>
            </a:r>
          </a:p>
          <a:p>
            <a:r>
              <a:t>[클릭] 셋째, AI 활용 윤리 지침안입니다. 활용 범위, 결과 검토 책임, 업무자료를 다루는 기준을 정리하고 현장 의견을 검토했습니다. 현재 확인한 자료로는 지침안 마련과 공동 검토 단계로 말씀드리는 것이 정확합니다(제정 완료 아님).</a:t>
            </a:r>
          </a:p>
          <a:p>
            <a:r>
              <a:t>이런 공통 기반은 개별 도구가 담당자의 경험에만 의존하지 않고 기관 안에서 지속적으로 활용되도록 하는 토대입니다.</a:t>
            </a:r>
          </a:p>
          <a:p>
            <a:r>
              <a:t>근거: E02~E07;E32 / L03;L07;N02;N15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06:10~07:00 · 배정 50초</a:t>
            </a:r>
          </a:p>
          <a:p>
            <a:r>
              <a:t>전략경영실은 부서 사례와 함께 기관 전체가 쓰는 시스템과 기반 도구를 맡았습니다.</a:t>
            </a:r>
          </a:p>
          <a:p>
            <a:r>
              <a:t>대표적인 것이 KPI 성과관리 시스템입니다. 엑셀 파일 중심으로 취합하던 KPI 실적을 웹에서 입력하고, 담당자가 확인·승인한 뒤 집계하는 흐름으로 바꿨고, 9월 보고 기준 정식 운영 중입니다.</a:t>
            </a:r>
          </a:p>
          <a:p>
            <a:r>
              <a:t>이 밖에 HWPX 문서 체계 전환과 변환 도구, 보안점검 결과를 정리하는 내PC지키미 자동화, 재단 업무 사례로 따라 하는 구글 AI 활용 콘텐츠, 전 직원 활용성 조사와 윤리 지침안을 함께 추진했습니다. 수입·지출 대시보드는 김준호 직원 개발을 전략경영실이 지원했습니다.</a:t>
            </a:r>
          </a:p>
          <a:p>
            <a:r>
              <a:t>(유의) KPI 시스템의 30% 절감·95% 완료·만족도 92점 등은 목표값이며 실적으로 말하지 않습니다. 운영 시작일은 제출물마다 달라 날짜를 특정하지 않았습니다.</a:t>
            </a:r>
          </a:p>
          <a:p>
            <a:r>
              <a:t>근거: E08;E06;E32;E30;E10;E02;E07 / N02;N05;N12;N15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07:00~08:00 · 배정 1분</a:t>
            </a:r>
          </a:p>
          <a:p>
            <a:r>
              <a:t>올해 만들고 시험한 도구와 활동을 업무 유형별로 모았습니다. 재무·회계에서는 수입·지출 대시보드와 결의서 생성기, 이체명세서, 급량비 기안을, 시설·서비스 운영에서는 안전교육일지, 디지털 출입기록, 출석부, 청소년카페 이용관리처럼 현장 업무를 다뤘습니다. 보고·통계, 홍보·기록, 규정·보안, 문서 관리와 직원 활용지원까지 영역이 넓습니다.</a:t>
            </a:r>
          </a:p>
          <a:p>
            <a:r>
              <a:t>여러분의 업무와 비슷한 사례가 있다면 담당 챌린저에게 물어봐 주십시오. 다음 장에서 두 가지 변화를 자세히 보겠습니다.</a:t>
            </a:r>
          </a:p>
          <a:p>
            <a:r>
              <a:t>(유의) 단계는 각 부서의 제출·보고 상태입니다. 이 목록의 항목 수는 프로젝트 총계나 완료 건수가 아닙니다. 전체 목록은 03B 업무유형별 사례목록에 있습니다.</a:t>
            </a:r>
          </a:p>
          <a:p>
            <a:r>
              <a:t>근거: 03B 업무유형별 사례목록 / E06~E32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08:00~09:30 · 배정 1분 30초</a:t>
            </a:r>
          </a:p>
          <a:p>
            <a:r>
              <a:t>부서별 결과물은 자동화, 대민서비스, 홍보콘텐츠, 문화확산으로 묶어 볼 수 있습니다. 출석부와 행정서류 생성, 청소년카페 이용관리, 보도자료 초안과 활동기록 아카이브처럼 서로 다른 업무에서 개선을 시도했습니다. 전체 목록은 근거표에 담았고, 여기서는 두 가지 변화에 집중하겠습니다.</a:t>
            </a:r>
          </a:p>
          <a:p>
            <a:r>
              <a:t>첫 번째는 소사청소년센터의 안전교육일지입니다. 기존에는 엑셀 대장에 작성한 내용을 다시 일지에 옮겨 적었습니다. [클릭] 개선 후에는 이미 입력한 데이터를 활용해 HWPX 일지를 생성합니다. 제출 사례에서는 일지 10개를 작성하는 작업이 약 20분에서 1분 이내로 줄었다고 보고했습니다. 이 시간은 해당 사례의 조건에서 확인한 값입니다. 다른 업무 전체의 평균 절감률로 확대하기보다 같은 내용을 다시 입력하는 일을 줄였다는 변화에 주목해 주시면 좋겠습니다.</a:t>
            </a:r>
          </a:p>
          <a:p>
            <a:r>
              <a:t>두 번째는 일쉼지원센터의 공동실습입니다. 직원 6명이 함께 참여해 각자 업무 과제를 적용하고 사후 변화를 확인했습니다. 어떻게 활용할지 모르겠다는 응답도 4명에서 2명으로 줄었습니다. 작은 부서의 자기보고 사례이므로 전사 효과로 일반화할 수는 없지만, 도구를 제공하는 데서 끝내지 않고 함께 써보는 과정이 필요하다는 점을 보여줍니다.</a:t>
            </a:r>
          </a:p>
          <a:p>
            <a:r>
              <a:t>[클릭] 올해 성과는 기능 개발과 이런 현장 적용을 함께 봐야 합니다.</a:t>
            </a:r>
          </a:p>
          <a:p>
            <a:r>
              <a:t>근거: E11;E13~E24 / N03;N04</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09:30~10:15 · 배정 45초</a:t>
            </a:r>
          </a:p>
          <a:p>
            <a:r>
              <a:t>시행착오도 중요한 결과입니다. 월간 업무보고는 시제품을 구현했지만, [클릭] 기존 서식과 수집 방식이 복잡해 새 입력업무가 더해질 수 있음을 확인했습니다. [클릭] 기능을 더하는 것보다 업무 구조를 먼저 단순화해야 하는 과제였습니다.</a:t>
            </a:r>
          </a:p>
          <a:p>
            <a:r>
              <a:t>배포한 도구도 모든 직원이 바로 사용하지는 않았습니다. 다음에는 개발 완료와 실제 사용을 나눠 확인하고, 운영 담당과 계정, 백업, 인수인계까지 함께 준비하겠습니다. 이 경험을 차년도 운영에 반영하겠습니다.</a:t>
            </a:r>
          </a:p>
          <a:p>
            <a:r>
              <a:t>이어서 TF가 함께 만든 결과물을 보겠습니다.</a:t>
            </a:r>
          </a:p>
          <a:p>
            <a:r>
              <a:t>근거: E31;E15;E09 / L06;N09</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10:15~12:00 · 배정 1분 45초</a:t>
            </a:r>
          </a:p>
          <a:p>
            <a:r>
              <a:t>TF 결과물은 수입행정 개선과 구글 AI 안내 콘텐츠입니다.</a:t>
            </a:r>
          </a:p>
          <a:p>
            <a:r>
              <a:t>수입행정에서는 수입과 지출, 환불 자료를 공통 구조로 정리하고 [클릭] 수입결의서 생성과 누적 실적 분석을 연결했습니다. [클릭] 결과는 담당자가 확인하고 보완합니다. 김준호 직원이 개발을 맡고 전략경영실이 지원했으며 현장 담당자가 자료와 사용 의견을 제공했습니다. 운영계획과 시행 알림을 통해 운영을 개시했고, 현재는 사용자 검증과 보완을 진행하는 단계입니다. 시설별 예상 절감률은 운영 전 추정이므로 오늘 실제 달성률로 제시하지 않습니다. 공통 데이터를 준비한 뒤 여러 서류와 분석에 재사용하는 구조, 그리고 사용설명과 백업 안내까지 함께 마련한 점을 보시면 좋겠습니다.</a:t>
            </a:r>
          </a:p>
          <a:p>
            <a:r>
              <a:t>또한 Gemini를 포함한 구글 AI 도구를 실제 재단 업무에서 따라 해볼 수 있는 콘텐츠로 제작해 배포했습니다. 콘텐츠 배포가 곧 직원 전체의 숙련도 향상을 뜻하는 것은 아니므로, 다음에는 짧은 실습과 사용지원을 함께 확인하겠습니다.</a:t>
            </a:r>
          </a:p>
          <a:p>
            <a:r>
              <a:t>이 수입행정 도구 개발을 이끈 김준호 직원에 대한 표창을 이어서 진행하겠습니다.</a:t>
            </a:r>
          </a:p>
          <a:p>
            <a:r>
              <a:t>근거: E09;E10 / L04;L05;N06;N12;N17</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12:00 · 전환</a:t>
            </a:r>
          </a:p>
          <a:p>
            <a:r>
              <a:t>이어서 디지털 경영혁신 활동 우수 직원 표창을 진행하겠습니다.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12:00~15:00 · 배정 3분(수여·기념촬영 포함, 화면 고정)</a:t>
            </a:r>
          </a:p>
          <a:p>
            <a:r>
              <a:t>이어서 디지털 경영혁신 활동 우수 직원 표창을 진행하겠습니다. 김준호 직원은 수입·지출 대시보드와 수입결의서 생성기를 개발하고 현장자료를 정리하며 사용자 검증과 보완, 활용 안내에 기여했습니다. 안전교육일지 개선과 동료 활용지원 사례도 함께 확인했습니다. 동료 교육은 태진호 챌린저와 공동으로 진행했습니다. 김준호 직원은 앞으로 나와 주시기 바랍니다. 표창 수여와 기념촬영을 진행하겠습니다.</a:t>
            </a:r>
          </a:p>
          <a:p>
            <a:r>
              <a:t>(촬영 후) 기념촬영을 마치면 자리로 돌아가 주시기 바랍니다. 이어서 차년도 추진 방향을 말씀드리겠습니다.</a:t>
            </a:r>
          </a:p>
          <a:p>
            <a:r>
              <a:t>근거: E09;E11;E13 / L04;L09;N03</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15:00 · 전환</a:t>
            </a:r>
          </a:p>
          <a:p>
            <a:r>
              <a:t>이제 2027년 추진 방향입니다. 지금부터 말씀드리는 내용은 추진 검토안이며, 세부 일정과 예산은 확정 과정이 필요합니다.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15:00~16:15 · 배정 1분 15초</a:t>
            </a:r>
          </a:p>
          <a:p>
            <a:r>
              <a:t>첫 번째는 기존 도구의 안정화와 재사용을 먼저 살피고, 조건에 맞는 업무혁신 과제를 발굴하는 것입니다. 수입행정은 사용자 불편과 운영·백업을 정비하고, 안전일지와 출석부는 공동 활용 가능성을 검토하겠습니다. 월간 업무보고는 서식과 입력·수집 방식의 합의가 먼저입니다. 반복 빈도와 시간, 공동 활용성, 구현 가능성과 보안을 기준으로 과제를 선정하겠습니다.</a:t>
            </a:r>
          </a:p>
          <a:p>
            <a:r>
              <a:t>[클릭] 두 번째는 챌린저 운영체계를 과제 중심 협업으로 전환하는 것입니다. 개발에 참여하는 직원과 현업에서 검증하고 확산하는 직원이 같은 과제를 맡습니다. [클릭] 문제를 정의하고, 4주 시제품(MVP) 육성과정을 제안하되, 핵심 기능을 구현한 뒤 [클릭] 실제 업무에서 시험하고 보완하겠습니다. 담당자와 데이터 처리·백업·복원 조건을 확인한 도구부터 배포와 사용지원으로 이어가겠습니다.</a:t>
            </a:r>
          </a:p>
          <a:p>
            <a:r>
              <a:t>이때 검증과 활용지원도 개발만큼 중요한 역할입니다. 실제 자료가 맞게 처리되는지, 새 입력업무가 늘지는 않는지, 동료가 다시 쓸 수 있는지 확인하는 기여를 함께 평가해야 합니다.</a:t>
            </a:r>
          </a:p>
          <a:p>
            <a:r>
              <a:t>(유의) 세부 인원·시범 규모·예산은 추가 실행설계의 제안이며 확정 전입니다.</a:t>
            </a:r>
          </a:p>
          <a:p>
            <a:r>
              <a:t>근거: E35 / L08;05 추진검토안;07 추가 실행설계</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16:15~17:15 · 배정 1분</a:t>
            </a:r>
          </a:p>
          <a:p>
            <a:r>
              <a:t>앞에서 말씀드린 육성과정을 4주 단위로 구체화했습니다. 과제팀은 개발, 현업 검증, 확산을 맡는 3~5명으로 꾸리고, 착수 전에 현업 검증자와 예제자료, 자료 취급 범위, 현재 업무시간 기준선을 확인합니다.</a:t>
            </a:r>
          </a:p>
          <a:p>
            <a:r>
              <a:t>이 4주 동안 참여자는 바이브 코딩을 함께 배웁니다. 바이브 코딩은 만들 기능을 말로 설명하고 AI 코딩 도구와 대화하며 프로그램을 만드는 방식입니다. 올해 KPI 성과관리 시스템, 퀴즈톡, 고용동향 브리프처럼 챌린저들이 AI 코딩 도구로 직접 만든 경험을 2기 교육과정으로 옮기는 것입니다.</a:t>
            </a:r>
          </a:p>
          <a:p>
            <a:r>
              <a:t>1주차에는 AI 코딩 도구 환경을 준비하고, 문제와 서식을 정리한 과제카드를 AI에게 전달할 요구사항, 즉 프롬프트로 쓰는 법을 배웁니다. 2주차에는 AI와 대화하며 핵심 기능을 만들되, 작게 요청하고 실행해 보고 고치는 과정을 반복합니다. 3주차에는 실제 업무 자료로 시험하면서 오류 메시지를 AI와 함께 읽고 고치고, 예외 자료와 개인정보 처리를 점검합니다. 최종 확인은 개발자가 아닌 현업이 합니다. 4주차에는 AI로 사용설명서와 인계 문서를 만들고, 버전 관리와 백업, 잘 작동한 프롬프트를 동료와 공유합니다.</a:t>
            </a:r>
          </a:p>
          <a:p>
            <a:r>
              <a:t>배포는 다섯 가지 조건을 모두 확인한 뒤 결정합니다. 일정 때문에 배포 완료로 처리하지 않고, 조건이 부족하면 해당 단계로 돌아가 보완합니다.</a:t>
            </a:r>
          </a:p>
          <a:p>
            <a:r>
              <a:t>(유의) 07 추가 실행설계의 8주안을 4주로 재구성한 검토안입니다. 바이브 코딩 교육의 도구·계정·강사 구성과 인원·차수·예산은 확정 전이며, AI가 만든 코드도 현업 검증과 보안 점검을 거쳐야 배포합니다.</a:t>
            </a:r>
          </a:p>
          <a:p>
            <a:r>
              <a:t>근거: E35;E08;E27;E28 / L08;N05;N04;07 추가 실행설계(과제 선정·육성과정·배포 조건)</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17:15~19:00 · 배정 1분 45초</a:t>
            </a:r>
          </a:p>
          <a:p>
            <a:r>
              <a:t>나머지 세 방향은 서비스를 지속적으로 활용할 환경을 갖추는 일입니다.</a:t>
            </a:r>
          </a:p>
          <a:p>
            <a:r>
              <a:t>세 번째로 개발 도구와 계정, 외부 AI 서비스(API) 연결, 서비스 주소와 서버(도메인·호스팅)를 서비스 필요에 맞게 검토하겠습니다. 어떤 도구를 도입할지보다 기관이 소유하고 관리할 수 있는지, 사용량과 비용이 확인되는지, 담당자가 바뀌어도 이어 쓸 수 있는지가 중요합니다.</a:t>
            </a:r>
          </a:p>
          <a:p>
            <a:r>
              <a:t>[클릭] 네 번째는 운영과 보안, 백업 관리입니다. 서비스마다 운영 담당과 대체 담당을 정하고 접근권한과 변경 기록, 비용을 확인하겠습니다. 백업 파일을 만드는 데서 끝내지 않고 실제로 복원되는지 점검하고 실행과 수정, 배포 방법을 인수인계 문서에 남기는 방향을 검토하겠습니다.</a:t>
            </a:r>
          </a:p>
          <a:p>
            <a:r>
              <a:t>[클릭] 다섯 번째는 성과 확산과 내부 활용지원입니다. 기존 도구의 불편을 개선하고 업무별 짧은 실습을 병행하겠습니다. 성과도 도구 개수뿐 아니라 실제 사용자와 반복 사용, 같은 범위의 업무시간, 오류와 재작업, 다른 부서의 재사용으로 확인하겠습니다.</a:t>
            </a:r>
          </a:p>
          <a:p>
            <a:r>
              <a:t>개발과 운영, 활용을 하나의 과정으로 연결하는 것이 2027년 방향입니다. 세부 일정과 도입 제품은 검토 후 확정합니다.</a:t>
            </a:r>
          </a:p>
          <a:p>
            <a:r>
              <a:t>근거: E35 / 05 추진검토안;07 추가 실행설계</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19:00~20:00 · 배정 1분</a:t>
            </a:r>
          </a:p>
          <a:p>
            <a:r>
              <a:t>직원 여러분께 세 가지 참여를 부탁드립니다. 기존 도구를 써보고 싶은 업무가 있다면 활용 지원을 요청해 주십시오. 같은 자료를 여러 번 입력하거나 반복해서 정리하는 일이 있다면 다음 업무혁신 과제로 제안해 주십시오. 직접 개발하거나 현장에서 검증하고 동료 활용을 돕는 일에 관심이 있다면 2기 참여 의사를 알려 주시면 좋겠습니다. 모집 일정과 접수 경로는 정리해 추후 안내하겠습니다.</a:t>
            </a:r>
          </a:p>
          <a:p>
            <a:r>
              <a:t>현장의 문제를 직접 개선한 올해의 경험을 바탕으로, 다음 해에는 자체 개발과 실제 활용을 함께 강화하겠습니다. 감사합니다.</a:t>
            </a:r>
          </a:p>
          <a:p>
            <a:r>
              <a:t>근거: 01 운영계획;05 추진검토안</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20:00 · 마무리</a:t>
            </a:r>
          </a:p>
          <a:p>
            <a:r>
              <a:t>올해 현장의 문제를 직접 개선해 주신 15명의 AX 챌린저께 다시 한 번 감사드립니다. 여러분이 만든 도구와 사례가 재단의 다음 출발점입니다.</a:t>
            </a:r>
          </a:p>
          <a:p>
            <a:r>
              <a:t>2027년에는 여기 계신 여러분의 반복업무가 다음 혁신 과제가 됩니다. 개발이든, 현업 검증이든, 동료 사용지원이든 각자의 방식으로 2기 AX 챌린저에 함께해 주십시오. 모집 일정과 접수 경로는 추후 안내드리겠습니다.</a:t>
            </a:r>
          </a:p>
          <a:p>
            <a:r>
              <a:t>감사합니다. (사회자에게 진행을 넘깁니다.)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grpSp>
        <p:nvGrpSpPr>
          <p:cNvPr id="10" name="그룹 9">
            <a:extLst>
              <a:ext uri="{FF2B5EF4-FFF2-40B4-BE49-F238E27FC236}">
                <a16:creationId xmlns:a16="http://schemas.microsoft.com/office/drawing/2014/main" id="{4E3763EC-4A04-0AD5-AC62-EC0911F94202}"/>
              </a:ext>
            </a:extLst>
          </p:cNvPr>
          <p:cNvGrpSpPr/>
          <p:nvPr userDrawn="1"/>
        </p:nvGrpSpPr>
        <p:grpSpPr>
          <a:xfrm>
            <a:off x="-20972" y="1"/>
            <a:ext cx="12212972" cy="6858000"/>
            <a:chOff x="-20972" y="1"/>
            <a:chExt cx="12212972" cy="6858000"/>
          </a:xfrm>
        </p:grpSpPr>
        <p:pic>
          <p:nvPicPr>
            <p:cNvPr id="7" name="그림 6">
              <a:extLst>
                <a:ext uri="{FF2B5EF4-FFF2-40B4-BE49-F238E27FC236}">
                  <a16:creationId xmlns:a16="http://schemas.microsoft.com/office/drawing/2014/main" id="{E2CA6654-D368-D7E2-3C91-E86A281850B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0972" y="1"/>
              <a:ext cx="12212972" cy="6858000"/>
            </a:xfrm>
            <a:prstGeom prst="rect">
              <a:avLst/>
            </a:prstGeom>
          </p:spPr>
        </p:pic>
        <p:pic>
          <p:nvPicPr>
            <p:cNvPr id="9" name="그림 8">
              <a:extLst>
                <a:ext uri="{FF2B5EF4-FFF2-40B4-BE49-F238E27FC236}">
                  <a16:creationId xmlns:a16="http://schemas.microsoft.com/office/drawing/2014/main" id="{560D2D70-8CDD-B3E9-791F-F3527FAAC211}"/>
                </a:ext>
              </a:extLst>
            </p:cNvPr>
            <p:cNvPicPr>
              <a:picLocks noChangeAspect="1"/>
            </p:cNvPicPr>
            <p:nvPr userDrawn="1"/>
          </p:nvPicPr>
          <p:blipFill>
            <a:blip r:embed="rId3"/>
            <a:stretch>
              <a:fillRect/>
            </a:stretch>
          </p:blipFill>
          <p:spPr>
            <a:xfrm>
              <a:off x="170224" y="5594243"/>
              <a:ext cx="3868375" cy="958111"/>
            </a:xfrm>
            <a:prstGeom prst="rect">
              <a:avLst/>
            </a:prstGeom>
          </p:spPr>
        </p:pic>
      </p:grpSp>
      <p:sp>
        <p:nvSpPr>
          <p:cNvPr id="5" name="바닥글 개체 틀 4">
            <a:extLst>
              <a:ext uri="{FF2B5EF4-FFF2-40B4-BE49-F238E27FC236}">
                <a16:creationId xmlns:a16="http://schemas.microsoft.com/office/drawing/2014/main" id="{8B6CDEC4-3D00-DDEE-A5AA-4391004CA6E3}"/>
              </a:ext>
            </a:extLst>
          </p:cNvPr>
          <p:cNvSpPr>
            <a:spLocks noGrp="1"/>
          </p:cNvSpPr>
          <p:nvPr>
            <p:ph type="ftr" sz="quarter" idx="11"/>
          </p:nvPr>
        </p:nvSpPr>
        <p:spPr/>
        <p:txBody>
          <a:bodyPr/>
          <a:lstStyle/>
          <a:p>
            <a:endParaRPr lang="ko-KR" altLang="en-US"/>
          </a:p>
        </p:txBody>
      </p:sp>
      <p:pic>
        <p:nvPicPr>
          <p:cNvPr id="12" name="그림 11">
            <a:extLst>
              <a:ext uri="{FF2B5EF4-FFF2-40B4-BE49-F238E27FC236}">
                <a16:creationId xmlns:a16="http://schemas.microsoft.com/office/drawing/2014/main" id="{5844CF4E-0CCF-59F7-D212-7C9DB608B57B}"/>
              </a:ext>
            </a:extLst>
          </p:cNvPr>
          <p:cNvPicPr>
            <a:picLocks noChangeAspect="1"/>
          </p:cNvPicPr>
          <p:nvPr userDrawn="1"/>
        </p:nvPicPr>
        <p:blipFill>
          <a:blip r:embed="rId4"/>
          <a:stretch>
            <a:fillRect/>
          </a:stretch>
        </p:blipFill>
        <p:spPr>
          <a:xfrm>
            <a:off x="260602" y="5933328"/>
            <a:ext cx="2526795" cy="746006"/>
          </a:xfrm>
          <a:prstGeom prst="rect">
            <a:avLst/>
          </a:prstGeom>
        </p:spPr>
      </p:pic>
      <p:sp>
        <p:nvSpPr>
          <p:cNvPr id="8" name="슬라이드 번호 개체 틀 5">
            <a:extLst>
              <a:ext uri="{FF2B5EF4-FFF2-40B4-BE49-F238E27FC236}">
                <a16:creationId xmlns:a16="http://schemas.microsoft.com/office/drawing/2014/main" id="{307E339B-EC61-210D-B8E1-8826F3361179}"/>
              </a:ext>
            </a:extLst>
          </p:cNvPr>
          <p:cNvSpPr txBox="1">
            <a:spLocks/>
          </p:cNvSpPr>
          <p:nvPr userDrawn="1"/>
        </p:nvSpPr>
        <p:spPr>
          <a:xfrm>
            <a:off x="9435352" y="6401170"/>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2400" b="1"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DBD750E6-72E9-4C4B-A8C3-A62FC2ABD969}" type="slidenum">
              <a:rPr lang="ko-KR" altLang="en-US" smtClean="0"/>
              <a:pPr/>
              <a:t>‹#›</a:t>
            </a:fld>
            <a:endParaRPr lang="ko-KR" altLang="en-US" dirty="0"/>
          </a:p>
        </p:txBody>
      </p:sp>
      <p:sp>
        <p:nvSpPr>
          <p:cNvPr id="4" name="날짜 개체 틀 3">
            <a:extLst>
              <a:ext uri="{FF2B5EF4-FFF2-40B4-BE49-F238E27FC236}">
                <a16:creationId xmlns:a16="http://schemas.microsoft.com/office/drawing/2014/main" id="{33949A1D-874A-BB79-A53E-6F2853314EDE}"/>
              </a:ext>
            </a:extLst>
          </p:cNvPr>
          <p:cNvSpPr>
            <a:spLocks noGrp="1"/>
          </p:cNvSpPr>
          <p:nvPr>
            <p:ph type="dt" sz="half" idx="10"/>
          </p:nvPr>
        </p:nvSpPr>
        <p:spPr/>
        <p:txBody>
          <a:bodyPr/>
          <a:lstStyle/>
          <a:p>
            <a:fld id="{1D8B179C-3C25-466A-994A-7BE935BE939A}" type="datetimeFigureOut">
              <a:rPr lang="ko-KR" altLang="en-US" smtClean="0"/>
              <a:t>26-10-04 [Sun]</a:t>
            </a:fld>
            <a:endParaRPr lang="ko-KR" altLang="en-US"/>
          </a:p>
        </p:txBody>
      </p:sp>
    </p:spTree>
    <p:extLst>
      <p:ext uri="{BB962C8B-B14F-4D97-AF65-F5344CB8AC3E}">
        <p14:creationId xmlns:p14="http://schemas.microsoft.com/office/powerpoint/2010/main" val="1453491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목차 또는 간지">
    <p:spTree>
      <p:nvGrpSpPr>
        <p:cNvPr id="1" name=""/>
        <p:cNvGrpSpPr/>
        <p:nvPr/>
      </p:nvGrpSpPr>
      <p:grpSpPr>
        <a:xfrm>
          <a:off x="0" y="0"/>
          <a:ext cx="0" cy="0"/>
          <a:chOff x="0" y="0"/>
          <a:chExt cx="0" cy="0"/>
        </a:xfrm>
      </p:grpSpPr>
      <p:grpSp>
        <p:nvGrpSpPr>
          <p:cNvPr id="10" name="그룹 9">
            <a:extLst>
              <a:ext uri="{FF2B5EF4-FFF2-40B4-BE49-F238E27FC236}">
                <a16:creationId xmlns:a16="http://schemas.microsoft.com/office/drawing/2014/main" id="{7E27A229-3136-55B9-133C-75EAE9F9D5E9}"/>
              </a:ext>
            </a:extLst>
          </p:cNvPr>
          <p:cNvGrpSpPr/>
          <p:nvPr userDrawn="1"/>
        </p:nvGrpSpPr>
        <p:grpSpPr>
          <a:xfrm>
            <a:off x="0" y="74"/>
            <a:ext cx="12192000" cy="6843932"/>
            <a:chOff x="0" y="74"/>
            <a:chExt cx="12192000" cy="6843932"/>
          </a:xfrm>
        </p:grpSpPr>
        <p:pic>
          <p:nvPicPr>
            <p:cNvPr id="7" name="그림 6">
              <a:extLst>
                <a:ext uri="{FF2B5EF4-FFF2-40B4-BE49-F238E27FC236}">
                  <a16:creationId xmlns:a16="http://schemas.microsoft.com/office/drawing/2014/main" id="{B01E6C03-385F-1B98-5A67-3E11FD0DA38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4"/>
              <a:ext cx="12192000" cy="6843932"/>
            </a:xfrm>
            <a:prstGeom prst="rect">
              <a:avLst/>
            </a:prstGeom>
          </p:spPr>
        </p:pic>
        <p:pic>
          <p:nvPicPr>
            <p:cNvPr id="9" name="그림 8">
              <a:extLst>
                <a:ext uri="{FF2B5EF4-FFF2-40B4-BE49-F238E27FC236}">
                  <a16:creationId xmlns:a16="http://schemas.microsoft.com/office/drawing/2014/main" id="{C14E3774-2A47-ACD9-9A8E-A422D59EDFA1}"/>
                </a:ext>
              </a:extLst>
            </p:cNvPr>
            <p:cNvPicPr>
              <a:picLocks noChangeAspect="1"/>
            </p:cNvPicPr>
            <p:nvPr userDrawn="1"/>
          </p:nvPicPr>
          <p:blipFill>
            <a:blip r:embed="rId3"/>
            <a:stretch>
              <a:fillRect/>
            </a:stretch>
          </p:blipFill>
          <p:spPr>
            <a:xfrm>
              <a:off x="10723166" y="5243014"/>
              <a:ext cx="1141636" cy="1295581"/>
            </a:xfrm>
            <a:prstGeom prst="rect">
              <a:avLst/>
            </a:prstGeom>
          </p:spPr>
        </p:pic>
      </p:grpSp>
      <p:sp>
        <p:nvSpPr>
          <p:cNvPr id="4" name="날짜 개체 틀 3">
            <a:extLst>
              <a:ext uri="{FF2B5EF4-FFF2-40B4-BE49-F238E27FC236}">
                <a16:creationId xmlns:a16="http://schemas.microsoft.com/office/drawing/2014/main" id="{A056DABB-EDC7-CCC7-7398-0098582B8894}"/>
              </a:ext>
            </a:extLst>
          </p:cNvPr>
          <p:cNvSpPr>
            <a:spLocks noGrp="1"/>
          </p:cNvSpPr>
          <p:nvPr>
            <p:ph type="dt" sz="half" idx="10"/>
          </p:nvPr>
        </p:nvSpPr>
        <p:spPr/>
        <p:txBody>
          <a:bodyPr/>
          <a:lstStyle/>
          <a:p>
            <a:fld id="{1D8B179C-3C25-466A-994A-7BE935BE939A}" type="datetimeFigureOut">
              <a:rPr lang="ko-KR" altLang="en-US" smtClean="0"/>
              <a:t>26-10-04 [Sun]</a:t>
            </a:fld>
            <a:endParaRPr lang="ko-KR" altLang="en-US"/>
          </a:p>
        </p:txBody>
      </p:sp>
      <p:sp>
        <p:nvSpPr>
          <p:cNvPr id="5" name="바닥글 개체 틀 4">
            <a:extLst>
              <a:ext uri="{FF2B5EF4-FFF2-40B4-BE49-F238E27FC236}">
                <a16:creationId xmlns:a16="http://schemas.microsoft.com/office/drawing/2014/main" id="{7D898A40-6169-A782-0411-91F55ED14486}"/>
              </a:ext>
            </a:extLst>
          </p:cNvPr>
          <p:cNvSpPr>
            <a:spLocks noGrp="1"/>
          </p:cNvSpPr>
          <p:nvPr>
            <p:ph type="ftr" sz="quarter" idx="11"/>
          </p:nvPr>
        </p:nvSpPr>
        <p:spPr/>
        <p:txBody>
          <a:bodyPr/>
          <a:lstStyle/>
          <a:p>
            <a:endParaRPr lang="ko-KR" altLang="en-US"/>
          </a:p>
        </p:txBody>
      </p:sp>
      <p:pic>
        <p:nvPicPr>
          <p:cNvPr id="12" name="그림 11">
            <a:extLst>
              <a:ext uri="{FF2B5EF4-FFF2-40B4-BE49-F238E27FC236}">
                <a16:creationId xmlns:a16="http://schemas.microsoft.com/office/drawing/2014/main" id="{F6D943ED-1A90-B1DD-76A6-F8DE4FC435E9}"/>
              </a:ext>
            </a:extLst>
          </p:cNvPr>
          <p:cNvPicPr>
            <a:picLocks noChangeAspect="1"/>
          </p:cNvPicPr>
          <p:nvPr userDrawn="1"/>
        </p:nvPicPr>
        <p:blipFill>
          <a:blip r:embed="rId4"/>
          <a:stretch>
            <a:fillRect/>
          </a:stretch>
        </p:blipFill>
        <p:spPr>
          <a:xfrm>
            <a:off x="10879240" y="5400733"/>
            <a:ext cx="916520" cy="1115002"/>
          </a:xfrm>
          <a:prstGeom prst="rect">
            <a:avLst/>
          </a:prstGeom>
        </p:spPr>
      </p:pic>
      <p:sp>
        <p:nvSpPr>
          <p:cNvPr id="11" name="슬라이드 번호 개체 틀 5">
            <a:extLst>
              <a:ext uri="{FF2B5EF4-FFF2-40B4-BE49-F238E27FC236}">
                <a16:creationId xmlns:a16="http://schemas.microsoft.com/office/drawing/2014/main" id="{10F9865E-8C23-E55F-D0A9-946704775A0F}"/>
              </a:ext>
            </a:extLst>
          </p:cNvPr>
          <p:cNvSpPr txBox="1">
            <a:spLocks/>
          </p:cNvSpPr>
          <p:nvPr userDrawn="1"/>
        </p:nvSpPr>
        <p:spPr>
          <a:xfrm>
            <a:off x="9435352" y="6401170"/>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2400" b="1"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DBD750E6-72E9-4C4B-A8C3-A62FC2ABD969}" type="slidenum">
              <a:rPr lang="ko-KR" altLang="en-US" smtClean="0"/>
              <a:pPr/>
              <a:t>‹#›</a:t>
            </a:fld>
            <a:endParaRPr lang="ko-KR" altLang="en-US" dirty="0"/>
          </a:p>
        </p:txBody>
      </p:sp>
    </p:spTree>
    <p:extLst>
      <p:ext uri="{BB962C8B-B14F-4D97-AF65-F5344CB8AC3E}">
        <p14:creationId xmlns:p14="http://schemas.microsoft.com/office/powerpoint/2010/main" val="2068305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목차 또는 간지2">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DB51CD88-183D-F91D-FB98-A79DDD305CA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3"/>
            <a:ext cx="12192000" cy="6857927"/>
          </a:xfrm>
          <a:prstGeom prst="rect">
            <a:avLst/>
          </a:prstGeom>
        </p:spPr>
      </p:pic>
      <p:pic>
        <p:nvPicPr>
          <p:cNvPr id="11" name="그림 10">
            <a:extLst>
              <a:ext uri="{FF2B5EF4-FFF2-40B4-BE49-F238E27FC236}">
                <a16:creationId xmlns:a16="http://schemas.microsoft.com/office/drawing/2014/main" id="{F74C7536-8793-FAB9-05EC-4EC00AD2A778}"/>
              </a:ext>
            </a:extLst>
          </p:cNvPr>
          <p:cNvPicPr>
            <a:picLocks noChangeAspect="1"/>
          </p:cNvPicPr>
          <p:nvPr userDrawn="1"/>
        </p:nvPicPr>
        <p:blipFill>
          <a:blip r:embed="rId3"/>
          <a:stretch>
            <a:fillRect/>
          </a:stretch>
        </p:blipFill>
        <p:spPr>
          <a:xfrm>
            <a:off x="10783681" y="5288585"/>
            <a:ext cx="1063987" cy="1204290"/>
          </a:xfrm>
          <a:prstGeom prst="rect">
            <a:avLst/>
          </a:prstGeom>
        </p:spPr>
      </p:pic>
      <p:pic>
        <p:nvPicPr>
          <p:cNvPr id="13" name="그림 12">
            <a:extLst>
              <a:ext uri="{FF2B5EF4-FFF2-40B4-BE49-F238E27FC236}">
                <a16:creationId xmlns:a16="http://schemas.microsoft.com/office/drawing/2014/main" id="{9780B4CA-6150-74E1-66BB-F93ED0801BF0}"/>
              </a:ext>
            </a:extLst>
          </p:cNvPr>
          <p:cNvPicPr>
            <a:picLocks noChangeAspect="1"/>
          </p:cNvPicPr>
          <p:nvPr userDrawn="1"/>
        </p:nvPicPr>
        <p:blipFill>
          <a:blip r:embed="rId4"/>
          <a:stretch>
            <a:fillRect/>
          </a:stretch>
        </p:blipFill>
        <p:spPr>
          <a:xfrm>
            <a:off x="532602" y="5972147"/>
            <a:ext cx="3810532" cy="409632"/>
          </a:xfrm>
          <a:prstGeom prst="rect">
            <a:avLst/>
          </a:prstGeom>
        </p:spPr>
      </p:pic>
      <p:sp>
        <p:nvSpPr>
          <p:cNvPr id="10" name="슬라이드 번호 개체 틀 5">
            <a:extLst>
              <a:ext uri="{FF2B5EF4-FFF2-40B4-BE49-F238E27FC236}">
                <a16:creationId xmlns:a16="http://schemas.microsoft.com/office/drawing/2014/main" id="{54189298-5EDE-F946-2FCD-0274F10E95E2}"/>
              </a:ext>
            </a:extLst>
          </p:cNvPr>
          <p:cNvSpPr txBox="1">
            <a:spLocks/>
          </p:cNvSpPr>
          <p:nvPr userDrawn="1"/>
        </p:nvSpPr>
        <p:spPr>
          <a:xfrm>
            <a:off x="9435352" y="6401170"/>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2400" b="1"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DBD750E6-72E9-4C4B-A8C3-A62FC2ABD969}" type="slidenum">
              <a:rPr lang="ko-KR" altLang="en-US" smtClean="0"/>
              <a:pPr/>
              <a:t>‹#›</a:t>
            </a:fld>
            <a:endParaRPr lang="ko-KR" altLang="en-US" dirty="0"/>
          </a:p>
        </p:txBody>
      </p:sp>
      <p:sp>
        <p:nvSpPr>
          <p:cNvPr id="5" name="날짜 개체 틀 4">
            <a:extLst>
              <a:ext uri="{FF2B5EF4-FFF2-40B4-BE49-F238E27FC236}">
                <a16:creationId xmlns:a16="http://schemas.microsoft.com/office/drawing/2014/main" id="{9AD9BB25-C10F-3B37-B22D-0AD187C52F3E}"/>
              </a:ext>
            </a:extLst>
          </p:cNvPr>
          <p:cNvSpPr>
            <a:spLocks noGrp="1"/>
          </p:cNvSpPr>
          <p:nvPr>
            <p:ph type="dt" sz="half" idx="10"/>
          </p:nvPr>
        </p:nvSpPr>
        <p:spPr/>
        <p:txBody>
          <a:bodyPr/>
          <a:lstStyle/>
          <a:p>
            <a:fld id="{1D8B179C-3C25-466A-994A-7BE935BE939A}" type="datetimeFigureOut">
              <a:rPr lang="ko-KR" altLang="en-US" smtClean="0"/>
              <a:t>26-10-04 [Sun]</a:t>
            </a:fld>
            <a:endParaRPr lang="ko-KR" altLang="en-US"/>
          </a:p>
        </p:txBody>
      </p:sp>
      <p:sp>
        <p:nvSpPr>
          <p:cNvPr id="6" name="바닥글 개체 틀 5">
            <a:extLst>
              <a:ext uri="{FF2B5EF4-FFF2-40B4-BE49-F238E27FC236}">
                <a16:creationId xmlns:a16="http://schemas.microsoft.com/office/drawing/2014/main" id="{CDFBBE85-1C45-09BB-148C-8913622AB3F4}"/>
              </a:ext>
            </a:extLst>
          </p:cNvPr>
          <p:cNvSpPr>
            <a:spLocks noGrp="1"/>
          </p:cNvSpPr>
          <p:nvPr>
            <p:ph type="ftr" sz="quarter" idx="11"/>
          </p:nvPr>
        </p:nvSpPr>
        <p:spPr/>
        <p:txBody>
          <a:bodyPr/>
          <a:lstStyle/>
          <a:p>
            <a:endParaRPr lang="ko-KR" altLang="en-US" dirty="0"/>
          </a:p>
        </p:txBody>
      </p:sp>
    </p:spTree>
    <p:extLst>
      <p:ext uri="{BB962C8B-B14F-4D97-AF65-F5344CB8AC3E}">
        <p14:creationId xmlns:p14="http://schemas.microsoft.com/office/powerpoint/2010/main" val="2402892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내용 본문">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7A705393-53E4-F984-97DA-59F6D25332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4"/>
            <a:ext cx="12192000" cy="6857926"/>
          </a:xfrm>
          <a:prstGeom prst="rect">
            <a:avLst/>
          </a:prstGeom>
        </p:spPr>
      </p:pic>
      <p:sp>
        <p:nvSpPr>
          <p:cNvPr id="5" name="바닥글 개체 틀 4">
            <a:extLst>
              <a:ext uri="{FF2B5EF4-FFF2-40B4-BE49-F238E27FC236}">
                <a16:creationId xmlns:a16="http://schemas.microsoft.com/office/drawing/2014/main" id="{C82C955B-8E19-F678-4080-0B49BF744C0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FC9A09D-C06E-D29C-04F5-70DE17A04773}"/>
              </a:ext>
            </a:extLst>
          </p:cNvPr>
          <p:cNvSpPr>
            <a:spLocks noGrp="1"/>
          </p:cNvSpPr>
          <p:nvPr>
            <p:ph type="sldNum" sz="quarter" idx="12"/>
          </p:nvPr>
        </p:nvSpPr>
        <p:spPr/>
        <p:txBody>
          <a:bodyPr/>
          <a:lstStyle/>
          <a:p>
            <a:fld id="{DBD750E6-72E9-4C4B-A8C3-A62FC2ABD969}" type="slidenum">
              <a:rPr lang="ko-KR" altLang="en-US" smtClean="0"/>
              <a:t>‹#›</a:t>
            </a:fld>
            <a:endParaRPr lang="ko-KR" altLang="en-US"/>
          </a:p>
        </p:txBody>
      </p:sp>
      <p:sp>
        <p:nvSpPr>
          <p:cNvPr id="9" name="Rectangle 2">
            <a:extLst>
              <a:ext uri="{FF2B5EF4-FFF2-40B4-BE49-F238E27FC236}">
                <a16:creationId xmlns:a16="http://schemas.microsoft.com/office/drawing/2014/main" id="{457D18B0-8B2E-1CE1-3FB7-F06A188EB3E5}"/>
              </a:ext>
            </a:extLst>
          </p:cNvPr>
          <p:cNvSpPr>
            <a:spLocks noChangeArrowheads="1"/>
          </p:cNvSpPr>
          <p:nvPr userDrawn="1"/>
        </p:nvSpPr>
        <p:spPr bwMode="auto">
          <a:xfrm>
            <a:off x="0" y="0"/>
            <a:ext cx="10691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10" name="Rectangle 4">
            <a:extLst>
              <a:ext uri="{FF2B5EF4-FFF2-40B4-BE49-F238E27FC236}">
                <a16:creationId xmlns:a16="http://schemas.microsoft.com/office/drawing/2014/main" id="{BD0E9E26-5CE2-EE8E-55D5-A262C270BA90}"/>
              </a:ext>
            </a:extLst>
          </p:cNvPr>
          <p:cNvSpPr>
            <a:spLocks noChangeArrowheads="1"/>
          </p:cNvSpPr>
          <p:nvPr userDrawn="1"/>
        </p:nvSpPr>
        <p:spPr bwMode="auto">
          <a:xfrm>
            <a:off x="0" y="0"/>
            <a:ext cx="10691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pic>
        <p:nvPicPr>
          <p:cNvPr id="12" name="그림 11">
            <a:extLst>
              <a:ext uri="{FF2B5EF4-FFF2-40B4-BE49-F238E27FC236}">
                <a16:creationId xmlns:a16="http://schemas.microsoft.com/office/drawing/2014/main" id="{DAB4BAC9-2DB1-C2F9-2F26-121758C8FE5A}"/>
              </a:ext>
            </a:extLst>
          </p:cNvPr>
          <p:cNvPicPr>
            <a:picLocks noChangeAspect="1"/>
          </p:cNvPicPr>
          <p:nvPr userDrawn="1"/>
        </p:nvPicPr>
        <p:blipFill>
          <a:blip r:embed="rId3"/>
          <a:stretch>
            <a:fillRect/>
          </a:stretch>
        </p:blipFill>
        <p:spPr>
          <a:xfrm>
            <a:off x="8917429" y="299997"/>
            <a:ext cx="2524477" cy="581106"/>
          </a:xfrm>
          <a:prstGeom prst="rect">
            <a:avLst/>
          </a:prstGeom>
        </p:spPr>
      </p:pic>
      <p:pic>
        <p:nvPicPr>
          <p:cNvPr id="14" name="그림 13">
            <a:extLst>
              <a:ext uri="{FF2B5EF4-FFF2-40B4-BE49-F238E27FC236}">
                <a16:creationId xmlns:a16="http://schemas.microsoft.com/office/drawing/2014/main" id="{5FA587C5-7A1D-A4E6-CFDF-4324CB4F105A}"/>
              </a:ext>
            </a:extLst>
          </p:cNvPr>
          <p:cNvPicPr>
            <a:picLocks noChangeAspect="1"/>
          </p:cNvPicPr>
          <p:nvPr userDrawn="1"/>
        </p:nvPicPr>
        <p:blipFill>
          <a:blip r:embed="rId4"/>
          <a:stretch>
            <a:fillRect/>
          </a:stretch>
        </p:blipFill>
        <p:spPr>
          <a:xfrm>
            <a:off x="10113818" y="413323"/>
            <a:ext cx="1494552" cy="428051"/>
          </a:xfrm>
          <a:prstGeom prst="rect">
            <a:avLst/>
          </a:prstGeom>
        </p:spPr>
      </p:pic>
      <p:pic>
        <p:nvPicPr>
          <p:cNvPr id="16" name="그림 15">
            <a:extLst>
              <a:ext uri="{FF2B5EF4-FFF2-40B4-BE49-F238E27FC236}">
                <a16:creationId xmlns:a16="http://schemas.microsoft.com/office/drawing/2014/main" id="{C4F59EAC-B723-356F-1005-1EA54248551A}"/>
              </a:ext>
            </a:extLst>
          </p:cNvPr>
          <p:cNvPicPr>
            <a:picLocks noChangeAspect="1"/>
          </p:cNvPicPr>
          <p:nvPr userDrawn="1"/>
        </p:nvPicPr>
        <p:blipFill>
          <a:blip r:embed="rId5"/>
          <a:stretch>
            <a:fillRect/>
          </a:stretch>
        </p:blipFill>
        <p:spPr>
          <a:xfrm>
            <a:off x="386094" y="6224543"/>
            <a:ext cx="3639058" cy="314369"/>
          </a:xfrm>
          <a:prstGeom prst="rect">
            <a:avLst/>
          </a:prstGeom>
        </p:spPr>
      </p:pic>
      <p:sp>
        <p:nvSpPr>
          <p:cNvPr id="11" name="슬라이드 번호 개체 틀 5">
            <a:extLst>
              <a:ext uri="{FF2B5EF4-FFF2-40B4-BE49-F238E27FC236}">
                <a16:creationId xmlns:a16="http://schemas.microsoft.com/office/drawing/2014/main" id="{FD941E3F-207E-CA5E-CAAE-926442C0A96A}"/>
              </a:ext>
            </a:extLst>
          </p:cNvPr>
          <p:cNvSpPr txBox="1">
            <a:spLocks/>
          </p:cNvSpPr>
          <p:nvPr userDrawn="1"/>
        </p:nvSpPr>
        <p:spPr>
          <a:xfrm>
            <a:off x="9435352" y="6401170"/>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2400" b="1"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DBD750E6-72E9-4C4B-A8C3-A62FC2ABD969}" type="slidenum">
              <a:rPr lang="ko-KR" altLang="en-US" smtClean="0"/>
              <a:pPr/>
              <a:t>‹#›</a:t>
            </a:fld>
            <a:endParaRPr lang="ko-KR" altLang="en-US" dirty="0"/>
          </a:p>
        </p:txBody>
      </p:sp>
      <p:sp>
        <p:nvSpPr>
          <p:cNvPr id="4" name="날짜 개체 틀 3">
            <a:extLst>
              <a:ext uri="{FF2B5EF4-FFF2-40B4-BE49-F238E27FC236}">
                <a16:creationId xmlns:a16="http://schemas.microsoft.com/office/drawing/2014/main" id="{61DC781B-B741-FCDC-377A-AC3A7E649F33}"/>
              </a:ext>
            </a:extLst>
          </p:cNvPr>
          <p:cNvSpPr>
            <a:spLocks noGrp="1"/>
          </p:cNvSpPr>
          <p:nvPr>
            <p:ph type="dt" sz="half" idx="10"/>
          </p:nvPr>
        </p:nvSpPr>
        <p:spPr/>
        <p:txBody>
          <a:bodyPr/>
          <a:lstStyle/>
          <a:p>
            <a:fld id="{1D8B179C-3C25-466A-994A-7BE935BE939A}" type="datetimeFigureOut">
              <a:rPr lang="ko-KR" altLang="en-US" smtClean="0"/>
              <a:t>26-10-04 [Sun]</a:t>
            </a:fld>
            <a:endParaRPr lang="ko-KR" altLang="en-US"/>
          </a:p>
        </p:txBody>
      </p:sp>
    </p:spTree>
    <p:extLst>
      <p:ext uri="{BB962C8B-B14F-4D97-AF65-F5344CB8AC3E}">
        <p14:creationId xmlns:p14="http://schemas.microsoft.com/office/powerpoint/2010/main" val="3283693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마지막">
    <p:spTree>
      <p:nvGrpSpPr>
        <p:cNvPr id="1" name=""/>
        <p:cNvGrpSpPr/>
        <p:nvPr/>
      </p:nvGrpSpPr>
      <p:grpSpPr>
        <a:xfrm>
          <a:off x="0" y="0"/>
          <a:ext cx="0" cy="0"/>
          <a:chOff x="0" y="0"/>
          <a:chExt cx="0" cy="0"/>
        </a:xfrm>
      </p:grpSpPr>
      <p:sp>
        <p:nvSpPr>
          <p:cNvPr id="3" name="슬라이드 번호 개체 틀 5">
            <a:extLst>
              <a:ext uri="{FF2B5EF4-FFF2-40B4-BE49-F238E27FC236}">
                <a16:creationId xmlns:a16="http://schemas.microsoft.com/office/drawing/2014/main" id="{AD9A171E-6485-8587-92CC-94AA8B0070E6}"/>
              </a:ext>
            </a:extLst>
          </p:cNvPr>
          <p:cNvSpPr txBox="1">
            <a:spLocks/>
          </p:cNvSpPr>
          <p:nvPr userDrawn="1"/>
        </p:nvSpPr>
        <p:spPr>
          <a:xfrm>
            <a:off x="9435352" y="6401170"/>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2400" b="1"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DBD750E6-72E9-4C4B-A8C3-A62FC2ABD969}" type="slidenum">
              <a:rPr lang="ko-KR" altLang="en-US" smtClean="0"/>
              <a:pPr/>
              <a:t>‹#›</a:t>
            </a:fld>
            <a:endParaRPr lang="ko-KR" altLang="en-US" dirty="0"/>
          </a:p>
        </p:txBody>
      </p:sp>
      <p:pic>
        <p:nvPicPr>
          <p:cNvPr id="4" name="그림 3">
            <a:extLst>
              <a:ext uri="{FF2B5EF4-FFF2-40B4-BE49-F238E27FC236}">
                <a16:creationId xmlns:a16="http://schemas.microsoft.com/office/drawing/2014/main" id="{32B4B052-EA63-26C6-9890-7C4AB811F04C}"/>
              </a:ext>
            </a:extLst>
          </p:cNvPr>
          <p:cNvPicPr>
            <a:picLocks noChangeAspect="1"/>
          </p:cNvPicPr>
          <p:nvPr userDrawn="1"/>
        </p:nvPicPr>
        <p:blipFill>
          <a:blip r:embed="rId2"/>
          <a:stretch>
            <a:fillRect/>
          </a:stretch>
        </p:blipFill>
        <p:spPr>
          <a:xfrm>
            <a:off x="539827" y="6401170"/>
            <a:ext cx="3064357" cy="286594"/>
          </a:xfrm>
          <a:prstGeom prst="rect">
            <a:avLst/>
          </a:prstGeom>
        </p:spPr>
      </p:pic>
      <p:pic>
        <p:nvPicPr>
          <p:cNvPr id="2" name="그림 1">
            <a:extLst>
              <a:ext uri="{FF2B5EF4-FFF2-40B4-BE49-F238E27FC236}">
                <a16:creationId xmlns:a16="http://schemas.microsoft.com/office/drawing/2014/main" id="{81FC3A57-ABE5-E545-AAE8-AB0A586984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20812" y="929482"/>
            <a:ext cx="3350376" cy="35314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82796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무지">
    <p:spTree>
      <p:nvGrpSpPr>
        <p:cNvPr id="1" name=""/>
        <p:cNvGrpSpPr/>
        <p:nvPr/>
      </p:nvGrpSpPr>
      <p:grpSpPr>
        <a:xfrm>
          <a:off x="0" y="0"/>
          <a:ext cx="0" cy="0"/>
          <a:chOff x="0" y="0"/>
          <a:chExt cx="0" cy="0"/>
        </a:xfrm>
      </p:grpSpPr>
      <p:sp>
        <p:nvSpPr>
          <p:cNvPr id="3" name="날짜 개체 틀 2">
            <a:extLst>
              <a:ext uri="{FF2B5EF4-FFF2-40B4-BE49-F238E27FC236}">
                <a16:creationId xmlns:a16="http://schemas.microsoft.com/office/drawing/2014/main" id="{AE5591DB-F84F-D62C-16D3-DA0814E0877D}"/>
              </a:ext>
            </a:extLst>
          </p:cNvPr>
          <p:cNvSpPr>
            <a:spLocks noGrp="1"/>
          </p:cNvSpPr>
          <p:nvPr>
            <p:ph type="dt" sz="half" idx="10"/>
          </p:nvPr>
        </p:nvSpPr>
        <p:spPr/>
        <p:txBody>
          <a:bodyPr/>
          <a:lstStyle/>
          <a:p>
            <a:fld id="{1D8B179C-3C25-466A-994A-7BE935BE939A}" type="datetimeFigureOut">
              <a:rPr lang="ko-KR" altLang="en-US" smtClean="0"/>
              <a:t>26-10-04 [Sun]</a:t>
            </a:fld>
            <a:endParaRPr lang="ko-KR" altLang="en-US"/>
          </a:p>
        </p:txBody>
      </p:sp>
      <p:sp>
        <p:nvSpPr>
          <p:cNvPr id="4" name="바닥글 개체 틀 3">
            <a:extLst>
              <a:ext uri="{FF2B5EF4-FFF2-40B4-BE49-F238E27FC236}">
                <a16:creationId xmlns:a16="http://schemas.microsoft.com/office/drawing/2014/main" id="{5B5FBB16-4B13-5841-80DA-5C93CBB8A8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53C582D-C4F8-D08A-B3FD-CAA20B7FB168}"/>
              </a:ext>
            </a:extLst>
          </p:cNvPr>
          <p:cNvSpPr>
            <a:spLocks noGrp="1"/>
          </p:cNvSpPr>
          <p:nvPr>
            <p:ph type="sldNum" sz="quarter" idx="12"/>
          </p:nvPr>
        </p:nvSpPr>
        <p:spPr/>
        <p:txBody>
          <a:bodyPr/>
          <a:lstStyle/>
          <a:p>
            <a:fld id="{DBD750E6-72E9-4C4B-A8C3-A62FC2ABD969}" type="slidenum">
              <a:rPr lang="ko-KR" altLang="en-US" smtClean="0"/>
              <a:pPr/>
              <a:t>‹#›</a:t>
            </a:fld>
            <a:endParaRPr lang="ko-KR" altLang="en-US"/>
          </a:p>
        </p:txBody>
      </p:sp>
    </p:spTree>
    <p:extLst>
      <p:ext uri="{BB962C8B-B14F-4D97-AF65-F5344CB8AC3E}">
        <p14:creationId xmlns:p14="http://schemas.microsoft.com/office/powerpoint/2010/main" val="1878201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914402" y="1122364"/>
            <a:ext cx="10363200" cy="2387600"/>
          </a:xfrm>
        </p:spPr>
        <p:txBody>
          <a:bodyPr anchor="b"/>
          <a:lstStyle>
            <a:lvl1pPr algn="ctr">
              <a:defRPr sz="6001"/>
            </a:lvl1pPr>
          </a:lstStyle>
          <a:p>
            <a:r>
              <a:rPr lang="ko-KR" altLang="en-US"/>
              <a:t>마스터 제목 스타일 편집</a:t>
            </a:r>
            <a:endParaRPr lang="en-US" dirty="0"/>
          </a:p>
        </p:txBody>
      </p:sp>
      <p:sp>
        <p:nvSpPr>
          <p:cNvPr id="3" name="Subtitle 2"/>
          <p:cNvSpPr>
            <a:spLocks noGrp="1"/>
          </p:cNvSpPr>
          <p:nvPr>
            <p:ph type="subTitle" idx="1"/>
          </p:nvPr>
        </p:nvSpPr>
        <p:spPr>
          <a:xfrm>
            <a:off x="1524002" y="3602040"/>
            <a:ext cx="9143999" cy="1655762"/>
          </a:xfrm>
        </p:spPr>
        <p:txBody>
          <a:bodyPr/>
          <a:lstStyle>
            <a:lvl1pPr marL="0" indent="0" algn="ctr">
              <a:buNone/>
              <a:defRPr sz="2400"/>
            </a:lvl1pPr>
            <a:lvl2pPr marL="457228" indent="0" algn="ctr">
              <a:buNone/>
              <a:defRPr sz="2000"/>
            </a:lvl2pPr>
            <a:lvl3pPr marL="914452" indent="0" algn="ctr">
              <a:buNone/>
              <a:defRPr sz="1800"/>
            </a:lvl3pPr>
            <a:lvl4pPr marL="1371680" indent="0" algn="ctr">
              <a:buNone/>
              <a:defRPr sz="1600"/>
            </a:lvl4pPr>
            <a:lvl5pPr marL="1828906" indent="0" algn="ctr">
              <a:buNone/>
              <a:defRPr sz="1600"/>
            </a:lvl5pPr>
            <a:lvl6pPr marL="2286133" indent="0" algn="ctr">
              <a:buNone/>
              <a:defRPr sz="1600"/>
            </a:lvl6pPr>
            <a:lvl7pPr marL="2743358" indent="0" algn="ctr">
              <a:buNone/>
              <a:defRPr sz="1600"/>
            </a:lvl7pPr>
            <a:lvl8pPr marL="3200586" indent="0" algn="ctr">
              <a:buNone/>
              <a:defRPr sz="1600"/>
            </a:lvl8pPr>
            <a:lvl9pPr marL="3657812"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47FFDE5C-A7C1-4928-B9D1-63E9A5EE4069}" type="datetimeFigureOut">
              <a:rPr lang="ko-KR" altLang="en-US" smtClean="0"/>
              <a:t>26-10-04 [Sun]</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9174DDA4-15A6-4FC0-8A49-96A8CF9EFFCD}" type="slidenum">
              <a:rPr lang="ko-KR" altLang="en-US" smtClean="0"/>
              <a:t>‹#›</a:t>
            </a:fld>
            <a:endParaRPr lang="ko-KR" altLang="en-US"/>
          </a:p>
        </p:txBody>
      </p:sp>
    </p:spTree>
    <p:extLst>
      <p:ext uri="{BB962C8B-B14F-4D97-AF65-F5344CB8AC3E}">
        <p14:creationId xmlns:p14="http://schemas.microsoft.com/office/powerpoint/2010/main" val="1941262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0F72F773-2A52-1E38-0192-4CA7706474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75847110-704C-88BB-A90A-B5122C00A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F013968-D2F7-A165-2E4C-BFF4C3DC3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179C-3C25-466A-994A-7BE935BE939A}" type="datetimeFigureOut">
              <a:rPr lang="ko-KR" altLang="en-US" smtClean="0"/>
              <a:t>26-10-04 [Sun]</a:t>
            </a:fld>
            <a:endParaRPr lang="ko-KR" altLang="en-US"/>
          </a:p>
        </p:txBody>
      </p:sp>
      <p:sp>
        <p:nvSpPr>
          <p:cNvPr id="5" name="바닥글 개체 틀 4">
            <a:extLst>
              <a:ext uri="{FF2B5EF4-FFF2-40B4-BE49-F238E27FC236}">
                <a16:creationId xmlns:a16="http://schemas.microsoft.com/office/drawing/2014/main" id="{FE0C6D6A-A16F-9281-0FAF-AC7DDF3CC8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F75EF30E-D723-EFE4-575A-9D01A63025A7}"/>
              </a:ext>
            </a:extLst>
          </p:cNvPr>
          <p:cNvSpPr>
            <a:spLocks noGrp="1"/>
          </p:cNvSpPr>
          <p:nvPr>
            <p:ph type="sldNum" sz="quarter" idx="4"/>
          </p:nvPr>
        </p:nvSpPr>
        <p:spPr>
          <a:xfrm>
            <a:off x="9291917" y="6356350"/>
            <a:ext cx="2743200" cy="365125"/>
          </a:xfrm>
          <a:prstGeom prst="rect">
            <a:avLst/>
          </a:prstGeom>
        </p:spPr>
        <p:txBody>
          <a:bodyPr vert="horz" lIns="91440" tIns="45720" rIns="91440" bIns="45720" rtlCol="0" anchor="ctr"/>
          <a:lstStyle>
            <a:lvl1pPr algn="r">
              <a:defRPr sz="2400" b="1">
                <a:solidFill>
                  <a:schemeClr val="tx1">
                    <a:tint val="75000"/>
                  </a:schemeClr>
                </a:solidFill>
              </a:defRPr>
            </a:lvl1pPr>
          </a:lstStyle>
          <a:p>
            <a:fld id="{DBD750E6-72E9-4C4B-A8C3-A62FC2ABD969}" type="slidenum">
              <a:rPr lang="ko-KR" altLang="en-US" smtClean="0"/>
              <a:pPr/>
              <a:t>‹#›</a:t>
            </a:fld>
            <a:endParaRPr lang="ko-KR" altLang="en-US"/>
          </a:p>
        </p:txBody>
      </p:sp>
    </p:spTree>
    <p:extLst>
      <p:ext uri="{BB962C8B-B14F-4D97-AF65-F5344CB8AC3E}">
        <p14:creationId xmlns:p14="http://schemas.microsoft.com/office/powerpoint/2010/main" val="1064879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3" r:id="rId5"/>
    <p:sldLayoutId id="2147483654" r:id="rId6"/>
    <p:sldLayoutId id="2147483656" r:id="rId7"/>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_date"/>
          <p:cNvSpPr txBox="1"/>
          <p:nvPr/>
        </p:nvSpPr>
        <p:spPr>
          <a:xfrm>
            <a:off x="822960" y="685800"/>
            <a:ext cx="5486400" cy="320040"/>
          </a:xfrm>
          <a:prstGeom prst="rect">
            <a:avLst/>
          </a:prstGeom>
          <a:noFill/>
        </p:spPr>
        <p:txBody>
          <a:bodyPr wrap="square" lIns="0" tIns="0" rIns="0" bIns="0" anchor="t">
            <a:noAutofit/>
          </a:bodyPr>
          <a:lstStyle/>
          <a:p>
            <a:pPr algn="l"/>
            <a:r>
              <a:rPr lang="ko-KR" sz="1600">
                <a:solidFill>
                  <a:srgbClr val="5E6672"/>
                </a:solidFill>
                <a:latin typeface="KoPub돋움체 Bold" panose="02020603020101020101" pitchFamily="18" charset="-127"/>
                <a:ea typeface="KoPub돋움체 Bold" panose="02020603020101020101" pitchFamily="18" charset="-127"/>
                <a:cs typeface="KoPub돋움체 Bold"/>
              </a:rPr>
              <a:t>2026. 10. 6. 부서협업의 날</a:t>
            </a:r>
          </a:p>
        </p:txBody>
      </p:sp>
      <p:sp>
        <p:nvSpPr>
          <p:cNvPr id="3" name="cover_bar"/>
          <p:cNvSpPr/>
          <p:nvPr/>
        </p:nvSpPr>
        <p:spPr>
          <a:xfrm>
            <a:off x="822960" y="1170432"/>
            <a:ext cx="822960"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 name="cover_title"/>
          <p:cNvSpPr txBox="1"/>
          <p:nvPr/>
        </p:nvSpPr>
        <p:spPr>
          <a:xfrm>
            <a:off x="822960" y="1325880"/>
            <a:ext cx="10058400" cy="914400"/>
          </a:xfrm>
          <a:prstGeom prst="rect">
            <a:avLst/>
          </a:prstGeom>
          <a:noFill/>
        </p:spPr>
        <p:txBody>
          <a:bodyPr wrap="square" lIns="0" tIns="0" rIns="0" bIns="0" anchor="ctr">
            <a:noAutofit/>
          </a:bodyPr>
          <a:lstStyle/>
          <a:p>
            <a:pPr algn="l"/>
            <a:r>
              <a:rPr lang="ko-KR" sz="5400" dirty="0">
                <a:solidFill>
                  <a:srgbClr val="1F1F1F"/>
                </a:solidFill>
                <a:latin typeface="KoPub돋움체 Bold" panose="02020603020101020101" pitchFamily="18" charset="-127"/>
                <a:ea typeface="KoPub돋움체 Bold" panose="02020603020101020101" pitchFamily="18" charset="-127"/>
                <a:cs typeface="KoPub돋움체 Bold"/>
              </a:rPr>
              <a:t>AX 챌린저 성과보고</a:t>
            </a:r>
          </a:p>
        </p:txBody>
      </p:sp>
      <p:sp>
        <p:nvSpPr>
          <p:cNvPr id="5" name="cover_sub"/>
          <p:cNvSpPr txBox="1"/>
          <p:nvPr/>
        </p:nvSpPr>
        <p:spPr>
          <a:xfrm>
            <a:off x="822960" y="2331720"/>
            <a:ext cx="10058400" cy="548640"/>
          </a:xfrm>
          <a:prstGeom prst="rect">
            <a:avLst/>
          </a:prstGeom>
          <a:noFill/>
        </p:spPr>
        <p:txBody>
          <a:bodyPr wrap="square" lIns="0" tIns="0" rIns="0" bIns="0" anchor="t">
            <a:noAutofit/>
          </a:bodyPr>
          <a:lstStyle/>
          <a:p>
            <a:pPr algn="l"/>
            <a:r>
              <a:rPr lang="ko-KR" sz="2600" dirty="0">
                <a:solidFill>
                  <a:srgbClr val="3F2A5E"/>
                </a:solidFill>
                <a:latin typeface="KoPub돋움체 Medium" panose="02020603020101020101" pitchFamily="18" charset="-127"/>
                <a:ea typeface="KoPub돋움체 Medium" panose="02020603020101020101" pitchFamily="18" charset="-127"/>
                <a:cs typeface="KoPub돋움체 Medium"/>
              </a:rPr>
              <a:t>현장의 문제를 직접 개선한 우리의 경험</a:t>
            </a:r>
          </a:p>
        </p:txBody>
      </p:sp>
      <p:sp>
        <p:nvSpPr>
          <p:cNvPr id="6" name="cover_agenda"/>
          <p:cNvSpPr txBox="1"/>
          <p:nvPr/>
        </p:nvSpPr>
        <p:spPr>
          <a:xfrm>
            <a:off x="822960" y="3017520"/>
            <a:ext cx="10058400" cy="365760"/>
          </a:xfrm>
          <a:prstGeom prst="rect">
            <a:avLst/>
          </a:prstGeom>
          <a:noFill/>
        </p:spPr>
        <p:txBody>
          <a:bodyPr wrap="square" lIns="0" tIns="0" rIns="0" bIns="0" anchor="t">
            <a:noAutofit/>
          </a:bodyPr>
          <a:lstStyle/>
          <a:p>
            <a:pPr algn="l"/>
            <a:r>
              <a:rPr lang="ko-KR" sz="1600" dirty="0">
                <a:solidFill>
                  <a:srgbClr val="5E6672"/>
                </a:solidFill>
                <a:latin typeface="KoPub돋움체 Medium" panose="02020603020101020101" pitchFamily="18" charset="-127"/>
                <a:ea typeface="KoPub돋움체 Medium" panose="02020603020101020101" pitchFamily="18" charset="-127"/>
                <a:cs typeface="KoPub돋움체 Medium"/>
              </a:rPr>
              <a:t>경과 보고 · 주요 성과 · 직원 표창 · 2027년 </a:t>
            </a:r>
            <a:r>
              <a:rPr lang="ko-KR" sz="1600" dirty="0" err="1">
                <a:solidFill>
                  <a:srgbClr val="5E6672"/>
                </a:solidFill>
                <a:latin typeface="KoPub돋움체 Medium" panose="02020603020101020101" pitchFamily="18" charset="-127"/>
                <a:ea typeface="KoPub돋움체 Medium" panose="02020603020101020101" pitchFamily="18" charset="-127"/>
                <a:cs typeface="KoPub돋움체 Medium"/>
              </a:rPr>
              <a:t>추진</a:t>
            </a:r>
            <a:r>
              <a:rPr lang="ko-KR" altLang="en-US" sz="1600" dirty="0" err="1">
                <a:solidFill>
                  <a:srgbClr val="5E6672"/>
                </a:solidFill>
                <a:latin typeface="KoPub돋움체 Medium" panose="02020603020101020101" pitchFamily="18" charset="-127"/>
                <a:ea typeface="KoPub돋움체 Medium" panose="02020603020101020101" pitchFamily="18" charset="-127"/>
                <a:cs typeface="KoPub돋움체 Medium"/>
              </a:rPr>
              <a:t>안</a:t>
            </a:r>
            <a:endParaRPr lang="ko-KR" sz="1600" dirty="0">
              <a:solidFill>
                <a:srgbClr val="5E6672"/>
              </a:solidFill>
              <a:latin typeface="KoPub돋움체 Medium" panose="02020603020101020101" pitchFamily="18" charset="-127"/>
              <a:ea typeface="KoPub돋움체 Medium" panose="02020603020101020101" pitchFamily="18" charset="-127"/>
              <a:cs typeface="KoPub돋움체 Medium"/>
            </a:endParaRPr>
          </a:p>
        </p:txBody>
      </p:sp>
      <p:sp>
        <p:nvSpPr>
          <p:cNvPr id="7" name="cover_org"/>
          <p:cNvSpPr txBox="1"/>
          <p:nvPr/>
        </p:nvSpPr>
        <p:spPr>
          <a:xfrm>
            <a:off x="822960" y="3401568"/>
            <a:ext cx="10058400" cy="365760"/>
          </a:xfrm>
          <a:prstGeom prst="rect">
            <a:avLst/>
          </a:prstGeom>
          <a:noFill/>
        </p:spPr>
        <p:txBody>
          <a:bodyPr wrap="square" lIns="0" tIns="0" rIns="0" bIns="0" anchor="t">
            <a:noAutofit/>
          </a:bodyPr>
          <a:lstStyle/>
          <a:p>
            <a:pPr algn="l"/>
            <a:r>
              <a:rPr lang="ko-KR" altLang="en-US" sz="1400" dirty="0">
                <a:solidFill>
                  <a:srgbClr val="5E6672"/>
                </a:solidFill>
                <a:latin typeface="KoPub돋움체 Medium" panose="02020603020101020101" pitchFamily="18" charset="-127"/>
                <a:ea typeface="KoPub돋움체 Medium" panose="02020603020101020101" pitchFamily="18" charset="-127"/>
                <a:cs typeface="KoPub돋움체 Medium"/>
              </a:rPr>
              <a:t>디지털</a:t>
            </a:r>
            <a:r>
              <a:rPr lang="ko-KR" sz="1400" dirty="0">
                <a:solidFill>
                  <a:srgbClr val="5E6672"/>
                </a:solidFill>
                <a:latin typeface="KoPub돋움체 Medium" panose="02020603020101020101" pitchFamily="18" charset="-127"/>
                <a:ea typeface="KoPub돋움체 Medium" panose="02020603020101020101" pitchFamily="18" charset="-127"/>
                <a:cs typeface="KoPub돋움체 Medium"/>
              </a:rPr>
              <a:t> 경영혁신 </a:t>
            </a:r>
            <a:r>
              <a:rPr lang="ko-KR" sz="1400" dirty="0" err="1">
                <a:solidFill>
                  <a:srgbClr val="5E6672"/>
                </a:solidFill>
                <a:latin typeface="KoPub돋움체 Medium" panose="02020603020101020101" pitchFamily="18" charset="-127"/>
                <a:ea typeface="KoPub돋움체 Medium" panose="02020603020101020101" pitchFamily="18" charset="-127"/>
                <a:cs typeface="KoPub돋움체 Medium"/>
              </a:rPr>
              <a:t>추진단</a:t>
            </a:r>
            <a:r>
              <a:rPr lang="ko-KR" sz="1400" dirty="0">
                <a:solidFill>
                  <a:srgbClr val="5E6672"/>
                </a:solidFill>
                <a:latin typeface="KoPub돋움체 Medium" panose="02020603020101020101" pitchFamily="18" charset="-127"/>
                <a:ea typeface="KoPub돋움체 Medium" panose="02020603020101020101" pitchFamily="18" charset="-127"/>
                <a:cs typeface="KoPub돋움체 Medium"/>
              </a:rPr>
              <a:t> · 전략경영실 전략기획부</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도구 학습에서 공동 개발·현장 적용으로 넓어졌습니다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경과 보고</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운영계획·위촉 결과보고·9월 운영 경과보고 기준</a:t>
            </a:r>
          </a:p>
        </p:txBody>
      </p:sp>
      <p:sp>
        <p:nvSpPr>
          <p:cNvPr id="5" name="kpi_people"/>
          <p:cNvSpPr txBox="1"/>
          <p:nvPr/>
        </p:nvSpPr>
        <p:spPr>
          <a:xfrm>
            <a:off x="621792" y="1600200"/>
            <a:ext cx="2926080" cy="1005840"/>
          </a:xfrm>
          <a:prstGeom prst="rect">
            <a:avLst/>
          </a:prstGeom>
          <a:noFill/>
        </p:spPr>
        <p:txBody>
          <a:bodyPr wrap="square" lIns="0" tIns="0" rIns="0" bIns="0" anchor="t">
            <a:noAutofit/>
          </a:bodyPr>
          <a:lstStyle/>
          <a:p>
            <a:pPr algn="l"/>
            <a:r>
              <a:rPr lang="ko-KR" sz="6600">
                <a:solidFill>
                  <a:srgbClr val="724598"/>
                </a:solidFill>
                <a:latin typeface="KoPub돋움체 Bold" panose="02020603020101020101" pitchFamily="18" charset="-127"/>
                <a:ea typeface="KoPub돋움체 Bold" panose="02020603020101020101" pitchFamily="18" charset="-127"/>
                <a:cs typeface="KoPub돋움체 Bold"/>
              </a:rPr>
              <a:t>15명</a:t>
            </a:r>
          </a:p>
        </p:txBody>
      </p:sp>
      <p:sp>
        <p:nvSpPr>
          <p:cNvPr id="6" name="kpi_dept"/>
          <p:cNvSpPr txBox="1"/>
          <p:nvPr/>
        </p:nvSpPr>
        <p:spPr>
          <a:xfrm>
            <a:off x="621792" y="2697480"/>
            <a:ext cx="2926080" cy="411480"/>
          </a:xfrm>
          <a:prstGeom prst="rect">
            <a:avLst/>
          </a:prstGeom>
          <a:noFill/>
        </p:spPr>
        <p:txBody>
          <a:bodyPr wrap="square" lIns="0" tIns="0" rIns="0" bIns="0" anchor="t">
            <a:noAutofit/>
          </a:bodyPr>
          <a:lstStyle/>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10개 부서 참여</a:t>
            </a:r>
          </a:p>
        </p:txBody>
      </p:sp>
      <p:cxnSp>
        <p:nvCxnSpPr>
          <p:cNvPr id="7" name="line_1"/>
          <p:cNvCxnSpPr/>
          <p:nvPr/>
        </p:nvCxnSpPr>
        <p:spPr>
          <a:xfrm>
            <a:off x="621792" y="3291840"/>
            <a:ext cx="2670048"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8" name="kpi_desc"/>
          <p:cNvSpPr txBox="1"/>
          <p:nvPr/>
        </p:nvSpPr>
        <p:spPr>
          <a:xfrm>
            <a:off x="621792" y="3474720"/>
            <a:ext cx="2926080" cy="91440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부서 내 활용 지원</a:t>
            </a:r>
          </a:p>
          <a:p>
            <a:pPr algn="l">
              <a:spcBef>
                <a:spcPts val="6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공통 도구 개발 TF 병행</a:t>
            </a:r>
          </a:p>
        </p:txBody>
      </p:sp>
      <p:sp>
        <p:nvSpPr>
          <p:cNvPr id="9" name="progress_0_box"/>
          <p:cNvSpPr/>
          <p:nvPr/>
        </p:nvSpPr>
        <p:spPr>
          <a:xfrm>
            <a:off x="3977639" y="1600200"/>
            <a:ext cx="2331720" cy="315468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0" name="progress_0_bar"/>
          <p:cNvSpPr/>
          <p:nvPr/>
        </p:nvSpPr>
        <p:spPr>
          <a:xfrm>
            <a:off x="3977639" y="1600200"/>
            <a:ext cx="2331720"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1" name="progress_0_num"/>
          <p:cNvSpPr txBox="1"/>
          <p:nvPr/>
        </p:nvSpPr>
        <p:spPr>
          <a:xfrm>
            <a:off x="4206240" y="1874519"/>
            <a:ext cx="1874519" cy="457200"/>
          </a:xfrm>
          <a:prstGeom prst="rect">
            <a:avLst/>
          </a:prstGeom>
          <a:noFill/>
        </p:spPr>
        <p:txBody>
          <a:bodyPr wrap="square" lIns="0" tIns="0" rIns="0" bIns="0" anchor="t">
            <a:noAutofit/>
          </a:bodyPr>
          <a:lstStyle/>
          <a:p>
            <a:pPr algn="l"/>
            <a:r>
              <a:rPr lang="ko-KR" sz="2400">
                <a:solidFill>
                  <a:srgbClr val="724598"/>
                </a:solidFill>
                <a:latin typeface="KoPub돋움체 Bold" panose="02020603020101020101" pitchFamily="18" charset="-127"/>
                <a:ea typeface="KoPub돋움체 Bold" panose="02020603020101020101" pitchFamily="18" charset="-127"/>
                <a:cs typeface="KoPub돋움체 Bold"/>
              </a:rPr>
              <a:t>01</a:t>
            </a:r>
          </a:p>
        </p:txBody>
      </p:sp>
      <p:sp>
        <p:nvSpPr>
          <p:cNvPr id="12" name="progress_0_title"/>
          <p:cNvSpPr txBox="1"/>
          <p:nvPr/>
        </p:nvSpPr>
        <p:spPr>
          <a:xfrm>
            <a:off x="4206240" y="2423160"/>
            <a:ext cx="1874519" cy="822960"/>
          </a:xfrm>
          <a:prstGeom prst="rect">
            <a:avLst/>
          </a:prstGeom>
          <a:noFill/>
        </p:spPr>
        <p:txBody>
          <a:bodyPr wrap="square" lIns="0" tIns="0" rIns="0" bIns="0" anchor="t">
            <a:noAutofit/>
          </a:bodyPr>
          <a:lstStyle/>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운영과 위촉</a:t>
            </a:r>
          </a:p>
        </p:txBody>
      </p:sp>
      <p:sp>
        <p:nvSpPr>
          <p:cNvPr id="13" name="progress_0_items"/>
          <p:cNvSpPr txBox="1"/>
          <p:nvPr/>
        </p:nvSpPr>
        <p:spPr>
          <a:xfrm>
            <a:off x="4206240" y="3337560"/>
            <a:ext cx="1874519" cy="146304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도구 학습</a:t>
            </a:r>
          </a:p>
          <a:p>
            <a:pPr algn="l">
              <a:spcBef>
                <a:spcPts val="600"/>
              </a:spcBef>
            </a:pPr>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업무 과제 탐색</a:t>
            </a:r>
          </a:p>
        </p:txBody>
      </p:sp>
      <p:cxnSp>
        <p:nvCxnSpPr>
          <p:cNvPr id="14" name="progress_1_arrow"/>
          <p:cNvCxnSpPr/>
          <p:nvPr/>
        </p:nvCxnSpPr>
        <p:spPr>
          <a:xfrm>
            <a:off x="6355079" y="3310128"/>
            <a:ext cx="22860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progress_1_box"/>
          <p:cNvSpPr/>
          <p:nvPr/>
        </p:nvSpPr>
        <p:spPr>
          <a:xfrm>
            <a:off x="6629400" y="1600200"/>
            <a:ext cx="2331720" cy="315468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6" name="progress_1_bar"/>
          <p:cNvSpPr/>
          <p:nvPr/>
        </p:nvSpPr>
        <p:spPr>
          <a:xfrm>
            <a:off x="6629400" y="1600200"/>
            <a:ext cx="2331720"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7" name="progress_1_num"/>
          <p:cNvSpPr txBox="1"/>
          <p:nvPr/>
        </p:nvSpPr>
        <p:spPr>
          <a:xfrm>
            <a:off x="6858000" y="1874519"/>
            <a:ext cx="1874519" cy="457200"/>
          </a:xfrm>
          <a:prstGeom prst="rect">
            <a:avLst/>
          </a:prstGeom>
          <a:noFill/>
        </p:spPr>
        <p:txBody>
          <a:bodyPr wrap="square" lIns="0" tIns="0" rIns="0" bIns="0" anchor="t">
            <a:noAutofit/>
          </a:bodyPr>
          <a:lstStyle/>
          <a:p>
            <a:pPr algn="l"/>
            <a:r>
              <a:rPr lang="ko-KR" sz="2400">
                <a:solidFill>
                  <a:srgbClr val="724598"/>
                </a:solidFill>
                <a:latin typeface="KoPub돋움체 Bold" panose="02020603020101020101" pitchFamily="18" charset="-127"/>
                <a:ea typeface="KoPub돋움체 Bold" panose="02020603020101020101" pitchFamily="18" charset="-127"/>
                <a:cs typeface="KoPub돋움체 Bold"/>
              </a:rPr>
              <a:t>02</a:t>
            </a:r>
          </a:p>
        </p:txBody>
      </p:sp>
      <p:sp>
        <p:nvSpPr>
          <p:cNvPr id="18" name="progress_1_title"/>
          <p:cNvSpPr txBox="1"/>
          <p:nvPr/>
        </p:nvSpPr>
        <p:spPr>
          <a:xfrm>
            <a:off x="6858000" y="2423160"/>
            <a:ext cx="1874519" cy="822960"/>
          </a:xfrm>
          <a:prstGeom prst="rect">
            <a:avLst/>
          </a:prstGeom>
          <a:noFill/>
        </p:spPr>
        <p:txBody>
          <a:bodyPr wrap="square" lIns="0" tIns="0" rIns="0" bIns="0" anchor="t">
            <a:noAutofit/>
          </a:bodyPr>
          <a:lstStyle/>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조사와 기반 정비</a:t>
            </a:r>
          </a:p>
        </p:txBody>
      </p:sp>
      <p:sp>
        <p:nvSpPr>
          <p:cNvPr id="19" name="progress_1_items"/>
          <p:cNvSpPr txBox="1"/>
          <p:nvPr/>
        </p:nvSpPr>
        <p:spPr>
          <a:xfrm>
            <a:off x="6858000" y="3337560"/>
            <a:ext cx="1874519" cy="146304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직원 조사</a:t>
            </a:r>
          </a:p>
          <a:p>
            <a:pPr algn="l">
              <a:spcBef>
                <a:spcPts val="600"/>
              </a:spcBef>
            </a:pPr>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HWPX 문서 전환</a:t>
            </a:r>
          </a:p>
          <a:p>
            <a:pPr algn="l">
              <a:spcBef>
                <a:spcPts val="600"/>
              </a:spcBef>
            </a:pPr>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윤리지침안 검토</a:t>
            </a:r>
          </a:p>
        </p:txBody>
      </p:sp>
      <p:cxnSp>
        <p:nvCxnSpPr>
          <p:cNvPr id="20" name="progress_2_arrow"/>
          <p:cNvCxnSpPr/>
          <p:nvPr/>
        </p:nvCxnSpPr>
        <p:spPr>
          <a:xfrm>
            <a:off x="9006840" y="3310128"/>
            <a:ext cx="22860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progress_2_box"/>
          <p:cNvSpPr/>
          <p:nvPr/>
        </p:nvSpPr>
        <p:spPr>
          <a:xfrm>
            <a:off x="9281159" y="1600200"/>
            <a:ext cx="2331720" cy="315468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2" name="progress_2_bar"/>
          <p:cNvSpPr/>
          <p:nvPr/>
        </p:nvSpPr>
        <p:spPr>
          <a:xfrm>
            <a:off x="9281159" y="1600200"/>
            <a:ext cx="2331720" cy="73152"/>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3" name="progress_2_num"/>
          <p:cNvSpPr txBox="1"/>
          <p:nvPr/>
        </p:nvSpPr>
        <p:spPr>
          <a:xfrm>
            <a:off x="9509759" y="1874519"/>
            <a:ext cx="1874519" cy="457200"/>
          </a:xfrm>
          <a:prstGeom prst="rect">
            <a:avLst/>
          </a:prstGeom>
          <a:noFill/>
        </p:spPr>
        <p:txBody>
          <a:bodyPr wrap="square" lIns="0" tIns="0" rIns="0" bIns="0" anchor="t">
            <a:noAutofit/>
          </a:bodyPr>
          <a:lstStyle/>
          <a:p>
            <a:pPr algn="l"/>
            <a:r>
              <a:rPr lang="ko-KR" sz="2400">
                <a:solidFill>
                  <a:srgbClr val="724598"/>
                </a:solidFill>
                <a:latin typeface="KoPub돋움체 Bold" panose="02020603020101020101" pitchFamily="18" charset="-127"/>
                <a:ea typeface="KoPub돋움체 Bold" panose="02020603020101020101" pitchFamily="18" charset="-127"/>
                <a:cs typeface="KoPub돋움체 Bold"/>
              </a:rPr>
              <a:t>03</a:t>
            </a:r>
          </a:p>
        </p:txBody>
      </p:sp>
      <p:sp>
        <p:nvSpPr>
          <p:cNvPr id="24" name="progress_2_title"/>
          <p:cNvSpPr txBox="1"/>
          <p:nvPr/>
        </p:nvSpPr>
        <p:spPr>
          <a:xfrm>
            <a:off x="9509759" y="2423160"/>
            <a:ext cx="1874519" cy="822960"/>
          </a:xfrm>
          <a:prstGeom prst="rect">
            <a:avLst/>
          </a:prstGeom>
          <a:noFill/>
        </p:spPr>
        <p:txBody>
          <a:bodyPr wrap="square" lIns="0" tIns="0" rIns="0" bIns="0" anchor="t">
            <a:noAutofit/>
          </a:bodyPr>
          <a:lstStyle/>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공동 개발과</a:t>
            </a:r>
          </a:p>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현장 적용</a:t>
            </a:r>
          </a:p>
        </p:txBody>
      </p:sp>
      <p:sp>
        <p:nvSpPr>
          <p:cNvPr id="25" name="progress_2_items"/>
          <p:cNvSpPr txBox="1"/>
          <p:nvPr/>
        </p:nvSpPr>
        <p:spPr>
          <a:xfrm>
            <a:off x="9509759" y="3337560"/>
            <a:ext cx="1874519" cy="146304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반복업무 도구 구현</a:t>
            </a:r>
          </a:p>
          <a:p>
            <a:pPr algn="l">
              <a:spcBef>
                <a:spcPts val="600"/>
              </a:spcBef>
            </a:pPr>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사용자 의견으로 보완</a:t>
            </a:r>
          </a:p>
        </p:txBody>
      </p:sp>
      <p:sp>
        <p:nvSpPr>
          <p:cNvPr id="26" name="progress_take_box"/>
          <p:cNvSpPr/>
          <p:nvPr/>
        </p:nvSpPr>
        <p:spPr>
          <a:xfrm>
            <a:off x="3977639" y="5120640"/>
            <a:ext cx="7589520" cy="77724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7" name="progress_take"/>
          <p:cNvSpPr txBox="1"/>
          <p:nvPr/>
        </p:nvSpPr>
        <p:spPr>
          <a:xfrm>
            <a:off x="4206240" y="5120640"/>
            <a:ext cx="7223760" cy="777240"/>
          </a:xfrm>
          <a:prstGeom prst="rect">
            <a:avLst/>
          </a:prstGeom>
          <a:noFill/>
        </p:spPr>
        <p:txBody>
          <a:bodyPr wrap="square" lIns="0" tIns="0" rIns="0" bIns="0" anchor="ctr">
            <a:noAutofit/>
          </a:bodyPr>
          <a:lstStyle/>
          <a:p>
            <a:pPr algn="l"/>
            <a:r>
              <a:rPr lang="ko-KR" sz="1600">
                <a:solidFill>
                  <a:srgbClr val="3F2A5E"/>
                </a:solidFill>
                <a:latin typeface="KoPub돋움체 Bold" panose="02020603020101020101" pitchFamily="18" charset="-127"/>
                <a:ea typeface="KoPub돋움체 Bold" panose="02020603020101020101" pitchFamily="18" charset="-127"/>
                <a:cs typeface="KoPub돋움체 Bold"/>
              </a:rPr>
              <a:t>개발 참여 · 현업 검증 · 동료 사용지원이 함께 이루어진 운영 과정</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50"/>
                                        <p:tgtEl>
                                          <p:spTgt spid="15"/>
                                        </p:tgtEl>
                                      </p:cBhvr>
                                    </p:animEffect>
                                  </p:childTnLst>
                                </p:cTn>
                              </p:par>
                            </p:childTnLst>
                          </p:cTn>
                        </p:par>
                        <p:par>
                          <p:cTn id="12"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childTnLst>
                          </p:cTn>
                        </p:par>
                        <p:par>
                          <p:cTn id="16" fill="hold">
                            <p:stCondLst>
                              <p:cond delay="1050"/>
                            </p:stCondLst>
                            <p:childTnLst>
                              <p:par>
                                <p:cTn id="17" presetID="10" presetClass="entr" presetSubtype="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350"/>
                                        <p:tgtEl>
                                          <p:spTgt spid="17"/>
                                        </p:tgtEl>
                                      </p:cBhvr>
                                    </p:animEffect>
                                  </p:childTnLst>
                                </p:cTn>
                              </p:par>
                            </p:childTnLst>
                          </p:cTn>
                        </p:par>
                        <p:par>
                          <p:cTn id="20" fill="hold">
                            <p:stCondLst>
                              <p:cond delay="1400"/>
                            </p:stCondLst>
                            <p:childTnLst>
                              <p:par>
                                <p:cTn id="21" presetID="10" presetClass="entr" presetSubtype="0"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50"/>
                                        <p:tgtEl>
                                          <p:spTgt spid="19"/>
                                        </p:tgtEl>
                                      </p:cBhvr>
                                    </p:animEffect>
                                  </p:childTnLst>
                                </p:cTn>
                              </p:par>
                            </p:childTnLst>
                          </p:cTn>
                        </p:par>
                        <p:par>
                          <p:cTn id="28" fill="hold">
                            <p:stCondLst>
                              <p:cond delay="2100"/>
                            </p:stCondLst>
                            <p:childTnLst>
                              <p:par>
                                <p:cTn id="29" presetID="10" presetClass="entr" presetSubtype="0"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350"/>
                                        <p:tgtEl>
                                          <p:spTgt spid="20"/>
                                        </p:tgtEl>
                                      </p:cBhvr>
                                    </p:animEffect>
                                  </p:childTnLst>
                                </p:cTn>
                              </p:par>
                            </p:childTnLst>
                          </p:cTn>
                        </p:par>
                        <p:par>
                          <p:cTn id="32" fill="hold">
                            <p:stCondLst>
                              <p:cond delay="2450"/>
                            </p:stCondLst>
                            <p:childTnLst>
                              <p:par>
                                <p:cTn id="33" presetID="10" presetClass="entr" presetSubtype="0"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350"/>
                                        <p:tgtEl>
                                          <p:spTgt spid="21"/>
                                        </p:tgtEl>
                                      </p:cBhvr>
                                    </p:animEffect>
                                  </p:childTnLst>
                                </p:cTn>
                              </p:par>
                            </p:childTnLst>
                          </p:cTn>
                        </p:par>
                        <p:par>
                          <p:cTn id="36" fill="hold">
                            <p:stCondLst>
                              <p:cond delay="2800"/>
                            </p:stCondLst>
                            <p:childTnLst>
                              <p:par>
                                <p:cTn id="37" presetID="10"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350"/>
                                        <p:tgtEl>
                                          <p:spTgt spid="22"/>
                                        </p:tgtEl>
                                      </p:cBhvr>
                                    </p:animEffect>
                                  </p:childTnLst>
                                </p:cTn>
                              </p:par>
                            </p:childTnLst>
                          </p:cTn>
                        </p:par>
                        <p:par>
                          <p:cTn id="40" fill="hold">
                            <p:stCondLst>
                              <p:cond delay="3150"/>
                            </p:stCondLst>
                            <p:childTnLst>
                              <p:par>
                                <p:cTn id="41" presetID="10" presetClass="entr" presetSubtype="0"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350"/>
                                        <p:tgtEl>
                                          <p:spTgt spid="23"/>
                                        </p:tgtEl>
                                      </p:cBhvr>
                                    </p:animEffect>
                                  </p:childTnLst>
                                </p:cTn>
                              </p:par>
                            </p:childTnLst>
                          </p:cTn>
                        </p:par>
                        <p:par>
                          <p:cTn id="44" fill="hold">
                            <p:stCondLst>
                              <p:cond delay="3500"/>
                            </p:stCondLst>
                            <p:childTnLst>
                              <p:par>
                                <p:cTn id="45" presetID="10" presetClass="entr" presetSubtype="0" fill="hold" grpId="0"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350"/>
                                        <p:tgtEl>
                                          <p:spTgt spid="24"/>
                                        </p:tgtEl>
                                      </p:cBhvr>
                                    </p:animEffect>
                                  </p:childTnLst>
                                </p:cTn>
                              </p:par>
                            </p:childTnLst>
                          </p:cTn>
                        </p:par>
                        <p:par>
                          <p:cTn id="48" fill="hold">
                            <p:stCondLst>
                              <p:cond delay="3850"/>
                            </p:stCondLst>
                            <p:childTnLst>
                              <p:par>
                                <p:cTn id="49" presetID="10" presetClass="entr" presetSubtype="0" fill="hold" grpId="0"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350"/>
                                        <p:tgtEl>
                                          <p:spTgt spid="25"/>
                                        </p:tgtEl>
                                      </p:cBhvr>
                                    </p:animEffect>
                                  </p:childTnLst>
                                </p:cTn>
                              </p:par>
                            </p:childTnLst>
                          </p:cTn>
                        </p:par>
                        <p:par>
                          <p:cTn id="52" fill="hold">
                            <p:stCondLst>
                              <p:cond delay="4200"/>
                            </p:stCondLst>
                            <p:childTnLst>
                              <p:par>
                                <p:cTn id="53" presetID="10" presetClass="entr" presetSubtype="0" fill="hold" grpId="0" nodeType="after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350"/>
                                        <p:tgtEl>
                                          <p:spTgt spid="26"/>
                                        </p:tgtEl>
                                      </p:cBhvr>
                                    </p:animEffect>
                                  </p:childTnLst>
                                </p:cTn>
                              </p:par>
                            </p:childTnLst>
                          </p:cTn>
                        </p:par>
                        <p:par>
                          <p:cTn id="56" fill="hold">
                            <p:stCondLst>
                              <p:cond delay="4550"/>
                            </p:stCondLst>
                            <p:childTnLst>
                              <p:par>
                                <p:cTn id="57" presetID="10" presetClass="entr" presetSubtype="0"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18" grpId="0"/>
      <p:bldP spid="19" grpId="0"/>
      <p:bldP spid="21" grpId="0" animBg="1"/>
      <p:bldP spid="22" grpId="0" animBg="1"/>
      <p:bldP spid="23" grpId="0"/>
      <p:bldP spid="24" grpId="0"/>
      <p:bldP spid="25" grpId="0"/>
      <p:bldP spid="26" grpId="0" animBg="1"/>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eaLnBrk="0"/>
            <a:r>
              <a:rPr lang="ko-KR" sz="2600">
                <a:solidFill>
                  <a:srgbClr val="1F1F1F"/>
                </a:solidFill>
                <a:latin typeface="KoPub돋움체 Bold" panose="02020603020101020101" pitchFamily="18" charset="-127"/>
                <a:ea typeface="KoPub돋움체 Bold" panose="02020603020101020101" pitchFamily="18" charset="-127"/>
                <a:cs typeface="KoPub돋움체 Bold"/>
              </a:rPr>
              <a:t>공동 기반·부서 실험·TF 협업을 함께 운영했습니다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eaLnBrk="0"/>
            <a:r>
              <a:rPr lang="ko-KR" sz="1300">
                <a:solidFill>
                  <a:srgbClr val="724598"/>
                </a:solidFill>
                <a:latin typeface="KoPub돋움체 Bold" panose="02020603020101020101" pitchFamily="18" charset="-127"/>
                <a:ea typeface="KoPub돋움체 Bold" panose="02020603020101020101" pitchFamily="18" charset="-127"/>
                <a:cs typeface="KoPub돋움체 Bold"/>
              </a:rPr>
              <a:t>경과 보고 · 운영 구조</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eaLnBrk="0"/>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협업 허브·6월 회의·9월 경과보고 기준</a:t>
            </a:r>
          </a:p>
        </p:txBody>
      </p:sp>
      <p:sp>
        <p:nvSpPr>
          <p:cNvPr id="5" name="str_goal_box"/>
          <p:cNvSpPr/>
          <p:nvPr/>
        </p:nvSpPr>
        <p:spPr>
          <a:xfrm>
            <a:off x="621792" y="1371600"/>
            <a:ext cx="10945368" cy="566928"/>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6" name="str_goal"/>
          <p:cNvSpPr txBox="1"/>
          <p:nvPr/>
        </p:nvSpPr>
        <p:spPr>
          <a:xfrm>
            <a:off x="868680" y="1371600"/>
            <a:ext cx="10515600" cy="566928"/>
          </a:xfrm>
          <a:prstGeom prst="rect">
            <a:avLst/>
          </a:prstGeom>
          <a:noFill/>
        </p:spPr>
        <p:txBody>
          <a:bodyPr wrap="square" lIns="0" tIns="0" rIns="0" bIns="0" anchor="ctr">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목적  </a:t>
            </a:r>
            <a:r>
              <a:rPr lang="ko-KR" sz="1700">
                <a:solidFill>
                  <a:srgbClr val="3F2A5E"/>
                </a:solidFill>
                <a:latin typeface="KoPub돋움체 Bold" panose="02020603020101020101" pitchFamily="18" charset="-127"/>
                <a:ea typeface="KoPub돋움체 Bold" panose="02020603020101020101" pitchFamily="18" charset="-127"/>
                <a:cs typeface="KoPub돋움체 Bold"/>
              </a:rPr>
              <a:t>업무 생산성 향상과 AX 조직문화 확산</a:t>
            </a: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현장의 업무 문제를 내부 구성원이 직접 발견하고 개선</a:t>
            </a:r>
          </a:p>
        </p:txBody>
      </p:sp>
      <p:sp>
        <p:nvSpPr>
          <p:cNvPr id="7" name="str_base_box"/>
          <p:cNvSpPr/>
          <p:nvPr/>
        </p:nvSpPr>
        <p:spPr>
          <a:xfrm>
            <a:off x="621792" y="2148840"/>
            <a:ext cx="2377440" cy="2697480"/>
          </a:xfrm>
          <a:prstGeom prst="rect">
            <a:avLst/>
          </a:prstGeom>
          <a:solidFill>
            <a:srgbClr val="FFFFFF"/>
          </a:solidFill>
          <a:ln w="19050">
            <a:solidFill>
              <a:srgbClr val="156A3A"/>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8" name="str_base"/>
          <p:cNvSpPr txBox="1"/>
          <p:nvPr/>
        </p:nvSpPr>
        <p:spPr>
          <a:xfrm>
            <a:off x="822960" y="2286000"/>
            <a:ext cx="2057400" cy="2468880"/>
          </a:xfrm>
          <a:prstGeom prst="rect">
            <a:avLst/>
          </a:prstGeom>
          <a:noFill/>
        </p:spPr>
        <p:txBody>
          <a:bodyPr wrap="square" lIns="0" tIns="0" rIns="0" bIns="0" anchor="t">
            <a:noAutofit/>
          </a:bodyPr>
          <a:lstStyle/>
          <a:p>
            <a:pPr algn="l" eaLnBrk="0"/>
            <a:r>
              <a:rPr lang="ko-KR" sz="1800">
                <a:solidFill>
                  <a:srgbClr val="1F1F1F"/>
                </a:solidFill>
                <a:latin typeface="KoPub돋움체 Bold" panose="02020603020101020101" pitchFamily="18" charset="-127"/>
                <a:ea typeface="KoPub돋움체 Bold" panose="02020603020101020101" pitchFamily="18" charset="-127"/>
                <a:cs typeface="KoPub돋움체 Bold"/>
              </a:rPr>
              <a:t>참여 기반</a:t>
            </a:r>
          </a:p>
          <a:p>
            <a:pPr algn="l" eaLnBrk="0">
              <a:spcBef>
                <a:spcPts val="600"/>
              </a:spcBef>
            </a:pPr>
            <a:r>
              <a:rPr lang="ko-KR" sz="1400">
                <a:solidFill>
                  <a:srgbClr val="724598"/>
                </a:solidFill>
                <a:latin typeface="KoPub돋움체 Bold" panose="02020603020101020101" pitchFamily="18" charset="-127"/>
                <a:ea typeface="KoPub돋움체 Bold" panose="02020603020101020101" pitchFamily="18" charset="-127"/>
                <a:cs typeface="KoPub돋움체 Bold"/>
              </a:rPr>
              <a:t>10개 부서 · 챌린저 15명</a:t>
            </a:r>
          </a:p>
          <a:p>
            <a:pPr algn="l" eaLnBrk="0">
              <a:spcBef>
                <a:spcPts val="6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부서의 AI 활용 촉진</a:t>
            </a:r>
          </a:p>
          <a:p>
            <a:pPr algn="l" eaLnBrk="0">
              <a:spcBef>
                <a:spcPts val="6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작은 시도와 사례 축적</a:t>
            </a:r>
          </a:p>
          <a:p>
            <a:pPr algn="l" eaLnBrk="0">
              <a:spcBef>
                <a:spcPts val="6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동료 실습·사용 지원</a:t>
            </a:r>
          </a:p>
          <a:p>
            <a:pPr algn="l" eaLnBrk="0">
              <a:spcBef>
                <a:spcPts val="6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전략경영실 운영 지원</a:t>
            </a:r>
          </a:p>
        </p:txBody>
      </p:sp>
      <p:sp>
        <p:nvSpPr>
          <p:cNvPr id="9" name="str_c0_box"/>
          <p:cNvSpPr/>
          <p:nvPr/>
        </p:nvSpPr>
        <p:spPr>
          <a:xfrm>
            <a:off x="3246120" y="2148840"/>
            <a:ext cx="2651760" cy="201168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0" name="str_c0_bar"/>
          <p:cNvSpPr/>
          <p:nvPr/>
        </p:nvSpPr>
        <p:spPr>
          <a:xfrm>
            <a:off x="3246120" y="2148840"/>
            <a:ext cx="2651760"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1" name="str_c0_title"/>
          <p:cNvSpPr txBox="1"/>
          <p:nvPr/>
        </p:nvSpPr>
        <p:spPr>
          <a:xfrm>
            <a:off x="3447288" y="2331720"/>
            <a:ext cx="2286000" cy="365760"/>
          </a:xfrm>
          <a:prstGeom prst="rect">
            <a:avLst/>
          </a:prstGeom>
          <a:noFill/>
        </p:spPr>
        <p:txBody>
          <a:bodyPr wrap="square" lIns="0" tIns="0" rIns="0" bIns="0" anchor="t">
            <a:noAutofit/>
          </a:bodyPr>
          <a:lstStyle/>
          <a:p>
            <a:pPr algn="l" eaLnBrk="0"/>
            <a:r>
              <a:rPr lang="ko-KR" sz="1500">
                <a:solidFill>
                  <a:srgbClr val="724598"/>
                </a:solidFill>
                <a:latin typeface="KoPub돋움체 Bold" panose="02020603020101020101" pitchFamily="18" charset="-127"/>
                <a:ea typeface="KoPub돋움체 Bold" panose="02020603020101020101" pitchFamily="18" charset="-127"/>
                <a:cs typeface="KoPub돋움체 Bold"/>
              </a:rPr>
              <a:t>01  </a:t>
            </a:r>
            <a:r>
              <a:rPr lang="ko-KR" sz="1700">
                <a:solidFill>
                  <a:srgbClr val="1F1F1F"/>
                </a:solidFill>
                <a:latin typeface="KoPub돋움체 Bold" panose="02020603020101020101" pitchFamily="18" charset="-127"/>
                <a:ea typeface="KoPub돋움체 Bold" panose="02020603020101020101" pitchFamily="18" charset="-127"/>
                <a:cs typeface="KoPub돋움체 Bold"/>
              </a:rPr>
              <a:t>공동 기반</a:t>
            </a:r>
          </a:p>
        </p:txBody>
      </p:sp>
      <p:sp>
        <p:nvSpPr>
          <p:cNvPr id="12" name="str_c0_items"/>
          <p:cNvSpPr txBox="1"/>
          <p:nvPr/>
        </p:nvSpPr>
        <p:spPr>
          <a:xfrm>
            <a:off x="3447288" y="2788920"/>
            <a:ext cx="2286000" cy="1325880"/>
          </a:xfrm>
          <a:prstGeom prst="rect">
            <a:avLst/>
          </a:prstGeom>
          <a:noFill/>
        </p:spPr>
        <p:txBody>
          <a:bodyPr wrap="square" lIns="0" tIns="0" rIns="0" bIns="0" anchor="t">
            <a:noAutofit/>
          </a:bodyPr>
          <a:lstStyle/>
          <a:p>
            <a:pPr algn="l" eaLnBrk="0"/>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HWPX 문서 체계 전환</a:t>
            </a:r>
          </a:p>
          <a:p>
            <a:pPr algn="l" eaLnBrk="0">
              <a:spcBef>
                <a:spcPts val="3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전 직원 AI 활용성 조사</a:t>
            </a:r>
          </a:p>
          <a:p>
            <a:pPr algn="l" eaLnBrk="0">
              <a:spcBef>
                <a:spcPts val="3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AI 활용 윤리 지침안</a:t>
            </a:r>
          </a:p>
        </p:txBody>
      </p:sp>
      <p:cxnSp>
        <p:nvCxnSpPr>
          <p:cNvPr id="13" name="line_1"/>
          <p:cNvCxnSpPr/>
          <p:nvPr/>
        </p:nvCxnSpPr>
        <p:spPr>
          <a:xfrm>
            <a:off x="4572000" y="4160520"/>
            <a:ext cx="0" cy="228600"/>
          </a:xfrm>
          <a:prstGeom prst="line">
            <a:avLst/>
          </a:prstGeom>
          <a:ln w="22225">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str_c1_box"/>
          <p:cNvSpPr/>
          <p:nvPr/>
        </p:nvSpPr>
        <p:spPr>
          <a:xfrm>
            <a:off x="6080760" y="2148840"/>
            <a:ext cx="2651760" cy="201168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5" name="str_c1_bar"/>
          <p:cNvSpPr/>
          <p:nvPr/>
        </p:nvSpPr>
        <p:spPr>
          <a:xfrm>
            <a:off x="6080760" y="2148840"/>
            <a:ext cx="2651760"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6" name="str_c1_title"/>
          <p:cNvSpPr txBox="1"/>
          <p:nvPr/>
        </p:nvSpPr>
        <p:spPr>
          <a:xfrm>
            <a:off x="6281928" y="2331720"/>
            <a:ext cx="2286000" cy="365760"/>
          </a:xfrm>
          <a:prstGeom prst="rect">
            <a:avLst/>
          </a:prstGeom>
          <a:noFill/>
        </p:spPr>
        <p:txBody>
          <a:bodyPr wrap="square" lIns="0" tIns="0" rIns="0" bIns="0" anchor="t">
            <a:noAutofit/>
          </a:bodyPr>
          <a:lstStyle/>
          <a:p>
            <a:pPr algn="l" eaLnBrk="0"/>
            <a:r>
              <a:rPr lang="ko-KR" sz="1500">
                <a:solidFill>
                  <a:srgbClr val="724598"/>
                </a:solidFill>
                <a:latin typeface="KoPub돋움체 Bold" panose="02020603020101020101" pitchFamily="18" charset="-127"/>
                <a:ea typeface="KoPub돋움체 Bold" panose="02020603020101020101" pitchFamily="18" charset="-127"/>
                <a:cs typeface="KoPub돋움체 Bold"/>
              </a:rPr>
              <a:t>02  </a:t>
            </a:r>
            <a:r>
              <a:rPr lang="ko-KR" sz="1700">
                <a:solidFill>
                  <a:srgbClr val="1F1F1F"/>
                </a:solidFill>
                <a:latin typeface="KoPub돋움체 Bold" panose="02020603020101020101" pitchFamily="18" charset="-127"/>
                <a:ea typeface="KoPub돋움체 Bold" panose="02020603020101020101" pitchFamily="18" charset="-127"/>
                <a:cs typeface="KoPub돋움체 Bold"/>
              </a:rPr>
              <a:t>부서별 실험·적용</a:t>
            </a:r>
          </a:p>
        </p:txBody>
      </p:sp>
      <p:sp>
        <p:nvSpPr>
          <p:cNvPr id="17" name="str_c1_items"/>
          <p:cNvSpPr txBox="1"/>
          <p:nvPr/>
        </p:nvSpPr>
        <p:spPr>
          <a:xfrm>
            <a:off x="6281928" y="2788920"/>
            <a:ext cx="2286000" cy="1325880"/>
          </a:xfrm>
          <a:prstGeom prst="rect">
            <a:avLst/>
          </a:prstGeom>
          <a:noFill/>
        </p:spPr>
        <p:txBody>
          <a:bodyPr wrap="square" lIns="0" tIns="0" rIns="0" bIns="0" anchor="t">
            <a:noAutofit/>
          </a:bodyPr>
          <a:lstStyle/>
          <a:p>
            <a:pPr algn="l" eaLnBrk="0"/>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반복 입력·서식 자동화</a:t>
            </a:r>
          </a:p>
          <a:p>
            <a:pPr algn="l" eaLnBrk="0">
              <a:spcBef>
                <a:spcPts val="3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시설·이용자 서비스</a:t>
            </a:r>
          </a:p>
          <a:p>
            <a:pPr algn="l" eaLnBrk="0">
              <a:spcBef>
                <a:spcPts val="3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홍보콘텐츠·웹 아카이브</a:t>
            </a:r>
          </a:p>
          <a:p>
            <a:pPr algn="l" eaLnBrk="0">
              <a:spcBef>
                <a:spcPts val="3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공동실습·문화 확산</a:t>
            </a:r>
          </a:p>
        </p:txBody>
      </p:sp>
      <p:cxnSp>
        <p:nvCxnSpPr>
          <p:cNvPr id="18" name="line_2"/>
          <p:cNvCxnSpPr/>
          <p:nvPr/>
        </p:nvCxnSpPr>
        <p:spPr>
          <a:xfrm>
            <a:off x="7406640" y="4160520"/>
            <a:ext cx="0" cy="228600"/>
          </a:xfrm>
          <a:prstGeom prst="line">
            <a:avLst/>
          </a:prstGeom>
          <a:ln w="22225">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r_c2_box"/>
          <p:cNvSpPr/>
          <p:nvPr/>
        </p:nvSpPr>
        <p:spPr>
          <a:xfrm>
            <a:off x="8915400" y="2148840"/>
            <a:ext cx="2651760" cy="201168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0" name="str_c2_bar"/>
          <p:cNvSpPr/>
          <p:nvPr/>
        </p:nvSpPr>
        <p:spPr>
          <a:xfrm>
            <a:off x="8915400" y="2148840"/>
            <a:ext cx="2651760"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1" name="str_c2_title"/>
          <p:cNvSpPr txBox="1"/>
          <p:nvPr/>
        </p:nvSpPr>
        <p:spPr>
          <a:xfrm>
            <a:off x="9116568" y="2331720"/>
            <a:ext cx="2286000" cy="365760"/>
          </a:xfrm>
          <a:prstGeom prst="rect">
            <a:avLst/>
          </a:prstGeom>
          <a:noFill/>
        </p:spPr>
        <p:txBody>
          <a:bodyPr wrap="square" lIns="0" tIns="0" rIns="0" bIns="0" anchor="t">
            <a:noAutofit/>
          </a:bodyPr>
          <a:lstStyle/>
          <a:p>
            <a:pPr algn="l" eaLnBrk="0"/>
            <a:r>
              <a:rPr lang="ko-KR" sz="1500">
                <a:solidFill>
                  <a:srgbClr val="724598"/>
                </a:solidFill>
                <a:latin typeface="KoPub돋움체 Bold" panose="02020603020101020101" pitchFamily="18" charset="-127"/>
                <a:ea typeface="KoPub돋움체 Bold" panose="02020603020101020101" pitchFamily="18" charset="-127"/>
                <a:cs typeface="KoPub돋움체 Bold"/>
              </a:rPr>
              <a:t>03  </a:t>
            </a:r>
            <a:r>
              <a:rPr lang="ko-KR" sz="1700">
                <a:solidFill>
                  <a:srgbClr val="1F1F1F"/>
                </a:solidFill>
                <a:latin typeface="KoPub돋움체 Bold" panose="02020603020101020101" pitchFamily="18" charset="-127"/>
                <a:ea typeface="KoPub돋움체 Bold" panose="02020603020101020101" pitchFamily="18" charset="-127"/>
                <a:cs typeface="KoPub돋움체 Bold"/>
              </a:rPr>
              <a:t>과제별 TF 협업</a:t>
            </a:r>
          </a:p>
        </p:txBody>
      </p:sp>
      <p:sp>
        <p:nvSpPr>
          <p:cNvPr id="22" name="str_c2_items"/>
          <p:cNvSpPr txBox="1"/>
          <p:nvPr/>
        </p:nvSpPr>
        <p:spPr>
          <a:xfrm>
            <a:off x="9116568" y="2788920"/>
            <a:ext cx="2286000" cy="1325880"/>
          </a:xfrm>
          <a:prstGeom prst="rect">
            <a:avLst/>
          </a:prstGeom>
          <a:noFill/>
        </p:spPr>
        <p:txBody>
          <a:bodyPr wrap="square" lIns="0" tIns="0" rIns="0" bIns="0" anchor="t">
            <a:noAutofit/>
          </a:bodyPr>
          <a:lstStyle/>
          <a:p>
            <a:pPr algn="l" eaLnBrk="0"/>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구글 AI 활용 콘텐츠</a:t>
            </a:r>
          </a:p>
          <a:p>
            <a:pPr algn="l" eaLnBrk="0">
              <a:spcBef>
                <a:spcPts val="3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수입행정 간소화</a:t>
            </a:r>
          </a:p>
          <a:p>
            <a:pPr algn="l" eaLnBrk="0">
              <a:spcBef>
                <a:spcPts val="3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월간 업무보고 자동화</a:t>
            </a:r>
          </a:p>
        </p:txBody>
      </p:sp>
      <p:cxnSp>
        <p:nvCxnSpPr>
          <p:cNvPr id="23" name="line_3"/>
          <p:cNvCxnSpPr/>
          <p:nvPr/>
        </p:nvCxnSpPr>
        <p:spPr>
          <a:xfrm>
            <a:off x="10241280" y="4160520"/>
            <a:ext cx="0" cy="228600"/>
          </a:xfrm>
          <a:prstGeom prst="line">
            <a:avLst/>
          </a:prstGeom>
          <a:ln w="22225">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r_hub_box"/>
          <p:cNvSpPr/>
          <p:nvPr/>
        </p:nvSpPr>
        <p:spPr>
          <a:xfrm>
            <a:off x="3246120" y="4389120"/>
            <a:ext cx="8321040" cy="457200"/>
          </a:xfrm>
          <a:prstGeom prst="rect">
            <a:avLst/>
          </a:prstGeom>
          <a:solidFill>
            <a:srgbClr val="FFFFFF"/>
          </a:solidFill>
          <a:ln w="19050">
            <a:solidFill>
              <a:srgbClr val="156A3A"/>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5" name="str_hub"/>
          <p:cNvSpPr txBox="1"/>
          <p:nvPr/>
        </p:nvSpPr>
        <p:spPr>
          <a:xfrm>
            <a:off x="3474720" y="4389120"/>
            <a:ext cx="7955279" cy="457200"/>
          </a:xfrm>
          <a:prstGeom prst="rect">
            <a:avLst/>
          </a:prstGeom>
          <a:noFill/>
        </p:spPr>
        <p:txBody>
          <a:bodyPr wrap="square" lIns="0" tIns="0" rIns="0" bIns="0" anchor="ctr">
            <a:noAutofit/>
          </a:bodyPr>
          <a:lstStyle/>
          <a:p>
            <a:pPr algn="l" eaLnBrk="0"/>
            <a:r>
              <a:rPr lang="ko-KR" sz="1500">
                <a:solidFill>
                  <a:srgbClr val="156A3A"/>
                </a:solidFill>
                <a:latin typeface="KoPub돋움체 Bold" panose="02020603020101020101" pitchFamily="18" charset="-127"/>
                <a:ea typeface="KoPub돋움체 Bold" panose="02020603020101020101" pitchFamily="18" charset="-127"/>
                <a:cs typeface="KoPub돋움체 Bold"/>
              </a:rPr>
              <a:t>공유·학습 허브  </a:t>
            </a:r>
            <a:r>
              <a:rPr lang="ko-KR" sz="1500">
                <a:solidFill>
                  <a:srgbClr val="1F1F1F"/>
                </a:solidFill>
                <a:latin typeface="KoPub돋움체 Bold" panose="02020603020101020101" pitchFamily="18" charset="-127"/>
                <a:ea typeface="KoPub돋움체 Bold" panose="02020603020101020101" pitchFamily="18" charset="-127"/>
                <a:cs typeface="KoPub돋움체 Bold"/>
              </a:rPr>
              <a:t>노션 자료·사례·회의 기록 + 정기모임</a:t>
            </a:r>
          </a:p>
        </p:txBody>
      </p:sp>
      <p:cxnSp>
        <p:nvCxnSpPr>
          <p:cNvPr id="26" name="line_4"/>
          <p:cNvCxnSpPr/>
          <p:nvPr/>
        </p:nvCxnSpPr>
        <p:spPr>
          <a:xfrm>
            <a:off x="7406640" y="4846320"/>
            <a:ext cx="0" cy="274320"/>
          </a:xfrm>
          <a:prstGeom prst="line">
            <a:avLst/>
          </a:prstGeom>
          <a:ln w="22225">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str_field_box"/>
          <p:cNvSpPr/>
          <p:nvPr/>
        </p:nvSpPr>
        <p:spPr>
          <a:xfrm>
            <a:off x="3246120" y="5120640"/>
            <a:ext cx="8321040" cy="777240"/>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8" name="str_field"/>
          <p:cNvSpPr txBox="1"/>
          <p:nvPr/>
        </p:nvSpPr>
        <p:spPr>
          <a:xfrm>
            <a:off x="3474720" y="5120640"/>
            <a:ext cx="7955279" cy="777240"/>
          </a:xfrm>
          <a:prstGeom prst="rect">
            <a:avLst/>
          </a:prstGeom>
          <a:noFill/>
        </p:spPr>
        <p:txBody>
          <a:bodyPr wrap="square" lIns="0" tIns="0" rIns="0" bIns="0" anchor="ctr">
            <a:noAutofit/>
          </a:bodyPr>
          <a:lstStyle/>
          <a:p>
            <a:pPr algn="l" eaLnBrk="0"/>
            <a:r>
              <a:rPr lang="ko-KR" sz="1600">
                <a:solidFill>
                  <a:srgbClr val="FFFFFF"/>
                </a:solidFill>
                <a:latin typeface="KoPub돋움체 Bold" panose="02020603020101020101" pitchFamily="18" charset="-127"/>
                <a:ea typeface="KoPub돋움체 Bold" panose="02020603020101020101" pitchFamily="18" charset="-127"/>
                <a:cs typeface="KoPub돋움체 Bold"/>
              </a:rPr>
              <a:t>현장 활용과 확산   </a:t>
            </a:r>
            <a:r>
              <a:rPr lang="ko-KR" sz="1400">
                <a:solidFill>
                  <a:srgbClr val="FFFFFF"/>
                </a:solidFill>
                <a:latin typeface="KoPub돋움체 Medium" panose="02020603020101020101" pitchFamily="18" charset="-127"/>
                <a:ea typeface="KoPub돋움체 Medium" panose="02020603020101020101" pitchFamily="18" charset="-127"/>
                <a:cs typeface="KoPub돋움체 Medium"/>
              </a:rPr>
              <a:t>직원 업무에 적용 · 이용자 서비스 개선 · 사용 의견을 다음 개선에 반영</a:t>
            </a:r>
          </a:p>
        </p:txBody>
      </p:sp>
      <p:cxnSp>
        <p:nvCxnSpPr>
          <p:cNvPr id="29" name="str_fb1"/>
          <p:cNvCxnSpPr/>
          <p:nvPr/>
        </p:nvCxnSpPr>
        <p:spPr>
          <a:xfrm flipH="1">
            <a:off x="1810512" y="5504688"/>
            <a:ext cx="1435608" cy="0"/>
          </a:xfrm>
          <a:prstGeom prst="line">
            <a:avLst/>
          </a:prstGeom>
          <a:ln w="22225">
            <a:solidFill>
              <a:srgbClr val="156A3A"/>
            </a:solidFill>
          </a:ln>
        </p:spPr>
        <p:style>
          <a:lnRef idx="2">
            <a:schemeClr val="accent1"/>
          </a:lnRef>
          <a:fillRef idx="0">
            <a:schemeClr val="accent1"/>
          </a:fillRef>
          <a:effectRef idx="1">
            <a:schemeClr val="accent1"/>
          </a:effectRef>
          <a:fontRef idx="minor">
            <a:schemeClr val="tx1"/>
          </a:fontRef>
        </p:style>
      </p:cxnSp>
      <p:cxnSp>
        <p:nvCxnSpPr>
          <p:cNvPr id="30" name="str_fb2"/>
          <p:cNvCxnSpPr/>
          <p:nvPr/>
        </p:nvCxnSpPr>
        <p:spPr>
          <a:xfrm flipV="1">
            <a:off x="1810512" y="4846320"/>
            <a:ext cx="0" cy="658368"/>
          </a:xfrm>
          <a:prstGeom prst="line">
            <a:avLst/>
          </a:prstGeom>
          <a:ln w="22225">
            <a:solidFill>
              <a:srgbClr val="156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str_role"/>
          <p:cNvSpPr txBox="1"/>
          <p:nvPr/>
        </p:nvSpPr>
        <p:spPr>
          <a:xfrm>
            <a:off x="621792" y="5596128"/>
            <a:ext cx="2606040" cy="548640"/>
          </a:xfrm>
          <a:prstGeom prst="rect">
            <a:avLst/>
          </a:prstGeom>
          <a:noFill/>
        </p:spPr>
        <p:txBody>
          <a:bodyPr wrap="square" lIns="0" tIns="0" rIns="0" bIns="0" anchor="t">
            <a:noAutofit/>
          </a:bodyPr>
          <a:lstStyle/>
          <a:p>
            <a:pPr algn="l" eaLnBrk="0"/>
            <a:r>
              <a:rPr lang="ko-KR" sz="1200" dirty="0">
                <a:solidFill>
                  <a:srgbClr val="156A3A"/>
                </a:solidFill>
                <a:latin typeface="KoPub돋움체 Bold" panose="02020603020101020101" pitchFamily="18" charset="-127"/>
                <a:ea typeface="KoPub돋움체 Bold" panose="02020603020101020101" pitchFamily="18" charset="-127"/>
                <a:cs typeface="KoPub돋움체 Bold"/>
              </a:rPr>
              <a:t>역할 변화</a:t>
            </a:r>
          </a:p>
          <a:p>
            <a:pPr algn="l" eaLnBrk="0"/>
            <a:r>
              <a:rPr lang="ko-KR" sz="1200" dirty="0">
                <a:solidFill>
                  <a:srgbClr val="5E6672"/>
                </a:solidFill>
                <a:latin typeface="KoPub돋움체 Medium" panose="02020603020101020101" pitchFamily="18" charset="-127"/>
                <a:ea typeface="KoPub돋움체 Medium" panose="02020603020101020101" pitchFamily="18" charset="-127"/>
                <a:cs typeface="KoPub돋움체 Medium"/>
              </a:rPr>
              <a:t>개발 </a:t>
            </a:r>
            <a:r>
              <a:rPr lang="ko-KR" altLang="en-US" sz="1200" dirty="0">
                <a:solidFill>
                  <a:srgbClr val="5E6672"/>
                </a:solidFill>
                <a:latin typeface="KoPub돋움체 Medium" panose="02020603020101020101" pitchFamily="18" charset="-127"/>
                <a:ea typeface="KoPub돋움체 Medium" panose="02020603020101020101" pitchFamily="18" charset="-127"/>
                <a:cs typeface="KoPub돋움체 Medium"/>
              </a:rPr>
              <a:t>관점</a:t>
            </a:r>
            <a:r>
              <a:rPr lang="ko-KR" sz="1200" dirty="0">
                <a:solidFill>
                  <a:srgbClr val="5E6672"/>
                </a:solidFill>
                <a:latin typeface="KoPub돋움체 Medium" panose="02020603020101020101" pitchFamily="18" charset="-127"/>
                <a:ea typeface="KoPub돋움체 Medium" panose="02020603020101020101" pitchFamily="18" charset="-127"/>
                <a:cs typeface="KoPub돋움체 Medium"/>
              </a:rPr>
              <a:t> → 부서 </a:t>
            </a:r>
            <a:r>
              <a:rPr lang="ko-KR" altLang="en-US" sz="1200" dirty="0">
                <a:solidFill>
                  <a:srgbClr val="5E6672"/>
                </a:solidFill>
                <a:latin typeface="KoPub돋움체 Medium" panose="02020603020101020101" pitchFamily="18" charset="-127"/>
                <a:ea typeface="KoPub돋움체 Medium" panose="02020603020101020101" pitchFamily="18" charset="-127"/>
                <a:cs typeface="KoPub돋움체 Medium"/>
              </a:rPr>
              <a:t>문화 </a:t>
            </a:r>
            <a:r>
              <a:rPr lang="ko-KR" sz="1200" dirty="0">
                <a:solidFill>
                  <a:srgbClr val="5E6672"/>
                </a:solidFill>
                <a:latin typeface="KoPub돋움체 Medium" panose="02020603020101020101" pitchFamily="18" charset="-127"/>
                <a:ea typeface="KoPub돋움체 Medium" panose="02020603020101020101" pitchFamily="18" charset="-127"/>
                <a:cs typeface="KoPub돋움체 Medium"/>
              </a:rPr>
              <a:t>확산 + </a:t>
            </a:r>
            <a:r>
              <a:rPr lang="ko-KR" altLang="en-US" sz="1200" dirty="0">
                <a:solidFill>
                  <a:srgbClr val="5E6672"/>
                </a:solidFill>
                <a:latin typeface="KoPub돋움체 Medium" panose="02020603020101020101" pitchFamily="18" charset="-127"/>
                <a:ea typeface="KoPub돋움체 Medium" panose="02020603020101020101" pitchFamily="18" charset="-127"/>
                <a:cs typeface="KoPub돋움체 Medium"/>
              </a:rPr>
              <a:t>개발 </a:t>
            </a:r>
            <a:r>
              <a:rPr lang="ko-KR" sz="1200" dirty="0">
                <a:solidFill>
                  <a:srgbClr val="5E6672"/>
                </a:solidFill>
                <a:latin typeface="KoPub돋움체 Medium" panose="02020603020101020101" pitchFamily="18" charset="-127"/>
                <a:ea typeface="KoPub돋움체 Medium" panose="02020603020101020101" pitchFamily="18" charset="-127"/>
                <a:cs typeface="KoPub돋움체 Medium"/>
              </a:rPr>
              <a:t>TF</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eaLnBrk="0"/>
            <a:r>
              <a:rPr lang="ko-KR" sz="2600">
                <a:solidFill>
                  <a:srgbClr val="1F1F1F"/>
                </a:solidFill>
                <a:latin typeface="KoPub돋움체 Bold" panose="02020603020101020101" pitchFamily="18" charset="-127"/>
                <a:ea typeface="KoPub돋움체 Bold" panose="02020603020101020101" pitchFamily="18" charset="-127"/>
                <a:cs typeface="KoPub돋움체 Bold"/>
              </a:rPr>
              <a:t>4월 위촉부터 10월 성과보고회까지 이렇게 걸어왔습니다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eaLnBrk="0"/>
            <a:r>
              <a:rPr lang="ko-KR" sz="1300">
                <a:solidFill>
                  <a:srgbClr val="724598"/>
                </a:solidFill>
                <a:latin typeface="KoPub돋움체 Bold" panose="02020603020101020101" pitchFamily="18" charset="-127"/>
                <a:ea typeface="KoPub돋움체 Bold" panose="02020603020101020101" pitchFamily="18" charset="-127"/>
                <a:cs typeface="KoPub돋움체 Bold"/>
              </a:rPr>
              <a:t>경과 보고 · 추진 흐름</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eaLnBrk="0"/>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위촉 결과보고·6월 회의·9월 경과보고·각 결과보고 기준 · 10.6.은 오늘 행사</a:t>
            </a:r>
          </a:p>
        </p:txBody>
      </p:sp>
      <p:cxnSp>
        <p:nvCxnSpPr>
          <p:cNvPr id="5" name="line_5"/>
          <p:cNvCxnSpPr/>
          <p:nvPr/>
        </p:nvCxnSpPr>
        <p:spPr>
          <a:xfrm>
            <a:off x="621792" y="2011680"/>
            <a:ext cx="10945368" cy="0"/>
          </a:xfrm>
          <a:prstGeom prst="line">
            <a:avLst/>
          </a:prstGeom>
          <a:ln w="25400">
            <a:solidFill>
              <a:srgbClr val="D5DDE6"/>
            </a:solidFill>
          </a:ln>
        </p:spPr>
        <p:style>
          <a:lnRef idx="2">
            <a:schemeClr val="accent1"/>
          </a:lnRef>
          <a:fillRef idx="0">
            <a:schemeClr val="accent1"/>
          </a:fillRef>
          <a:effectRef idx="1">
            <a:schemeClr val="accent1"/>
          </a:effectRef>
          <a:fontRef idx="minor">
            <a:schemeClr val="tx1"/>
          </a:fontRef>
        </p:style>
      </p:cxnSp>
      <p:sp>
        <p:nvSpPr>
          <p:cNvPr id="6" name="rm_0_date"/>
          <p:cNvSpPr txBox="1"/>
          <p:nvPr/>
        </p:nvSpPr>
        <p:spPr>
          <a:xfrm>
            <a:off x="621792" y="1417320"/>
            <a:ext cx="1709928" cy="411480"/>
          </a:xfrm>
          <a:prstGeom prst="rect">
            <a:avLst/>
          </a:prstGeom>
          <a:noFill/>
        </p:spPr>
        <p:txBody>
          <a:bodyPr wrap="square" lIns="0" tIns="0" rIns="0" bIns="0" anchor="t">
            <a:noAutofit/>
          </a:bodyPr>
          <a:lstStyle/>
          <a:p>
            <a:pPr algn="l" eaLnBrk="0"/>
            <a:r>
              <a:rPr lang="ko-KR" sz="2000">
                <a:solidFill>
                  <a:srgbClr val="724598"/>
                </a:solidFill>
                <a:latin typeface="KoPub돋움체 Bold" panose="02020603020101020101" pitchFamily="18" charset="-127"/>
                <a:ea typeface="KoPub돋움체 Bold" panose="02020603020101020101" pitchFamily="18" charset="-127"/>
                <a:cs typeface="KoPub돋움체 Bold"/>
              </a:rPr>
              <a:t>4.9.</a:t>
            </a:r>
          </a:p>
        </p:txBody>
      </p:sp>
      <p:sp>
        <p:nvSpPr>
          <p:cNvPr id="7" name="rm_0_dot"/>
          <p:cNvSpPr/>
          <p:nvPr/>
        </p:nvSpPr>
        <p:spPr>
          <a:xfrm>
            <a:off x="621792" y="1938528"/>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8" name="rm_0_box"/>
          <p:cNvSpPr/>
          <p:nvPr/>
        </p:nvSpPr>
        <p:spPr>
          <a:xfrm>
            <a:off x="621792" y="2286000"/>
            <a:ext cx="1709928" cy="11887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9" name="rm_0_text"/>
          <p:cNvSpPr txBox="1"/>
          <p:nvPr/>
        </p:nvSpPr>
        <p:spPr>
          <a:xfrm>
            <a:off x="768096" y="2423160"/>
            <a:ext cx="1435608" cy="118872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위촉·첫 모임</a:t>
            </a:r>
          </a:p>
          <a:p>
            <a:pPr algn="l" eaLnBrk="0">
              <a:spcBef>
                <a:spcPts val="400"/>
              </a:spcBef>
            </a:pP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출범·워크숍</a:t>
            </a:r>
          </a:p>
        </p:txBody>
      </p:sp>
      <p:cxnSp>
        <p:nvCxnSpPr>
          <p:cNvPr id="10" name="line_6"/>
          <p:cNvCxnSpPr/>
          <p:nvPr/>
        </p:nvCxnSpPr>
        <p:spPr>
          <a:xfrm>
            <a:off x="2340864" y="2880360"/>
            <a:ext cx="118872" cy="0"/>
          </a:xfrm>
          <a:prstGeom prst="line">
            <a:avLst/>
          </a:prstGeom>
          <a:ln w="1905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m_1_date"/>
          <p:cNvSpPr txBox="1"/>
          <p:nvPr/>
        </p:nvSpPr>
        <p:spPr>
          <a:xfrm>
            <a:off x="2468880" y="1417320"/>
            <a:ext cx="1709928" cy="411480"/>
          </a:xfrm>
          <a:prstGeom prst="rect">
            <a:avLst/>
          </a:prstGeom>
          <a:noFill/>
        </p:spPr>
        <p:txBody>
          <a:bodyPr wrap="square" lIns="0" tIns="0" rIns="0" bIns="0" anchor="t">
            <a:noAutofit/>
          </a:bodyPr>
          <a:lstStyle/>
          <a:p>
            <a:pPr algn="l" eaLnBrk="0"/>
            <a:r>
              <a:rPr lang="ko-KR" sz="2000">
                <a:solidFill>
                  <a:srgbClr val="724598"/>
                </a:solidFill>
                <a:latin typeface="KoPub돋움체 Bold" panose="02020603020101020101" pitchFamily="18" charset="-127"/>
                <a:ea typeface="KoPub돋움체 Bold" panose="02020603020101020101" pitchFamily="18" charset="-127"/>
                <a:cs typeface="KoPub돋움체 Bold"/>
              </a:rPr>
              <a:t>5~6월</a:t>
            </a:r>
          </a:p>
        </p:txBody>
      </p:sp>
      <p:sp>
        <p:nvSpPr>
          <p:cNvPr id="12" name="rm_1_dot"/>
          <p:cNvSpPr/>
          <p:nvPr/>
        </p:nvSpPr>
        <p:spPr>
          <a:xfrm>
            <a:off x="2468880" y="1938528"/>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3" name="rm_1_box"/>
          <p:cNvSpPr/>
          <p:nvPr/>
        </p:nvSpPr>
        <p:spPr>
          <a:xfrm>
            <a:off x="2468880" y="2286000"/>
            <a:ext cx="1709928" cy="11887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4" name="rm_1_text"/>
          <p:cNvSpPr txBox="1"/>
          <p:nvPr/>
        </p:nvSpPr>
        <p:spPr>
          <a:xfrm>
            <a:off x="2615184" y="2423160"/>
            <a:ext cx="1435608" cy="118872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역할 재정립</a:t>
            </a:r>
          </a:p>
          <a:p>
            <a:pPr algn="l" eaLnBrk="0">
              <a:spcBef>
                <a:spcPts val="400"/>
              </a:spcBef>
            </a:pP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부서 확산 + TF</a:t>
            </a:r>
          </a:p>
        </p:txBody>
      </p:sp>
      <p:cxnSp>
        <p:nvCxnSpPr>
          <p:cNvPr id="15" name="line_7"/>
          <p:cNvCxnSpPr/>
          <p:nvPr/>
        </p:nvCxnSpPr>
        <p:spPr>
          <a:xfrm>
            <a:off x="4187952" y="2880360"/>
            <a:ext cx="118872" cy="0"/>
          </a:xfrm>
          <a:prstGeom prst="line">
            <a:avLst/>
          </a:prstGeom>
          <a:ln w="1905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m_2_date"/>
          <p:cNvSpPr txBox="1"/>
          <p:nvPr/>
        </p:nvSpPr>
        <p:spPr>
          <a:xfrm>
            <a:off x="4315968" y="1417320"/>
            <a:ext cx="1709928" cy="411480"/>
          </a:xfrm>
          <a:prstGeom prst="rect">
            <a:avLst/>
          </a:prstGeom>
          <a:noFill/>
        </p:spPr>
        <p:txBody>
          <a:bodyPr wrap="square" lIns="0" tIns="0" rIns="0" bIns="0" anchor="t">
            <a:noAutofit/>
          </a:bodyPr>
          <a:lstStyle/>
          <a:p>
            <a:pPr algn="l" eaLnBrk="0"/>
            <a:r>
              <a:rPr lang="ko-KR" sz="2000">
                <a:solidFill>
                  <a:srgbClr val="724598"/>
                </a:solidFill>
                <a:latin typeface="KoPub돋움체 Bold" panose="02020603020101020101" pitchFamily="18" charset="-127"/>
                <a:ea typeface="KoPub돋움체 Bold" panose="02020603020101020101" pitchFamily="18" charset="-127"/>
                <a:cs typeface="KoPub돋움체 Bold"/>
              </a:rPr>
              <a:t>6~7월</a:t>
            </a:r>
          </a:p>
        </p:txBody>
      </p:sp>
      <p:sp>
        <p:nvSpPr>
          <p:cNvPr id="17" name="rm_2_dot"/>
          <p:cNvSpPr/>
          <p:nvPr/>
        </p:nvSpPr>
        <p:spPr>
          <a:xfrm>
            <a:off x="4315968" y="1938528"/>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8" name="rm_2_box"/>
          <p:cNvSpPr/>
          <p:nvPr/>
        </p:nvSpPr>
        <p:spPr>
          <a:xfrm>
            <a:off x="4315968" y="2286000"/>
            <a:ext cx="1709928" cy="11887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9" name="rm_2_text"/>
          <p:cNvSpPr txBox="1"/>
          <p:nvPr/>
        </p:nvSpPr>
        <p:spPr>
          <a:xfrm>
            <a:off x="4462272" y="2423160"/>
            <a:ext cx="1435608" cy="118872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공통 기반 정비</a:t>
            </a:r>
          </a:p>
          <a:p>
            <a:pPr algn="l" eaLnBrk="0">
              <a:spcBef>
                <a:spcPts val="400"/>
              </a:spcBef>
            </a:pP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HWPX·직원 조사</a:t>
            </a:r>
          </a:p>
        </p:txBody>
      </p:sp>
      <p:cxnSp>
        <p:nvCxnSpPr>
          <p:cNvPr id="20" name="line_8"/>
          <p:cNvCxnSpPr/>
          <p:nvPr/>
        </p:nvCxnSpPr>
        <p:spPr>
          <a:xfrm>
            <a:off x="6035040" y="2880360"/>
            <a:ext cx="118872" cy="0"/>
          </a:xfrm>
          <a:prstGeom prst="line">
            <a:avLst/>
          </a:prstGeom>
          <a:ln w="1905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m_3_date"/>
          <p:cNvSpPr txBox="1"/>
          <p:nvPr/>
        </p:nvSpPr>
        <p:spPr>
          <a:xfrm>
            <a:off x="6163056" y="1417320"/>
            <a:ext cx="1709928" cy="411480"/>
          </a:xfrm>
          <a:prstGeom prst="rect">
            <a:avLst/>
          </a:prstGeom>
          <a:noFill/>
        </p:spPr>
        <p:txBody>
          <a:bodyPr wrap="square" lIns="0" tIns="0" rIns="0" bIns="0" anchor="t">
            <a:noAutofit/>
          </a:bodyPr>
          <a:lstStyle/>
          <a:p>
            <a:pPr algn="l" eaLnBrk="0"/>
            <a:r>
              <a:rPr lang="ko-KR" sz="2000">
                <a:solidFill>
                  <a:srgbClr val="724598"/>
                </a:solidFill>
                <a:latin typeface="KoPub돋움체 Bold" panose="02020603020101020101" pitchFamily="18" charset="-127"/>
                <a:ea typeface="KoPub돋움체 Bold" panose="02020603020101020101" pitchFamily="18" charset="-127"/>
                <a:cs typeface="KoPub돋움체 Bold"/>
              </a:rPr>
              <a:t>7~9월</a:t>
            </a:r>
          </a:p>
        </p:txBody>
      </p:sp>
      <p:sp>
        <p:nvSpPr>
          <p:cNvPr id="22" name="rm_3_dot"/>
          <p:cNvSpPr/>
          <p:nvPr/>
        </p:nvSpPr>
        <p:spPr>
          <a:xfrm>
            <a:off x="6163056" y="1938528"/>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3" name="rm_3_box"/>
          <p:cNvSpPr/>
          <p:nvPr/>
        </p:nvSpPr>
        <p:spPr>
          <a:xfrm>
            <a:off x="6163056" y="2286000"/>
            <a:ext cx="1709928" cy="11887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4" name="rm_3_text"/>
          <p:cNvSpPr txBox="1"/>
          <p:nvPr/>
        </p:nvSpPr>
        <p:spPr>
          <a:xfrm>
            <a:off x="6309360" y="2423160"/>
            <a:ext cx="1435608" cy="118872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부서 적용·협업</a:t>
            </a:r>
          </a:p>
          <a:p>
            <a:pPr algn="l" eaLnBrk="0">
              <a:spcBef>
                <a:spcPts val="400"/>
              </a:spcBef>
            </a:pP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실험·개발·공유</a:t>
            </a:r>
          </a:p>
        </p:txBody>
      </p:sp>
      <p:cxnSp>
        <p:nvCxnSpPr>
          <p:cNvPr id="25" name="line_9"/>
          <p:cNvCxnSpPr/>
          <p:nvPr/>
        </p:nvCxnSpPr>
        <p:spPr>
          <a:xfrm>
            <a:off x="7882127" y="2880360"/>
            <a:ext cx="118873" cy="0"/>
          </a:xfrm>
          <a:prstGeom prst="line">
            <a:avLst/>
          </a:prstGeom>
          <a:ln w="1905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m_4_date"/>
          <p:cNvSpPr txBox="1"/>
          <p:nvPr/>
        </p:nvSpPr>
        <p:spPr>
          <a:xfrm>
            <a:off x="8010144" y="1417320"/>
            <a:ext cx="1709928" cy="411480"/>
          </a:xfrm>
          <a:prstGeom prst="rect">
            <a:avLst/>
          </a:prstGeom>
          <a:noFill/>
        </p:spPr>
        <p:txBody>
          <a:bodyPr wrap="square" lIns="0" tIns="0" rIns="0" bIns="0" anchor="t">
            <a:noAutofit/>
          </a:bodyPr>
          <a:lstStyle/>
          <a:p>
            <a:pPr algn="l" eaLnBrk="0"/>
            <a:r>
              <a:rPr lang="ko-KR" sz="2000">
                <a:solidFill>
                  <a:srgbClr val="724598"/>
                </a:solidFill>
                <a:latin typeface="KoPub돋움체 Bold" panose="02020603020101020101" pitchFamily="18" charset="-127"/>
                <a:ea typeface="KoPub돋움체 Bold" panose="02020603020101020101" pitchFamily="18" charset="-127"/>
                <a:cs typeface="KoPub돋움체 Bold"/>
              </a:rPr>
              <a:t>9월</a:t>
            </a:r>
          </a:p>
        </p:txBody>
      </p:sp>
      <p:sp>
        <p:nvSpPr>
          <p:cNvPr id="27" name="rm_4_dot"/>
          <p:cNvSpPr/>
          <p:nvPr/>
        </p:nvSpPr>
        <p:spPr>
          <a:xfrm>
            <a:off x="8010144" y="1938528"/>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8" name="rm_4_box"/>
          <p:cNvSpPr/>
          <p:nvPr/>
        </p:nvSpPr>
        <p:spPr>
          <a:xfrm>
            <a:off x="8010144" y="2286000"/>
            <a:ext cx="1709928" cy="11887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9" name="rm_4_text"/>
          <p:cNvSpPr txBox="1"/>
          <p:nvPr/>
        </p:nvSpPr>
        <p:spPr>
          <a:xfrm>
            <a:off x="8156448" y="2423160"/>
            <a:ext cx="1435608" cy="118872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운영·검증</a:t>
            </a:r>
          </a:p>
          <a:p>
            <a:pPr algn="l" eaLnBrk="0">
              <a:spcBef>
                <a:spcPts val="400"/>
              </a:spcBef>
            </a:pP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수입행정 운영</a:t>
            </a:r>
          </a:p>
          <a:p>
            <a:pPr algn="l" eaLnBrk="0">
              <a:spcBef>
                <a:spcPts val="400"/>
              </a:spcBef>
            </a:pP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보고 시제품</a:t>
            </a:r>
          </a:p>
        </p:txBody>
      </p:sp>
      <p:cxnSp>
        <p:nvCxnSpPr>
          <p:cNvPr id="30" name="line_10"/>
          <p:cNvCxnSpPr/>
          <p:nvPr/>
        </p:nvCxnSpPr>
        <p:spPr>
          <a:xfrm>
            <a:off x="9729215" y="2880360"/>
            <a:ext cx="118873" cy="0"/>
          </a:xfrm>
          <a:prstGeom prst="line">
            <a:avLst/>
          </a:prstGeom>
          <a:ln w="1905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m_5_date"/>
          <p:cNvSpPr txBox="1"/>
          <p:nvPr/>
        </p:nvSpPr>
        <p:spPr>
          <a:xfrm>
            <a:off x="9857232" y="1417320"/>
            <a:ext cx="1709928" cy="411480"/>
          </a:xfrm>
          <a:prstGeom prst="rect">
            <a:avLst/>
          </a:prstGeom>
          <a:noFill/>
        </p:spPr>
        <p:txBody>
          <a:bodyPr wrap="square" lIns="0" tIns="0" rIns="0" bIns="0" anchor="t">
            <a:noAutofit/>
          </a:bodyPr>
          <a:lstStyle/>
          <a:p>
            <a:pPr algn="l" eaLnBrk="0"/>
            <a:r>
              <a:rPr lang="ko-KR" sz="2000">
                <a:solidFill>
                  <a:srgbClr val="724598"/>
                </a:solidFill>
                <a:latin typeface="KoPub돋움체 Bold" panose="02020603020101020101" pitchFamily="18" charset="-127"/>
                <a:ea typeface="KoPub돋움체 Bold" panose="02020603020101020101" pitchFamily="18" charset="-127"/>
                <a:cs typeface="KoPub돋움체 Bold"/>
              </a:rPr>
              <a:t>10.6.</a:t>
            </a:r>
          </a:p>
        </p:txBody>
      </p:sp>
      <p:sp>
        <p:nvSpPr>
          <p:cNvPr id="32" name="rm_5_dot"/>
          <p:cNvSpPr/>
          <p:nvPr/>
        </p:nvSpPr>
        <p:spPr>
          <a:xfrm>
            <a:off x="9857232" y="1938528"/>
            <a:ext cx="146304" cy="146304"/>
          </a:xfrm>
          <a:prstGeom prst="ellipse">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3" name="rm_5_box"/>
          <p:cNvSpPr/>
          <p:nvPr/>
        </p:nvSpPr>
        <p:spPr>
          <a:xfrm>
            <a:off x="9857232" y="2286000"/>
            <a:ext cx="1709928" cy="1188720"/>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4" name="rm_5_text"/>
          <p:cNvSpPr txBox="1"/>
          <p:nvPr/>
        </p:nvSpPr>
        <p:spPr>
          <a:xfrm>
            <a:off x="10003536" y="2423160"/>
            <a:ext cx="1435608" cy="1188720"/>
          </a:xfrm>
          <a:prstGeom prst="rect">
            <a:avLst/>
          </a:prstGeom>
          <a:noFill/>
        </p:spPr>
        <p:txBody>
          <a:bodyPr wrap="square" lIns="0" tIns="0" rIns="0" bIns="0" anchor="t">
            <a:noAutofit/>
          </a:bodyPr>
          <a:lstStyle/>
          <a:p>
            <a:pPr algn="l" eaLnBrk="0"/>
            <a:r>
              <a:rPr lang="ko-KR" sz="1700">
                <a:solidFill>
                  <a:srgbClr val="FFFFFF"/>
                </a:solidFill>
                <a:latin typeface="KoPub돋움체 Bold" panose="02020603020101020101" pitchFamily="18" charset="-127"/>
                <a:ea typeface="KoPub돋움체 Bold" panose="02020603020101020101" pitchFamily="18" charset="-127"/>
                <a:cs typeface="KoPub돋움체 Bold"/>
              </a:rPr>
              <a:t>성과보고회</a:t>
            </a:r>
          </a:p>
          <a:p>
            <a:pPr algn="l" eaLnBrk="0">
              <a:spcBef>
                <a:spcPts val="400"/>
              </a:spcBef>
            </a:pPr>
            <a:r>
              <a:rPr lang="ko-KR" sz="1300">
                <a:solidFill>
                  <a:srgbClr val="FFFFFF"/>
                </a:solidFill>
                <a:latin typeface="KoPub돋움체 Medium" panose="02020603020101020101" pitchFamily="18" charset="-127"/>
                <a:ea typeface="KoPub돋움체 Medium" panose="02020603020101020101" pitchFamily="18" charset="-127"/>
                <a:cs typeface="KoPub돋움체 Medium"/>
              </a:rPr>
              <a:t>전원 소개·표창</a:t>
            </a:r>
          </a:p>
          <a:p>
            <a:pPr algn="l" eaLnBrk="0">
              <a:spcBef>
                <a:spcPts val="400"/>
              </a:spcBef>
            </a:pPr>
            <a:r>
              <a:rPr lang="ko-KR" sz="1300">
                <a:solidFill>
                  <a:srgbClr val="FFFFFF"/>
                </a:solidFill>
                <a:latin typeface="KoPub돋움체 Medium" panose="02020603020101020101" pitchFamily="18" charset="-127"/>
                <a:ea typeface="KoPub돋움체 Medium" panose="02020603020101020101" pitchFamily="18" charset="-127"/>
                <a:cs typeface="KoPub돋움체 Medium"/>
              </a:rPr>
              <a:t>차년도 방향</a:t>
            </a:r>
          </a:p>
        </p:txBody>
      </p:sp>
      <p:sp>
        <p:nvSpPr>
          <p:cNvPr id="35" name="mt_label"/>
          <p:cNvSpPr txBox="1"/>
          <p:nvPr/>
        </p:nvSpPr>
        <p:spPr>
          <a:xfrm>
            <a:off x="621792" y="3703320"/>
            <a:ext cx="5486400" cy="320040"/>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정기모임 · TF 모임</a:t>
            </a:r>
          </a:p>
        </p:txBody>
      </p:sp>
      <p:sp>
        <p:nvSpPr>
          <p:cNvPr id="36" name="mt_box"/>
          <p:cNvSpPr/>
          <p:nvPr/>
        </p:nvSpPr>
        <p:spPr>
          <a:xfrm>
            <a:off x="621792" y="4069080"/>
            <a:ext cx="10945368" cy="164592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cxnSp>
        <p:nvCxnSpPr>
          <p:cNvPr id="37" name="line_11"/>
          <p:cNvCxnSpPr/>
          <p:nvPr/>
        </p:nvCxnSpPr>
        <p:spPr>
          <a:xfrm>
            <a:off x="850392" y="4681728"/>
            <a:ext cx="9063010" cy="0"/>
          </a:xfrm>
          <a:prstGeom prst="line">
            <a:avLst/>
          </a:prstGeom>
          <a:ln w="19050">
            <a:solidFill>
              <a:srgbClr val="724598"/>
            </a:solidFill>
          </a:ln>
        </p:spPr>
        <p:style>
          <a:lnRef idx="2">
            <a:schemeClr val="accent1"/>
          </a:lnRef>
          <a:fillRef idx="0">
            <a:schemeClr val="accent1"/>
          </a:fillRef>
          <a:effectRef idx="1">
            <a:schemeClr val="accent1"/>
          </a:effectRef>
          <a:fontRef idx="minor">
            <a:schemeClr val="tx1"/>
          </a:fontRef>
        </p:style>
      </p:cxnSp>
      <p:sp>
        <p:nvSpPr>
          <p:cNvPr id="38" name="mt_0_date"/>
          <p:cNvSpPr txBox="1"/>
          <p:nvPr/>
        </p:nvSpPr>
        <p:spPr>
          <a:xfrm>
            <a:off x="850392" y="4224528"/>
            <a:ext cx="1406869" cy="32004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4.9.</a:t>
            </a:r>
          </a:p>
        </p:txBody>
      </p:sp>
      <p:sp>
        <p:nvSpPr>
          <p:cNvPr id="39" name="mt_0_dot"/>
          <p:cNvSpPr/>
          <p:nvPr/>
        </p:nvSpPr>
        <p:spPr>
          <a:xfrm>
            <a:off x="850392" y="4608576"/>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0" name="mt_0_text"/>
          <p:cNvSpPr txBox="1"/>
          <p:nvPr/>
        </p:nvSpPr>
        <p:spPr>
          <a:xfrm>
            <a:off x="850392" y="4892040"/>
            <a:ext cx="1406869" cy="731520"/>
          </a:xfrm>
          <a:prstGeom prst="rect">
            <a:avLst/>
          </a:prstGeom>
          <a:noFill/>
        </p:spPr>
        <p:txBody>
          <a:bodyPr wrap="square" lIns="0" tIns="0" rIns="0" bIns="0" anchor="t">
            <a:noAutofit/>
          </a:bodyPr>
          <a:lstStyle/>
          <a:p>
            <a:pPr algn="l" eaLnBrk="0"/>
            <a:r>
              <a:rPr lang="ko-KR" sz="1400">
                <a:solidFill>
                  <a:srgbClr val="1F1F1F"/>
                </a:solidFill>
                <a:latin typeface="KoPub돋움체 Bold" panose="02020603020101020101" pitchFamily="18" charset="-127"/>
                <a:ea typeface="KoPub돋움체 Bold" panose="02020603020101020101" pitchFamily="18" charset="-127"/>
                <a:cs typeface="KoPub돋움체 Bold"/>
              </a:rPr>
              <a:t>1차 킥오프</a:t>
            </a:r>
          </a:p>
          <a:p>
            <a:pPr algn="l" eaLnBrk="0">
              <a:spcBef>
                <a:spcPts val="200"/>
              </a:spcBef>
            </a:pPr>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위촉식·특강</a:t>
            </a:r>
          </a:p>
        </p:txBody>
      </p:sp>
      <p:sp>
        <p:nvSpPr>
          <p:cNvPr id="41" name="mt_1_date"/>
          <p:cNvSpPr txBox="1"/>
          <p:nvPr/>
        </p:nvSpPr>
        <p:spPr>
          <a:xfrm>
            <a:off x="2348701" y="4224528"/>
            <a:ext cx="1406869" cy="32004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5.12.</a:t>
            </a:r>
          </a:p>
        </p:txBody>
      </p:sp>
      <p:sp>
        <p:nvSpPr>
          <p:cNvPr id="42" name="mt_1_dot"/>
          <p:cNvSpPr/>
          <p:nvPr/>
        </p:nvSpPr>
        <p:spPr>
          <a:xfrm>
            <a:off x="2348701" y="4608576"/>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3" name="mt_1_text"/>
          <p:cNvSpPr txBox="1"/>
          <p:nvPr/>
        </p:nvSpPr>
        <p:spPr>
          <a:xfrm>
            <a:off x="2348701" y="4892040"/>
            <a:ext cx="1406869" cy="731520"/>
          </a:xfrm>
          <a:prstGeom prst="rect">
            <a:avLst/>
          </a:prstGeom>
          <a:noFill/>
        </p:spPr>
        <p:txBody>
          <a:bodyPr wrap="square" lIns="0" tIns="0" rIns="0" bIns="0" anchor="t">
            <a:noAutofit/>
          </a:bodyPr>
          <a:lstStyle/>
          <a:p>
            <a:pPr algn="l" eaLnBrk="0"/>
            <a:r>
              <a:rPr lang="ko-KR" sz="1400">
                <a:solidFill>
                  <a:srgbClr val="1F1F1F"/>
                </a:solidFill>
                <a:latin typeface="KoPub돋움체 Bold" panose="02020603020101020101" pitchFamily="18" charset="-127"/>
                <a:ea typeface="KoPub돋움체 Bold" panose="02020603020101020101" pitchFamily="18" charset="-127"/>
                <a:cs typeface="KoPub돋움체 Bold"/>
              </a:rPr>
              <a:t>2차 모임</a:t>
            </a:r>
          </a:p>
          <a:p>
            <a:pPr algn="l" eaLnBrk="0">
              <a:spcBef>
                <a:spcPts val="200"/>
              </a:spcBef>
            </a:pPr>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역할 재정립</a:t>
            </a:r>
          </a:p>
        </p:txBody>
      </p:sp>
      <p:sp>
        <p:nvSpPr>
          <p:cNvPr id="44" name="mt_2_date"/>
          <p:cNvSpPr txBox="1"/>
          <p:nvPr/>
        </p:nvSpPr>
        <p:spPr>
          <a:xfrm>
            <a:off x="3847011" y="4224528"/>
            <a:ext cx="1406869" cy="32004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6.9.</a:t>
            </a:r>
          </a:p>
        </p:txBody>
      </p:sp>
      <p:sp>
        <p:nvSpPr>
          <p:cNvPr id="45" name="mt_2_dot"/>
          <p:cNvSpPr/>
          <p:nvPr/>
        </p:nvSpPr>
        <p:spPr>
          <a:xfrm>
            <a:off x="3847011" y="4608576"/>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6" name="mt_2_text"/>
          <p:cNvSpPr txBox="1"/>
          <p:nvPr/>
        </p:nvSpPr>
        <p:spPr>
          <a:xfrm>
            <a:off x="3847011" y="4892040"/>
            <a:ext cx="1406869" cy="731520"/>
          </a:xfrm>
          <a:prstGeom prst="rect">
            <a:avLst/>
          </a:prstGeom>
          <a:noFill/>
        </p:spPr>
        <p:txBody>
          <a:bodyPr wrap="square" lIns="0" tIns="0" rIns="0" bIns="0" anchor="t">
            <a:noAutofit/>
          </a:bodyPr>
          <a:lstStyle/>
          <a:p>
            <a:pPr algn="l" eaLnBrk="0"/>
            <a:r>
              <a:rPr lang="ko-KR" sz="1400">
                <a:solidFill>
                  <a:srgbClr val="1F1F1F"/>
                </a:solidFill>
                <a:latin typeface="KoPub돋움체 Bold" panose="02020603020101020101" pitchFamily="18" charset="-127"/>
                <a:ea typeface="KoPub돋움체 Bold" panose="02020603020101020101" pitchFamily="18" charset="-127"/>
                <a:cs typeface="KoPub돋움체 Bold"/>
              </a:rPr>
              <a:t>3차 모임</a:t>
            </a:r>
          </a:p>
          <a:p>
            <a:pPr algn="l" eaLnBrk="0">
              <a:spcBef>
                <a:spcPts val="200"/>
              </a:spcBef>
            </a:pPr>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지침안·튜토리얼팀</a:t>
            </a:r>
          </a:p>
        </p:txBody>
      </p:sp>
      <p:sp>
        <p:nvSpPr>
          <p:cNvPr id="47" name="mt_3_date"/>
          <p:cNvSpPr txBox="1"/>
          <p:nvPr/>
        </p:nvSpPr>
        <p:spPr>
          <a:xfrm>
            <a:off x="5345321" y="4224528"/>
            <a:ext cx="1406869" cy="32004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6.25.</a:t>
            </a:r>
          </a:p>
        </p:txBody>
      </p:sp>
      <p:sp>
        <p:nvSpPr>
          <p:cNvPr id="48" name="mt_3_dot"/>
          <p:cNvSpPr/>
          <p:nvPr/>
        </p:nvSpPr>
        <p:spPr>
          <a:xfrm>
            <a:off x="5345321" y="4608576"/>
            <a:ext cx="146304" cy="146304"/>
          </a:xfrm>
          <a:prstGeom prst="ellipse">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9" name="mt_3_text"/>
          <p:cNvSpPr txBox="1"/>
          <p:nvPr/>
        </p:nvSpPr>
        <p:spPr>
          <a:xfrm>
            <a:off x="5345321" y="4892040"/>
            <a:ext cx="1406869" cy="731520"/>
          </a:xfrm>
          <a:prstGeom prst="rect">
            <a:avLst/>
          </a:prstGeom>
          <a:noFill/>
        </p:spPr>
        <p:txBody>
          <a:bodyPr wrap="square" lIns="0" tIns="0" rIns="0" bIns="0" anchor="t">
            <a:noAutofit/>
          </a:bodyPr>
          <a:lstStyle/>
          <a:p>
            <a:pPr algn="l" eaLnBrk="0"/>
            <a:r>
              <a:rPr lang="ko-KR" sz="1400">
                <a:solidFill>
                  <a:srgbClr val="1F1F1F"/>
                </a:solidFill>
                <a:latin typeface="KoPub돋움체 Bold" panose="02020603020101020101" pitchFamily="18" charset="-127"/>
                <a:ea typeface="KoPub돋움체 Bold" panose="02020603020101020101" pitchFamily="18" charset="-127"/>
                <a:cs typeface="KoPub돋움체 Bold"/>
              </a:rPr>
              <a:t>TF 1차</a:t>
            </a:r>
          </a:p>
          <a:p>
            <a:pPr algn="l" eaLnBrk="0">
              <a:spcBef>
                <a:spcPts val="200"/>
              </a:spcBef>
            </a:pPr>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도구 우선순위</a:t>
            </a:r>
          </a:p>
        </p:txBody>
      </p:sp>
      <p:sp>
        <p:nvSpPr>
          <p:cNvPr id="50" name="mt_4_date"/>
          <p:cNvSpPr txBox="1"/>
          <p:nvPr/>
        </p:nvSpPr>
        <p:spPr>
          <a:xfrm>
            <a:off x="6843630" y="4224528"/>
            <a:ext cx="1406869" cy="32004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7.7.</a:t>
            </a:r>
          </a:p>
        </p:txBody>
      </p:sp>
      <p:sp>
        <p:nvSpPr>
          <p:cNvPr id="51" name="mt_4_dot"/>
          <p:cNvSpPr/>
          <p:nvPr/>
        </p:nvSpPr>
        <p:spPr>
          <a:xfrm>
            <a:off x="6843630" y="4608576"/>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52" name="mt_4_text"/>
          <p:cNvSpPr txBox="1"/>
          <p:nvPr/>
        </p:nvSpPr>
        <p:spPr>
          <a:xfrm>
            <a:off x="6843630" y="4892040"/>
            <a:ext cx="1406869" cy="731520"/>
          </a:xfrm>
          <a:prstGeom prst="rect">
            <a:avLst/>
          </a:prstGeom>
          <a:noFill/>
        </p:spPr>
        <p:txBody>
          <a:bodyPr wrap="square" lIns="0" tIns="0" rIns="0" bIns="0" anchor="t">
            <a:noAutofit/>
          </a:bodyPr>
          <a:lstStyle/>
          <a:p>
            <a:pPr algn="l" eaLnBrk="0"/>
            <a:r>
              <a:rPr lang="ko-KR" sz="1400">
                <a:solidFill>
                  <a:srgbClr val="1F1F1F"/>
                </a:solidFill>
                <a:latin typeface="KoPub돋움체 Bold" panose="02020603020101020101" pitchFamily="18" charset="-127"/>
                <a:ea typeface="KoPub돋움체 Bold" panose="02020603020101020101" pitchFamily="18" charset="-127"/>
                <a:cs typeface="KoPub돋움체 Bold"/>
              </a:rPr>
              <a:t>4차 모임</a:t>
            </a:r>
          </a:p>
          <a:p>
            <a:pPr algn="l" eaLnBrk="0">
              <a:spcBef>
                <a:spcPts val="200"/>
              </a:spcBef>
            </a:pPr>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설문 결과 공유</a:t>
            </a:r>
          </a:p>
        </p:txBody>
      </p:sp>
      <p:sp>
        <p:nvSpPr>
          <p:cNvPr id="53" name="mt_5_date"/>
          <p:cNvSpPr txBox="1"/>
          <p:nvPr/>
        </p:nvSpPr>
        <p:spPr>
          <a:xfrm>
            <a:off x="8341940" y="4224528"/>
            <a:ext cx="1406869" cy="32004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8.11.</a:t>
            </a:r>
          </a:p>
        </p:txBody>
      </p:sp>
      <p:sp>
        <p:nvSpPr>
          <p:cNvPr id="54" name="mt_5_dot"/>
          <p:cNvSpPr/>
          <p:nvPr/>
        </p:nvSpPr>
        <p:spPr>
          <a:xfrm>
            <a:off x="8341940" y="4608576"/>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55" name="mt_5_text"/>
          <p:cNvSpPr txBox="1"/>
          <p:nvPr/>
        </p:nvSpPr>
        <p:spPr>
          <a:xfrm>
            <a:off x="8341940" y="4892040"/>
            <a:ext cx="1406869" cy="731520"/>
          </a:xfrm>
          <a:prstGeom prst="rect">
            <a:avLst/>
          </a:prstGeom>
          <a:noFill/>
        </p:spPr>
        <p:txBody>
          <a:bodyPr wrap="square" lIns="0" tIns="0" rIns="0" bIns="0" anchor="t">
            <a:noAutofit/>
          </a:bodyPr>
          <a:lstStyle/>
          <a:p>
            <a:pPr algn="l" eaLnBrk="0"/>
            <a:r>
              <a:rPr lang="ko-KR" sz="1400">
                <a:solidFill>
                  <a:srgbClr val="1F1F1F"/>
                </a:solidFill>
                <a:latin typeface="KoPub돋움체 Bold" panose="02020603020101020101" pitchFamily="18" charset="-127"/>
                <a:ea typeface="KoPub돋움체 Bold" panose="02020603020101020101" pitchFamily="18" charset="-127"/>
                <a:cs typeface="KoPub돋움체 Bold"/>
              </a:rPr>
              <a:t>5차 모임</a:t>
            </a:r>
          </a:p>
          <a:p>
            <a:pPr algn="l" eaLnBrk="0">
              <a:spcBef>
                <a:spcPts val="200"/>
              </a:spcBef>
            </a:pPr>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상반기 결산</a:t>
            </a:r>
          </a:p>
        </p:txBody>
      </p:sp>
      <p:sp>
        <p:nvSpPr>
          <p:cNvPr id="56" name="mt_6_date"/>
          <p:cNvSpPr txBox="1"/>
          <p:nvPr/>
        </p:nvSpPr>
        <p:spPr>
          <a:xfrm>
            <a:off x="9840250" y="4224528"/>
            <a:ext cx="1406869" cy="32004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9.8.</a:t>
            </a:r>
          </a:p>
        </p:txBody>
      </p:sp>
      <p:sp>
        <p:nvSpPr>
          <p:cNvPr id="57" name="mt_6_dot"/>
          <p:cNvSpPr/>
          <p:nvPr/>
        </p:nvSpPr>
        <p:spPr>
          <a:xfrm>
            <a:off x="9840250" y="4608576"/>
            <a:ext cx="146304" cy="146304"/>
          </a:xfrm>
          <a:prstGeom prst="ellipse">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58" name="mt_6_text"/>
          <p:cNvSpPr txBox="1"/>
          <p:nvPr/>
        </p:nvSpPr>
        <p:spPr>
          <a:xfrm>
            <a:off x="9840250" y="4892040"/>
            <a:ext cx="1406869" cy="731520"/>
          </a:xfrm>
          <a:prstGeom prst="rect">
            <a:avLst/>
          </a:prstGeom>
          <a:noFill/>
        </p:spPr>
        <p:txBody>
          <a:bodyPr wrap="square" lIns="0" tIns="0" rIns="0" bIns="0" anchor="t">
            <a:noAutofit/>
          </a:bodyPr>
          <a:lstStyle/>
          <a:p>
            <a:pPr algn="l" eaLnBrk="0"/>
            <a:r>
              <a:rPr lang="ko-KR" sz="1400">
                <a:solidFill>
                  <a:srgbClr val="1F1F1F"/>
                </a:solidFill>
                <a:latin typeface="KoPub돋움체 Bold" panose="02020603020101020101" pitchFamily="18" charset="-127"/>
                <a:ea typeface="KoPub돋움체 Bold" panose="02020603020101020101" pitchFamily="18" charset="-127"/>
                <a:cs typeface="KoPub돋움체 Bold"/>
              </a:rPr>
              <a:t>6차 모임</a:t>
            </a:r>
          </a:p>
          <a:p>
            <a:pPr algn="l" eaLnBrk="0">
              <a:spcBef>
                <a:spcPts val="200"/>
              </a:spcBef>
            </a:pPr>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경과보고 공유</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eaLnBrk="0"/>
            <a:r>
              <a:rPr lang="ko-KR" sz="2600">
                <a:solidFill>
                  <a:srgbClr val="1F1F1F"/>
                </a:solidFill>
                <a:latin typeface="KoPub돋움체 Bold" panose="02020603020101020101" pitchFamily="18" charset="-127"/>
                <a:ea typeface="KoPub돋움체 Bold" panose="02020603020101020101" pitchFamily="18" charset="-127"/>
                <a:cs typeface="KoPub돋움체 Bold"/>
              </a:rPr>
              <a:t>5월부터 9월까지, 매달 기반과 도구가 더해졌습니다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eaLnBrk="0"/>
            <a:r>
              <a:rPr lang="ko-KR" sz="1300">
                <a:solidFill>
                  <a:srgbClr val="724598"/>
                </a:solidFill>
                <a:latin typeface="KoPub돋움체 Bold" panose="02020603020101020101" pitchFamily="18" charset="-127"/>
                <a:ea typeface="KoPub돋움체 Bold" panose="02020603020101020101" pitchFamily="18" charset="-127"/>
                <a:cs typeface="KoPub돋움체 Bold"/>
              </a:rPr>
              <a:t>경과 보고 · 주요 이정표</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eaLnBrk="0"/>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회의록·HWPX 전환 기록·각 결과보고·부서 제출 사례 기준 · 산울림 워크숍 인원은 대상 기준</a:t>
            </a:r>
          </a:p>
        </p:txBody>
      </p:sp>
      <p:sp>
        <p:nvSpPr>
          <p:cNvPr id="5" name="mi_0_month"/>
          <p:cNvSpPr txBox="1"/>
          <p:nvPr/>
        </p:nvSpPr>
        <p:spPr>
          <a:xfrm>
            <a:off x="621792" y="1371600"/>
            <a:ext cx="2042769" cy="384048"/>
          </a:xfrm>
          <a:prstGeom prst="rect">
            <a:avLst/>
          </a:prstGeom>
          <a:noFill/>
        </p:spPr>
        <p:txBody>
          <a:bodyPr wrap="square" lIns="0" tIns="0" rIns="0" bIns="0" anchor="t">
            <a:noAutofit/>
          </a:bodyPr>
          <a:lstStyle/>
          <a:p>
            <a:pPr algn="l" eaLnBrk="0"/>
            <a:r>
              <a:rPr lang="ko-KR" sz="2200">
                <a:solidFill>
                  <a:srgbClr val="724598"/>
                </a:solidFill>
                <a:latin typeface="KoPub돋움체 Bold" panose="02020603020101020101" pitchFamily="18" charset="-127"/>
                <a:ea typeface="KoPub돋움체 Bold" panose="02020603020101020101" pitchFamily="18" charset="-127"/>
                <a:cs typeface="KoPub돋움체 Bold"/>
              </a:rPr>
              <a:t>5월</a:t>
            </a:r>
          </a:p>
        </p:txBody>
      </p:sp>
      <p:cxnSp>
        <p:nvCxnSpPr>
          <p:cNvPr id="6" name="line_12"/>
          <p:cNvCxnSpPr/>
          <p:nvPr/>
        </p:nvCxnSpPr>
        <p:spPr>
          <a:xfrm>
            <a:off x="621792" y="1810512"/>
            <a:ext cx="2042769"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7" name="mi_0_0_bar"/>
          <p:cNvSpPr/>
          <p:nvPr/>
        </p:nvSpPr>
        <p:spPr>
          <a:xfrm>
            <a:off x="621792" y="1993391"/>
            <a:ext cx="54864" cy="676656"/>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8" name="mi_0_0"/>
          <p:cNvSpPr txBox="1"/>
          <p:nvPr/>
        </p:nvSpPr>
        <p:spPr>
          <a:xfrm>
            <a:off x="768096" y="1965960"/>
            <a:ext cx="1859889" cy="731520"/>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5.12.</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HWPX 전환 결정</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챌린저 역할 재정립</a:t>
            </a:r>
          </a:p>
        </p:txBody>
      </p:sp>
      <p:sp>
        <p:nvSpPr>
          <p:cNvPr id="9" name="mi_0_1_bar"/>
          <p:cNvSpPr/>
          <p:nvPr/>
        </p:nvSpPr>
        <p:spPr>
          <a:xfrm>
            <a:off x="621792" y="2852927"/>
            <a:ext cx="54864" cy="448056"/>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0" name="mi_0_1"/>
          <p:cNvSpPr txBox="1"/>
          <p:nvPr/>
        </p:nvSpPr>
        <p:spPr>
          <a:xfrm>
            <a:off x="768096" y="2825496"/>
            <a:ext cx="1859889" cy="502920"/>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5.25.</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HWPX 안내·패치 시작</a:t>
            </a:r>
          </a:p>
        </p:txBody>
      </p:sp>
      <p:sp>
        <p:nvSpPr>
          <p:cNvPr id="11" name="mi_1_month"/>
          <p:cNvSpPr txBox="1"/>
          <p:nvPr/>
        </p:nvSpPr>
        <p:spPr>
          <a:xfrm>
            <a:off x="2847441" y="1371600"/>
            <a:ext cx="2042769" cy="384048"/>
          </a:xfrm>
          <a:prstGeom prst="rect">
            <a:avLst/>
          </a:prstGeom>
          <a:noFill/>
        </p:spPr>
        <p:txBody>
          <a:bodyPr wrap="square" lIns="0" tIns="0" rIns="0" bIns="0" anchor="t">
            <a:noAutofit/>
          </a:bodyPr>
          <a:lstStyle/>
          <a:p>
            <a:pPr algn="l" eaLnBrk="0"/>
            <a:r>
              <a:rPr lang="ko-KR" sz="2200">
                <a:solidFill>
                  <a:srgbClr val="724598"/>
                </a:solidFill>
                <a:latin typeface="KoPub돋움체 Bold" panose="02020603020101020101" pitchFamily="18" charset="-127"/>
                <a:ea typeface="KoPub돋움체 Bold" panose="02020603020101020101" pitchFamily="18" charset="-127"/>
                <a:cs typeface="KoPub돋움체 Bold"/>
              </a:rPr>
              <a:t>6월</a:t>
            </a:r>
          </a:p>
        </p:txBody>
      </p:sp>
      <p:cxnSp>
        <p:nvCxnSpPr>
          <p:cNvPr id="12" name="line_13"/>
          <p:cNvCxnSpPr/>
          <p:nvPr/>
        </p:nvCxnSpPr>
        <p:spPr>
          <a:xfrm>
            <a:off x="2847441" y="1810512"/>
            <a:ext cx="2042770"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13" name="mi_1_0_bar"/>
          <p:cNvSpPr/>
          <p:nvPr/>
        </p:nvSpPr>
        <p:spPr>
          <a:xfrm>
            <a:off x="2847441" y="1993391"/>
            <a:ext cx="54864" cy="676656"/>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4" name="mi_1_0"/>
          <p:cNvSpPr txBox="1"/>
          <p:nvPr/>
        </p:nvSpPr>
        <p:spPr>
          <a:xfrm>
            <a:off x="2993745" y="1965960"/>
            <a:ext cx="1859889" cy="731520"/>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6.8.</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HWPX 전면 적용</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PC 124대</a:t>
            </a:r>
          </a:p>
        </p:txBody>
      </p:sp>
      <p:sp>
        <p:nvSpPr>
          <p:cNvPr id="15" name="mi_1_1_bar"/>
          <p:cNvSpPr/>
          <p:nvPr/>
        </p:nvSpPr>
        <p:spPr>
          <a:xfrm>
            <a:off x="2847441" y="2852927"/>
            <a:ext cx="54864" cy="676656"/>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6" name="mi_1_1"/>
          <p:cNvSpPr txBox="1"/>
          <p:nvPr/>
        </p:nvSpPr>
        <p:spPr>
          <a:xfrm>
            <a:off x="2993745" y="2825496"/>
            <a:ext cx="1859889" cy="731520"/>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6.10.~30.</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전 직원 AI 설문</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113명 응답</a:t>
            </a:r>
          </a:p>
        </p:txBody>
      </p:sp>
      <p:sp>
        <p:nvSpPr>
          <p:cNvPr id="17" name="mi_1_2_bar"/>
          <p:cNvSpPr/>
          <p:nvPr/>
        </p:nvSpPr>
        <p:spPr>
          <a:xfrm>
            <a:off x="2847441" y="3712464"/>
            <a:ext cx="54864" cy="676656"/>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8" name="mi_1_2"/>
          <p:cNvSpPr txBox="1"/>
          <p:nvPr/>
        </p:nvSpPr>
        <p:spPr>
          <a:xfrm>
            <a:off x="2993745" y="3685032"/>
            <a:ext cx="1859889" cy="731520"/>
          </a:xfrm>
          <a:prstGeom prst="rect">
            <a:avLst/>
          </a:prstGeom>
          <a:noFill/>
        </p:spPr>
        <p:txBody>
          <a:bodyPr wrap="square" lIns="0" tIns="0" rIns="0" bIns="0" anchor="t">
            <a:noAutofit/>
          </a:bodyPr>
          <a:lstStyle/>
          <a:p>
            <a:pPr algn="l" eaLnBrk="0"/>
            <a:r>
              <a:rPr lang="ko-KR" sz="1400">
                <a:solidFill>
                  <a:srgbClr val="156A3A"/>
                </a:solidFill>
                <a:latin typeface="KoPub돋움체 Bold" panose="02020603020101020101" pitchFamily="18" charset="-127"/>
                <a:ea typeface="KoPub돋움체 Bold" panose="02020603020101020101" pitchFamily="18" charset="-127"/>
                <a:cs typeface="KoPub돋움체 Bold"/>
              </a:rPr>
              <a:t>6.17.</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소사 AI 활용 워크숍</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13명 참석</a:t>
            </a:r>
          </a:p>
        </p:txBody>
      </p:sp>
      <p:sp>
        <p:nvSpPr>
          <p:cNvPr id="19" name="mi_1_3_bar"/>
          <p:cNvSpPr/>
          <p:nvPr/>
        </p:nvSpPr>
        <p:spPr>
          <a:xfrm>
            <a:off x="2847441" y="4572000"/>
            <a:ext cx="54864" cy="676656"/>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0" name="mi_1_3"/>
          <p:cNvSpPr txBox="1"/>
          <p:nvPr/>
        </p:nvSpPr>
        <p:spPr>
          <a:xfrm>
            <a:off x="2993745" y="4544568"/>
            <a:ext cx="1859889" cy="731520"/>
          </a:xfrm>
          <a:prstGeom prst="rect">
            <a:avLst/>
          </a:prstGeom>
          <a:noFill/>
        </p:spPr>
        <p:txBody>
          <a:bodyPr wrap="square" lIns="0" tIns="0" rIns="0" bIns="0" anchor="t">
            <a:noAutofit/>
          </a:bodyPr>
          <a:lstStyle/>
          <a:p>
            <a:pPr algn="l" eaLnBrk="0"/>
            <a:r>
              <a:rPr lang="ko-KR" sz="1400">
                <a:solidFill>
                  <a:srgbClr val="C97A00"/>
                </a:solidFill>
                <a:latin typeface="KoPub돋움체 Bold" panose="02020603020101020101" pitchFamily="18" charset="-127"/>
                <a:ea typeface="KoPub돋움체 Bold" panose="02020603020101020101" pitchFamily="18" charset="-127"/>
                <a:cs typeface="KoPub돋움체 Bold"/>
              </a:rPr>
              <a:t>6.25.</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TF 1차 모임</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도구 우선순위 확정</a:t>
            </a:r>
          </a:p>
        </p:txBody>
      </p:sp>
      <p:sp>
        <p:nvSpPr>
          <p:cNvPr id="21" name="mi_2_month"/>
          <p:cNvSpPr txBox="1"/>
          <p:nvPr/>
        </p:nvSpPr>
        <p:spPr>
          <a:xfrm>
            <a:off x="5073091" y="1371600"/>
            <a:ext cx="2042769" cy="384048"/>
          </a:xfrm>
          <a:prstGeom prst="rect">
            <a:avLst/>
          </a:prstGeom>
          <a:noFill/>
        </p:spPr>
        <p:txBody>
          <a:bodyPr wrap="square" lIns="0" tIns="0" rIns="0" bIns="0" anchor="t">
            <a:noAutofit/>
          </a:bodyPr>
          <a:lstStyle/>
          <a:p>
            <a:pPr algn="l" eaLnBrk="0"/>
            <a:r>
              <a:rPr lang="ko-KR" sz="2200">
                <a:solidFill>
                  <a:srgbClr val="724598"/>
                </a:solidFill>
                <a:latin typeface="KoPub돋움체 Bold" panose="02020603020101020101" pitchFamily="18" charset="-127"/>
                <a:ea typeface="KoPub돋움체 Bold" panose="02020603020101020101" pitchFamily="18" charset="-127"/>
                <a:cs typeface="KoPub돋움체 Bold"/>
              </a:rPr>
              <a:t>7월</a:t>
            </a:r>
          </a:p>
        </p:txBody>
      </p:sp>
      <p:cxnSp>
        <p:nvCxnSpPr>
          <p:cNvPr id="22" name="line_14"/>
          <p:cNvCxnSpPr/>
          <p:nvPr/>
        </p:nvCxnSpPr>
        <p:spPr>
          <a:xfrm>
            <a:off x="5073091" y="1810512"/>
            <a:ext cx="2042769"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23" name="mi_2_0_bar"/>
          <p:cNvSpPr/>
          <p:nvPr/>
        </p:nvSpPr>
        <p:spPr>
          <a:xfrm>
            <a:off x="5073091" y="1993391"/>
            <a:ext cx="54864" cy="676656"/>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4" name="mi_2_0"/>
          <p:cNvSpPr txBox="1"/>
          <p:nvPr/>
        </p:nvSpPr>
        <p:spPr>
          <a:xfrm>
            <a:off x="5219395" y="1965960"/>
            <a:ext cx="1859889" cy="731520"/>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7.7.</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설문 결과 공유</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결과분석 보고</a:t>
            </a:r>
          </a:p>
        </p:txBody>
      </p:sp>
      <p:sp>
        <p:nvSpPr>
          <p:cNvPr id="25" name="mi_2_1_bar"/>
          <p:cNvSpPr/>
          <p:nvPr/>
        </p:nvSpPr>
        <p:spPr>
          <a:xfrm>
            <a:off x="5073091" y="2852927"/>
            <a:ext cx="54864" cy="676656"/>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6" name="mi_2_1"/>
          <p:cNvSpPr txBox="1"/>
          <p:nvPr/>
        </p:nvSpPr>
        <p:spPr>
          <a:xfrm>
            <a:off x="5219395" y="2825496"/>
            <a:ext cx="1859889" cy="731520"/>
          </a:xfrm>
          <a:prstGeom prst="rect">
            <a:avLst/>
          </a:prstGeom>
          <a:noFill/>
        </p:spPr>
        <p:txBody>
          <a:bodyPr wrap="square" lIns="0" tIns="0" rIns="0" bIns="0" anchor="t">
            <a:noAutofit/>
          </a:bodyPr>
          <a:lstStyle/>
          <a:p>
            <a:pPr algn="l" eaLnBrk="0"/>
            <a:r>
              <a:rPr lang="ko-KR" sz="1400">
                <a:solidFill>
                  <a:srgbClr val="C97A00"/>
                </a:solidFill>
                <a:latin typeface="KoPub돋움체 Bold" panose="02020603020101020101" pitchFamily="18" charset="-127"/>
                <a:ea typeface="KoPub돋움체 Bold" panose="02020603020101020101" pitchFamily="18" charset="-127"/>
                <a:cs typeface="KoPub돋움체 Bold"/>
              </a:rPr>
              <a:t>7.13.</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KPI 성과관리 시스템</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조건부 운영 개시</a:t>
            </a:r>
          </a:p>
        </p:txBody>
      </p:sp>
      <p:sp>
        <p:nvSpPr>
          <p:cNvPr id="27" name="mi_2_2_bar"/>
          <p:cNvSpPr/>
          <p:nvPr/>
        </p:nvSpPr>
        <p:spPr>
          <a:xfrm>
            <a:off x="5073091" y="3712464"/>
            <a:ext cx="54864" cy="676656"/>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8" name="mi_2_2"/>
          <p:cNvSpPr txBox="1"/>
          <p:nvPr/>
        </p:nvSpPr>
        <p:spPr>
          <a:xfrm>
            <a:off x="5219395" y="3685032"/>
            <a:ext cx="1859889" cy="731520"/>
          </a:xfrm>
          <a:prstGeom prst="rect">
            <a:avLst/>
          </a:prstGeom>
          <a:noFill/>
        </p:spPr>
        <p:txBody>
          <a:bodyPr wrap="square" lIns="0" tIns="0" rIns="0" bIns="0" anchor="t">
            <a:noAutofit/>
          </a:bodyPr>
          <a:lstStyle/>
          <a:p>
            <a:pPr algn="l" eaLnBrk="0"/>
            <a:r>
              <a:rPr lang="ko-KR" sz="1400">
                <a:solidFill>
                  <a:srgbClr val="156A3A"/>
                </a:solidFill>
                <a:latin typeface="KoPub돋움체 Bold" panose="02020603020101020101" pitchFamily="18" charset="-127"/>
                <a:ea typeface="KoPub돋움체 Bold" panose="02020603020101020101" pitchFamily="18" charset="-127"/>
                <a:cs typeface="KoPub돋움체 Bold"/>
              </a:rPr>
              <a:t>7.29.</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일쉼 AX 워크숍</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6명 전원 참여</a:t>
            </a:r>
          </a:p>
        </p:txBody>
      </p:sp>
      <p:sp>
        <p:nvSpPr>
          <p:cNvPr id="29" name="mi_3_month"/>
          <p:cNvSpPr txBox="1"/>
          <p:nvPr/>
        </p:nvSpPr>
        <p:spPr>
          <a:xfrm>
            <a:off x="7298740" y="1371600"/>
            <a:ext cx="2042769" cy="384048"/>
          </a:xfrm>
          <a:prstGeom prst="rect">
            <a:avLst/>
          </a:prstGeom>
          <a:noFill/>
        </p:spPr>
        <p:txBody>
          <a:bodyPr wrap="square" lIns="0" tIns="0" rIns="0" bIns="0" anchor="t">
            <a:noAutofit/>
          </a:bodyPr>
          <a:lstStyle/>
          <a:p>
            <a:pPr algn="l" eaLnBrk="0"/>
            <a:r>
              <a:rPr lang="ko-KR" sz="2200">
                <a:solidFill>
                  <a:srgbClr val="724598"/>
                </a:solidFill>
                <a:latin typeface="KoPub돋움체 Bold" panose="02020603020101020101" pitchFamily="18" charset="-127"/>
                <a:ea typeface="KoPub돋움체 Bold" panose="02020603020101020101" pitchFamily="18" charset="-127"/>
                <a:cs typeface="KoPub돋움체 Bold"/>
              </a:rPr>
              <a:t>8월</a:t>
            </a:r>
          </a:p>
        </p:txBody>
      </p:sp>
      <p:cxnSp>
        <p:nvCxnSpPr>
          <p:cNvPr id="30" name="line_15"/>
          <p:cNvCxnSpPr/>
          <p:nvPr/>
        </p:nvCxnSpPr>
        <p:spPr>
          <a:xfrm>
            <a:off x="7298740" y="1810512"/>
            <a:ext cx="2042770"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31" name="mi_3_0_bar"/>
          <p:cNvSpPr/>
          <p:nvPr/>
        </p:nvSpPr>
        <p:spPr>
          <a:xfrm>
            <a:off x="7298740" y="1993391"/>
            <a:ext cx="54864" cy="676656"/>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2" name="mi_3_0"/>
          <p:cNvSpPr txBox="1"/>
          <p:nvPr/>
        </p:nvSpPr>
        <p:spPr>
          <a:xfrm>
            <a:off x="7445044" y="1965960"/>
            <a:ext cx="1859889" cy="731520"/>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8.11.</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상반기 결산</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차년도 방향 토의</a:t>
            </a:r>
          </a:p>
        </p:txBody>
      </p:sp>
      <p:sp>
        <p:nvSpPr>
          <p:cNvPr id="33" name="mi_3_1_bar"/>
          <p:cNvSpPr/>
          <p:nvPr/>
        </p:nvSpPr>
        <p:spPr>
          <a:xfrm>
            <a:off x="7298740" y="2852927"/>
            <a:ext cx="54864" cy="676656"/>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4" name="mi_3_1"/>
          <p:cNvSpPr txBox="1"/>
          <p:nvPr/>
        </p:nvSpPr>
        <p:spPr>
          <a:xfrm>
            <a:off x="7445044" y="2825496"/>
            <a:ext cx="1859889" cy="731520"/>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8.27.</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AI 활용 윤리</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지침안 작업본</a:t>
            </a:r>
          </a:p>
        </p:txBody>
      </p:sp>
      <p:sp>
        <p:nvSpPr>
          <p:cNvPr id="35" name="mi_4_month"/>
          <p:cNvSpPr txBox="1"/>
          <p:nvPr/>
        </p:nvSpPr>
        <p:spPr>
          <a:xfrm>
            <a:off x="9524390" y="1371600"/>
            <a:ext cx="2042769" cy="384048"/>
          </a:xfrm>
          <a:prstGeom prst="rect">
            <a:avLst/>
          </a:prstGeom>
          <a:noFill/>
        </p:spPr>
        <p:txBody>
          <a:bodyPr wrap="square" lIns="0" tIns="0" rIns="0" bIns="0" anchor="t">
            <a:noAutofit/>
          </a:bodyPr>
          <a:lstStyle/>
          <a:p>
            <a:pPr algn="l" eaLnBrk="0"/>
            <a:r>
              <a:rPr lang="ko-KR" sz="2200">
                <a:solidFill>
                  <a:srgbClr val="724598"/>
                </a:solidFill>
                <a:latin typeface="KoPub돋움체 Bold" panose="02020603020101020101" pitchFamily="18" charset="-127"/>
                <a:ea typeface="KoPub돋움체 Bold" panose="02020603020101020101" pitchFamily="18" charset="-127"/>
                <a:cs typeface="KoPub돋움체 Bold"/>
              </a:rPr>
              <a:t>9월</a:t>
            </a:r>
          </a:p>
        </p:txBody>
      </p:sp>
      <p:cxnSp>
        <p:nvCxnSpPr>
          <p:cNvPr id="36" name="line_16"/>
          <p:cNvCxnSpPr/>
          <p:nvPr/>
        </p:nvCxnSpPr>
        <p:spPr>
          <a:xfrm>
            <a:off x="9524390" y="1810512"/>
            <a:ext cx="2042770"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37" name="mi_4_0_bar"/>
          <p:cNvSpPr/>
          <p:nvPr/>
        </p:nvSpPr>
        <p:spPr>
          <a:xfrm>
            <a:off x="9524390" y="1993391"/>
            <a:ext cx="54864" cy="676656"/>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8" name="mi_4_0"/>
          <p:cNvSpPr txBox="1"/>
          <p:nvPr/>
        </p:nvSpPr>
        <p:spPr>
          <a:xfrm>
            <a:off x="9670694" y="1965960"/>
            <a:ext cx="1859889" cy="731520"/>
          </a:xfrm>
          <a:prstGeom prst="rect">
            <a:avLst/>
          </a:prstGeom>
          <a:noFill/>
        </p:spPr>
        <p:txBody>
          <a:bodyPr wrap="square" lIns="0" tIns="0" rIns="0" bIns="0" anchor="t">
            <a:noAutofit/>
          </a:bodyPr>
          <a:lstStyle/>
          <a:p>
            <a:pPr algn="l" eaLnBrk="0"/>
            <a:r>
              <a:rPr lang="ko-KR" sz="1400">
                <a:solidFill>
                  <a:srgbClr val="C97A00"/>
                </a:solidFill>
                <a:latin typeface="KoPub돋움체 Bold" panose="02020603020101020101" pitchFamily="18" charset="-127"/>
                <a:ea typeface="KoPub돋움체 Bold" panose="02020603020101020101" pitchFamily="18" charset="-127"/>
                <a:cs typeface="KoPub돋움체 Bold"/>
              </a:rPr>
              <a:t>9.1.</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수입·지출 대시보드</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운영 개시</a:t>
            </a:r>
          </a:p>
        </p:txBody>
      </p:sp>
      <p:sp>
        <p:nvSpPr>
          <p:cNvPr id="39" name="mi_4_1_bar"/>
          <p:cNvSpPr/>
          <p:nvPr/>
        </p:nvSpPr>
        <p:spPr>
          <a:xfrm>
            <a:off x="9524390" y="2852927"/>
            <a:ext cx="54864" cy="448056"/>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0" name="mi_4_1"/>
          <p:cNvSpPr txBox="1"/>
          <p:nvPr/>
        </p:nvSpPr>
        <p:spPr>
          <a:xfrm>
            <a:off x="9670694" y="2825496"/>
            <a:ext cx="1859889" cy="502920"/>
          </a:xfrm>
          <a:prstGeom prst="rect">
            <a:avLst/>
          </a:prstGeom>
          <a:noFill/>
        </p:spPr>
        <p:txBody>
          <a:bodyPr wrap="square" lIns="0" tIns="0" rIns="0" bIns="0" anchor="t">
            <a:noAutofit/>
          </a:bodyPr>
          <a:lstStyle/>
          <a:p>
            <a:pPr algn="l" eaLnBrk="0"/>
            <a:r>
              <a:rPr lang="ko-KR" sz="1400">
                <a:solidFill>
                  <a:srgbClr val="C97A00"/>
                </a:solidFill>
                <a:latin typeface="KoPub돋움체 Bold" panose="02020603020101020101" pitchFamily="18" charset="-127"/>
                <a:ea typeface="KoPub돋움체 Bold" panose="02020603020101020101" pitchFamily="18" charset="-127"/>
                <a:cs typeface="KoPub돋움체 Bold"/>
              </a:rPr>
              <a:t>9.4.</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퀴즈톡 베타 배포</a:t>
            </a:r>
          </a:p>
        </p:txBody>
      </p:sp>
      <p:sp>
        <p:nvSpPr>
          <p:cNvPr id="41" name="mi_4_2_bar"/>
          <p:cNvSpPr/>
          <p:nvPr/>
        </p:nvSpPr>
        <p:spPr>
          <a:xfrm>
            <a:off x="9524390" y="3483863"/>
            <a:ext cx="54864" cy="676656"/>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2" name="mi_4_2"/>
          <p:cNvSpPr txBox="1"/>
          <p:nvPr/>
        </p:nvSpPr>
        <p:spPr>
          <a:xfrm>
            <a:off x="9670694" y="3456432"/>
            <a:ext cx="1859889" cy="731520"/>
          </a:xfrm>
          <a:prstGeom prst="rect">
            <a:avLst/>
          </a:prstGeom>
          <a:noFill/>
        </p:spPr>
        <p:txBody>
          <a:bodyPr wrap="square" lIns="0" tIns="0" rIns="0" bIns="0" anchor="t">
            <a:noAutofit/>
          </a:bodyPr>
          <a:lstStyle/>
          <a:p>
            <a:pPr algn="l" eaLnBrk="0"/>
            <a:r>
              <a:rPr lang="ko-KR" sz="1400">
                <a:solidFill>
                  <a:srgbClr val="C97A00"/>
                </a:solidFill>
                <a:latin typeface="KoPub돋움체 Bold" panose="02020603020101020101" pitchFamily="18" charset="-127"/>
                <a:ea typeface="KoPub돋움체 Bold" panose="02020603020101020101" pitchFamily="18" charset="-127"/>
                <a:cs typeface="KoPub돋움체 Bold"/>
              </a:rPr>
              <a:t>9.14.</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월간 업무보고</a:t>
            </a:r>
          </a:p>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자동화 결과 정리</a:t>
            </a:r>
          </a:p>
        </p:txBody>
      </p:sp>
      <p:sp>
        <p:nvSpPr>
          <p:cNvPr id="43" name="mi_4_3_bar"/>
          <p:cNvSpPr/>
          <p:nvPr/>
        </p:nvSpPr>
        <p:spPr>
          <a:xfrm>
            <a:off x="9524390" y="4343400"/>
            <a:ext cx="54864" cy="676656"/>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4" name="mi_4_3"/>
          <p:cNvSpPr txBox="1"/>
          <p:nvPr/>
        </p:nvSpPr>
        <p:spPr>
          <a:xfrm>
            <a:off x="9670694" y="4315968"/>
            <a:ext cx="1859889" cy="731520"/>
          </a:xfrm>
          <a:prstGeom prst="rect">
            <a:avLst/>
          </a:prstGeom>
          <a:noFill/>
        </p:spPr>
        <p:txBody>
          <a:bodyPr wrap="square" lIns="0" tIns="0" rIns="0" bIns="0" anchor="t">
            <a:noAutofit/>
          </a:bodyPr>
          <a:lstStyle/>
          <a:p>
            <a:pPr algn="l" eaLnBrk="0"/>
            <a:r>
              <a:rPr lang="ko-KR" sz="1400">
                <a:solidFill>
                  <a:srgbClr val="156A3A"/>
                </a:solidFill>
                <a:latin typeface="KoPub돋움체 Bold" panose="02020603020101020101" pitchFamily="18" charset="-127"/>
                <a:ea typeface="KoPub돋움체 Bold" panose="02020603020101020101" pitchFamily="18" charset="-127"/>
                <a:cs typeface="KoPub돋움체 Bold"/>
              </a:rPr>
              <a:t>9.22.</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산울림 AI 워크숍</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14명 대상</a:t>
            </a:r>
          </a:p>
        </p:txBody>
      </p:sp>
      <p:sp>
        <p:nvSpPr>
          <p:cNvPr id="45" name="mi_leg0_box"/>
          <p:cNvSpPr/>
          <p:nvPr/>
        </p:nvSpPr>
        <p:spPr>
          <a:xfrm>
            <a:off x="621792" y="5760720"/>
            <a:ext cx="201168" cy="20116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6" name="mi_leg0"/>
          <p:cNvSpPr txBox="1"/>
          <p:nvPr/>
        </p:nvSpPr>
        <p:spPr>
          <a:xfrm>
            <a:off x="896112" y="5715000"/>
            <a:ext cx="2103120" cy="292608"/>
          </a:xfrm>
          <a:prstGeom prst="rect">
            <a:avLst/>
          </a:prstGeom>
          <a:noFill/>
        </p:spPr>
        <p:txBody>
          <a:bodyPr wrap="square" lIns="0" tIns="0" rIns="0" bIns="0" anchor="ctr">
            <a:noAutofit/>
          </a:bodyPr>
          <a:lstStyle/>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기반·운영</a:t>
            </a:r>
          </a:p>
        </p:txBody>
      </p:sp>
      <p:sp>
        <p:nvSpPr>
          <p:cNvPr id="47" name="mi_leg1_box"/>
          <p:cNvSpPr/>
          <p:nvPr/>
        </p:nvSpPr>
        <p:spPr>
          <a:xfrm>
            <a:off x="2999232" y="5760720"/>
            <a:ext cx="201168" cy="201168"/>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8" name="mi_leg1"/>
          <p:cNvSpPr txBox="1"/>
          <p:nvPr/>
        </p:nvSpPr>
        <p:spPr>
          <a:xfrm>
            <a:off x="3273552" y="5715000"/>
            <a:ext cx="2103120" cy="292608"/>
          </a:xfrm>
          <a:prstGeom prst="rect">
            <a:avLst/>
          </a:prstGeom>
          <a:noFill/>
        </p:spPr>
        <p:txBody>
          <a:bodyPr wrap="square" lIns="0" tIns="0" rIns="0" bIns="0" anchor="ctr">
            <a:noAutofit/>
          </a:bodyPr>
          <a:lstStyle/>
          <a:p>
            <a:pPr algn="l" eaLnBrk="0"/>
            <a:r>
              <a:rPr lang="ko-KR" sz="1300">
                <a:solidFill>
                  <a:srgbClr val="1F1F1F"/>
                </a:solidFill>
                <a:latin typeface="KoPub돋움체 Medium" panose="02020603020101020101" pitchFamily="18" charset="-127"/>
                <a:ea typeface="KoPub돋움체 Medium" panose="02020603020101020101" pitchFamily="18" charset="-127"/>
                <a:cs typeface="KoPub돋움체 Medium"/>
              </a:rPr>
              <a:t>도구 개발·운영</a:t>
            </a:r>
          </a:p>
        </p:txBody>
      </p:sp>
      <p:sp>
        <p:nvSpPr>
          <p:cNvPr id="49" name="mi_leg2_box"/>
          <p:cNvSpPr/>
          <p:nvPr/>
        </p:nvSpPr>
        <p:spPr>
          <a:xfrm>
            <a:off x="5376672" y="5760720"/>
            <a:ext cx="201168" cy="20116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50" name="mi_leg2"/>
          <p:cNvSpPr txBox="1"/>
          <p:nvPr/>
        </p:nvSpPr>
        <p:spPr>
          <a:xfrm>
            <a:off x="5650992" y="5715000"/>
            <a:ext cx="2103120" cy="292608"/>
          </a:xfrm>
          <a:prstGeom prst="rect">
            <a:avLst/>
          </a:prstGeom>
          <a:noFill/>
        </p:spPr>
        <p:txBody>
          <a:bodyPr wrap="square" lIns="0" tIns="0" rIns="0" bIns="0" anchor="ctr">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직원 AI 활용 워크숍</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10개 부서 15명이 함께했습니다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참여자 소개</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위촉 명단 기준 · 참석 여부와 관계없이 전원 소개</a:t>
            </a:r>
          </a:p>
        </p:txBody>
      </p:sp>
      <p:sp>
        <p:nvSpPr>
          <p:cNvPr id="5" name="roster_lead"/>
          <p:cNvSpPr txBox="1"/>
          <p:nvPr/>
        </p:nvSpPr>
        <p:spPr>
          <a:xfrm>
            <a:off x="621792" y="1325880"/>
            <a:ext cx="10881360" cy="36576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10개 부서에서 배우고, 만들고, 동료의 활용을 도왔습니다</a:t>
            </a:r>
          </a:p>
        </p:txBody>
      </p:sp>
      <p:sp>
        <p:nvSpPr>
          <p:cNvPr id="6" name="roster_0_box"/>
          <p:cNvSpPr/>
          <p:nvPr/>
        </p:nvSpPr>
        <p:spPr>
          <a:xfrm>
            <a:off x="621792" y="1874519"/>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roster_0_bar"/>
          <p:cNvSpPr/>
          <p:nvPr/>
        </p:nvSpPr>
        <p:spPr>
          <a:xfrm>
            <a:off x="621792" y="1874519"/>
            <a:ext cx="2042769"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8" name="roster_0_dept"/>
          <p:cNvSpPr txBox="1"/>
          <p:nvPr/>
        </p:nvSpPr>
        <p:spPr>
          <a:xfrm>
            <a:off x="786384" y="2075688"/>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윤리감사</a:t>
            </a:r>
          </a:p>
        </p:txBody>
      </p:sp>
      <p:sp>
        <p:nvSpPr>
          <p:cNvPr id="9" name="roster_0_names"/>
          <p:cNvSpPr txBox="1"/>
          <p:nvPr/>
        </p:nvSpPr>
        <p:spPr>
          <a:xfrm>
            <a:off x="786384" y="2697479"/>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이정아</a:t>
            </a:r>
          </a:p>
        </p:txBody>
      </p:sp>
      <p:sp>
        <p:nvSpPr>
          <p:cNvPr id="10" name="roster_1_box"/>
          <p:cNvSpPr/>
          <p:nvPr/>
        </p:nvSpPr>
        <p:spPr>
          <a:xfrm>
            <a:off x="2847441" y="1874519"/>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1" name="roster_1_bar"/>
          <p:cNvSpPr/>
          <p:nvPr/>
        </p:nvSpPr>
        <p:spPr>
          <a:xfrm>
            <a:off x="2847441" y="1874519"/>
            <a:ext cx="2042769"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2" name="roster_1_dept"/>
          <p:cNvSpPr txBox="1"/>
          <p:nvPr/>
        </p:nvSpPr>
        <p:spPr>
          <a:xfrm>
            <a:off x="3012033" y="2075688"/>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전략경영실</a:t>
            </a:r>
          </a:p>
        </p:txBody>
      </p:sp>
      <p:sp>
        <p:nvSpPr>
          <p:cNvPr id="13" name="roster_1_names"/>
          <p:cNvSpPr txBox="1"/>
          <p:nvPr/>
        </p:nvSpPr>
        <p:spPr>
          <a:xfrm>
            <a:off x="3012033" y="2697479"/>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김지은</a:t>
            </a:r>
          </a:p>
          <a:p>
            <a:pPr algn="l">
              <a:spcBef>
                <a:spcPts val="400"/>
              </a:spcBef>
            </a:pPr>
            <a:r>
              <a:rPr lang="ko-KR" sz="2400">
                <a:solidFill>
                  <a:srgbClr val="1F1F1F"/>
                </a:solidFill>
                <a:latin typeface="KoPub돋움체 Bold" panose="02020603020101020101" pitchFamily="18" charset="-127"/>
                <a:ea typeface="KoPub돋움체 Bold" panose="02020603020101020101" pitchFamily="18" charset="-127"/>
                <a:cs typeface="KoPub돋움체 Bold"/>
              </a:rPr>
              <a:t>오태규</a:t>
            </a:r>
          </a:p>
        </p:txBody>
      </p:sp>
      <p:sp>
        <p:nvSpPr>
          <p:cNvPr id="14" name="roster_2_box"/>
          <p:cNvSpPr/>
          <p:nvPr/>
        </p:nvSpPr>
        <p:spPr>
          <a:xfrm>
            <a:off x="5073091" y="1874519"/>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5" name="roster_2_bar"/>
          <p:cNvSpPr/>
          <p:nvPr/>
        </p:nvSpPr>
        <p:spPr>
          <a:xfrm>
            <a:off x="5073091" y="1874519"/>
            <a:ext cx="2042769"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6" name="roster_2_dept"/>
          <p:cNvSpPr txBox="1"/>
          <p:nvPr/>
        </p:nvSpPr>
        <p:spPr>
          <a:xfrm>
            <a:off x="5237683" y="2075688"/>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부천시여성회관</a:t>
            </a:r>
          </a:p>
        </p:txBody>
      </p:sp>
      <p:sp>
        <p:nvSpPr>
          <p:cNvPr id="17" name="roster_2_names"/>
          <p:cNvSpPr txBox="1"/>
          <p:nvPr/>
        </p:nvSpPr>
        <p:spPr>
          <a:xfrm>
            <a:off x="5237683" y="2697479"/>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이지선</a:t>
            </a:r>
          </a:p>
        </p:txBody>
      </p:sp>
      <p:sp>
        <p:nvSpPr>
          <p:cNvPr id="18" name="roster_3_box"/>
          <p:cNvSpPr/>
          <p:nvPr/>
        </p:nvSpPr>
        <p:spPr>
          <a:xfrm>
            <a:off x="7298740" y="1874519"/>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9" name="roster_3_bar"/>
          <p:cNvSpPr/>
          <p:nvPr/>
        </p:nvSpPr>
        <p:spPr>
          <a:xfrm>
            <a:off x="7298740" y="1874519"/>
            <a:ext cx="2042769"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0" name="roster_3_dept"/>
          <p:cNvSpPr txBox="1"/>
          <p:nvPr/>
        </p:nvSpPr>
        <p:spPr>
          <a:xfrm>
            <a:off x="7463332" y="2075688"/>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부천여성청소년센터</a:t>
            </a:r>
          </a:p>
        </p:txBody>
      </p:sp>
      <p:sp>
        <p:nvSpPr>
          <p:cNvPr id="21" name="roster_3_names"/>
          <p:cNvSpPr txBox="1"/>
          <p:nvPr/>
        </p:nvSpPr>
        <p:spPr>
          <a:xfrm>
            <a:off x="7463332" y="2697479"/>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이숙진</a:t>
            </a:r>
          </a:p>
        </p:txBody>
      </p:sp>
      <p:sp>
        <p:nvSpPr>
          <p:cNvPr id="22" name="roster_4_box"/>
          <p:cNvSpPr/>
          <p:nvPr/>
        </p:nvSpPr>
        <p:spPr>
          <a:xfrm>
            <a:off x="9524390" y="1874519"/>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3" name="roster_4_bar"/>
          <p:cNvSpPr/>
          <p:nvPr/>
        </p:nvSpPr>
        <p:spPr>
          <a:xfrm>
            <a:off x="9524390" y="1874519"/>
            <a:ext cx="2042769" cy="6400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4" name="roster_4_dept"/>
          <p:cNvSpPr txBox="1"/>
          <p:nvPr/>
        </p:nvSpPr>
        <p:spPr>
          <a:xfrm>
            <a:off x="9688982" y="2075688"/>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부천시청소년센터</a:t>
            </a:r>
          </a:p>
        </p:txBody>
      </p:sp>
      <p:sp>
        <p:nvSpPr>
          <p:cNvPr id="25" name="roster_4_names"/>
          <p:cNvSpPr txBox="1"/>
          <p:nvPr/>
        </p:nvSpPr>
        <p:spPr>
          <a:xfrm>
            <a:off x="9688982" y="2697479"/>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김성애</a:t>
            </a:r>
          </a:p>
        </p:txBody>
      </p:sp>
      <p:sp>
        <p:nvSpPr>
          <p:cNvPr id="26" name="roster_5_box"/>
          <p:cNvSpPr/>
          <p:nvPr/>
        </p:nvSpPr>
        <p:spPr>
          <a:xfrm>
            <a:off x="621792" y="4178808"/>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7" name="roster_5_bar"/>
          <p:cNvSpPr/>
          <p:nvPr/>
        </p:nvSpPr>
        <p:spPr>
          <a:xfrm>
            <a:off x="621792" y="4178808"/>
            <a:ext cx="2042769" cy="6400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8" name="roster_5_dept"/>
          <p:cNvSpPr txBox="1"/>
          <p:nvPr/>
        </p:nvSpPr>
        <p:spPr>
          <a:xfrm>
            <a:off x="786384" y="4379976"/>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산울림청소년센터</a:t>
            </a:r>
          </a:p>
        </p:txBody>
      </p:sp>
      <p:sp>
        <p:nvSpPr>
          <p:cNvPr id="29" name="roster_5_names"/>
          <p:cNvSpPr txBox="1"/>
          <p:nvPr/>
        </p:nvSpPr>
        <p:spPr>
          <a:xfrm>
            <a:off x="786384" y="5001768"/>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김민선</a:t>
            </a:r>
          </a:p>
          <a:p>
            <a:pPr algn="l">
              <a:spcBef>
                <a:spcPts val="400"/>
              </a:spcBef>
            </a:pPr>
            <a:r>
              <a:rPr lang="ko-KR" sz="2400">
                <a:solidFill>
                  <a:srgbClr val="1F1F1F"/>
                </a:solidFill>
                <a:latin typeface="KoPub돋움체 Bold" panose="02020603020101020101" pitchFamily="18" charset="-127"/>
                <a:ea typeface="KoPub돋움체 Bold" panose="02020603020101020101" pitchFamily="18" charset="-127"/>
                <a:cs typeface="KoPub돋움체 Bold"/>
              </a:rPr>
              <a:t>김준환</a:t>
            </a:r>
          </a:p>
        </p:txBody>
      </p:sp>
      <p:sp>
        <p:nvSpPr>
          <p:cNvPr id="30" name="roster_6_box"/>
          <p:cNvSpPr/>
          <p:nvPr/>
        </p:nvSpPr>
        <p:spPr>
          <a:xfrm>
            <a:off x="2847441" y="4178808"/>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1" name="roster_6_bar"/>
          <p:cNvSpPr/>
          <p:nvPr/>
        </p:nvSpPr>
        <p:spPr>
          <a:xfrm>
            <a:off x="2847441" y="4178808"/>
            <a:ext cx="2042769" cy="6400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2" name="roster_6_dept"/>
          <p:cNvSpPr txBox="1"/>
          <p:nvPr/>
        </p:nvSpPr>
        <p:spPr>
          <a:xfrm>
            <a:off x="3012033" y="4379976"/>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소사청소년센터</a:t>
            </a:r>
          </a:p>
        </p:txBody>
      </p:sp>
      <p:sp>
        <p:nvSpPr>
          <p:cNvPr id="33" name="roster_6_names"/>
          <p:cNvSpPr txBox="1"/>
          <p:nvPr/>
        </p:nvSpPr>
        <p:spPr>
          <a:xfrm>
            <a:off x="3012033" y="5001768"/>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김준호</a:t>
            </a:r>
          </a:p>
          <a:p>
            <a:pPr algn="l">
              <a:spcBef>
                <a:spcPts val="400"/>
              </a:spcBef>
            </a:pPr>
            <a:r>
              <a:rPr lang="ko-KR" sz="2400">
                <a:solidFill>
                  <a:srgbClr val="1F1F1F"/>
                </a:solidFill>
                <a:latin typeface="KoPub돋움체 Bold" panose="02020603020101020101" pitchFamily="18" charset="-127"/>
                <a:ea typeface="KoPub돋움체 Bold" panose="02020603020101020101" pitchFamily="18" charset="-127"/>
                <a:cs typeface="KoPub돋움체 Bold"/>
              </a:rPr>
              <a:t>태진호</a:t>
            </a:r>
          </a:p>
        </p:txBody>
      </p:sp>
      <p:sp>
        <p:nvSpPr>
          <p:cNvPr id="34" name="roster_7_box"/>
          <p:cNvSpPr/>
          <p:nvPr/>
        </p:nvSpPr>
        <p:spPr>
          <a:xfrm>
            <a:off x="5073091" y="4178808"/>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5" name="roster_7_bar"/>
          <p:cNvSpPr/>
          <p:nvPr/>
        </p:nvSpPr>
        <p:spPr>
          <a:xfrm>
            <a:off x="5073091" y="4178808"/>
            <a:ext cx="2042769" cy="6400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6" name="roster_7_dept"/>
          <p:cNvSpPr txBox="1"/>
          <p:nvPr/>
        </p:nvSpPr>
        <p:spPr>
          <a:xfrm>
            <a:off x="5237683" y="4379976"/>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부천시청소년</a:t>
            </a:r>
          </a:p>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상담복지센터</a:t>
            </a:r>
          </a:p>
        </p:txBody>
      </p:sp>
      <p:sp>
        <p:nvSpPr>
          <p:cNvPr id="37" name="roster_7_names"/>
          <p:cNvSpPr txBox="1"/>
          <p:nvPr/>
        </p:nvSpPr>
        <p:spPr>
          <a:xfrm>
            <a:off x="5237683" y="5001768"/>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이영운</a:t>
            </a:r>
          </a:p>
          <a:p>
            <a:pPr algn="l">
              <a:spcBef>
                <a:spcPts val="400"/>
              </a:spcBef>
            </a:pPr>
            <a:r>
              <a:rPr lang="ko-KR" sz="2400">
                <a:solidFill>
                  <a:srgbClr val="1F1F1F"/>
                </a:solidFill>
                <a:latin typeface="KoPub돋움체 Bold" panose="02020603020101020101" pitchFamily="18" charset="-127"/>
                <a:ea typeface="KoPub돋움체 Bold" panose="02020603020101020101" pitchFamily="18" charset="-127"/>
                <a:cs typeface="KoPub돋움체 Bold"/>
              </a:rPr>
              <a:t>신홍철</a:t>
            </a:r>
          </a:p>
        </p:txBody>
      </p:sp>
      <p:sp>
        <p:nvSpPr>
          <p:cNvPr id="38" name="roster_8_box"/>
          <p:cNvSpPr/>
          <p:nvPr/>
        </p:nvSpPr>
        <p:spPr>
          <a:xfrm>
            <a:off x="7298740" y="4178808"/>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9" name="roster_8_bar"/>
          <p:cNvSpPr/>
          <p:nvPr/>
        </p:nvSpPr>
        <p:spPr>
          <a:xfrm>
            <a:off x="7298740" y="4178808"/>
            <a:ext cx="2042769" cy="6400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0" name="roster_8_dept"/>
          <p:cNvSpPr txBox="1"/>
          <p:nvPr/>
        </p:nvSpPr>
        <p:spPr>
          <a:xfrm>
            <a:off x="7463332" y="4379976"/>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부천시일쉼지원센터</a:t>
            </a:r>
          </a:p>
        </p:txBody>
      </p:sp>
      <p:sp>
        <p:nvSpPr>
          <p:cNvPr id="41" name="roster_8_names"/>
          <p:cNvSpPr txBox="1"/>
          <p:nvPr/>
        </p:nvSpPr>
        <p:spPr>
          <a:xfrm>
            <a:off x="7463332" y="5001768"/>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김숙희</a:t>
            </a:r>
          </a:p>
        </p:txBody>
      </p:sp>
      <p:sp>
        <p:nvSpPr>
          <p:cNvPr id="42" name="roster_9_box"/>
          <p:cNvSpPr/>
          <p:nvPr/>
        </p:nvSpPr>
        <p:spPr>
          <a:xfrm>
            <a:off x="9524390" y="4178808"/>
            <a:ext cx="2042769" cy="2103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3" name="roster_9_bar"/>
          <p:cNvSpPr/>
          <p:nvPr/>
        </p:nvSpPr>
        <p:spPr>
          <a:xfrm>
            <a:off x="9524390" y="4178808"/>
            <a:ext cx="2042769" cy="6400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4" name="roster_9_dept"/>
          <p:cNvSpPr txBox="1"/>
          <p:nvPr/>
        </p:nvSpPr>
        <p:spPr>
          <a:xfrm>
            <a:off x="9688982" y="4379976"/>
            <a:ext cx="1713585" cy="5029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부천시건강가정</a:t>
            </a:r>
          </a:p>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지원센터</a:t>
            </a:r>
          </a:p>
        </p:txBody>
      </p:sp>
      <p:sp>
        <p:nvSpPr>
          <p:cNvPr id="45" name="roster_9_names"/>
          <p:cNvSpPr txBox="1"/>
          <p:nvPr/>
        </p:nvSpPr>
        <p:spPr>
          <a:xfrm>
            <a:off x="9688982" y="5001768"/>
            <a:ext cx="1713585" cy="114300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정소라</a:t>
            </a:r>
          </a:p>
          <a:p>
            <a:pPr algn="l">
              <a:spcBef>
                <a:spcPts val="400"/>
              </a:spcBef>
            </a:pPr>
            <a:r>
              <a:rPr lang="ko-KR" sz="2400">
                <a:solidFill>
                  <a:srgbClr val="1F1F1F"/>
                </a:solidFill>
                <a:latin typeface="KoPub돋움체 Bold" panose="02020603020101020101" pitchFamily="18" charset="-127"/>
                <a:ea typeface="KoPub돋움체 Bold" panose="02020603020101020101" pitchFamily="18" charset="-127"/>
                <a:cs typeface="KoPub돋움체 Bold"/>
              </a:rPr>
              <a:t>신동은</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3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35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3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35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35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35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350"/>
                                        <p:tgtEl>
                                          <p:spTgt spid="3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350"/>
                                        <p:tgtEl>
                                          <p:spTgt spid="3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35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35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35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350"/>
                                        <p:tgtEl>
                                          <p:spTgt spid="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350"/>
                                        <p:tgtEl>
                                          <p:spTgt spid="3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350"/>
                                        <p:tgtEl>
                                          <p:spTgt spid="3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35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35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350"/>
                                        <p:tgtEl>
                                          <p:spTgt spid="4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350"/>
                                        <p:tgtEl>
                                          <p:spTgt spid="4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350"/>
                                        <p:tgtEl>
                                          <p:spTgt spid="4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3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0" grpId="0" animBg="1"/>
      <p:bldP spid="31" grpId="0" animBg="1"/>
      <p:bldP spid="32" grpId="0"/>
      <p:bldP spid="33" grpId="0"/>
      <p:bldP spid="34" grpId="0" animBg="1"/>
      <p:bldP spid="35" grpId="0" animBg="1"/>
      <p:bldP spid="36" grpId="0"/>
      <p:bldP spid="37" grpId="0"/>
      <p:bldP spid="38" grpId="0" animBg="1"/>
      <p:bldP spid="39" grpId="0" animBg="1"/>
      <p:bldP spid="40" grpId="0"/>
      <p:bldP spid="41" grpId="0"/>
      <p:bldP spid="42" grpId="0" animBg="1"/>
      <p:bldP spid="43" grpId="0" animBg="1"/>
      <p:bldP spid="44" grpId="0"/>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_num"/>
          <p:cNvSpPr txBox="1"/>
          <p:nvPr/>
        </p:nvSpPr>
        <p:spPr>
          <a:xfrm>
            <a:off x="841248" y="1417320"/>
            <a:ext cx="2743200" cy="914400"/>
          </a:xfrm>
          <a:prstGeom prst="rect">
            <a:avLst/>
          </a:prstGeom>
          <a:noFill/>
        </p:spPr>
        <p:txBody>
          <a:bodyPr wrap="square" lIns="0" tIns="0" rIns="0" bIns="0" anchor="t">
            <a:noAutofit/>
          </a:bodyPr>
          <a:lstStyle/>
          <a:p>
            <a:pPr algn="l"/>
            <a:r>
              <a:rPr lang="ko-KR" sz="5400">
                <a:solidFill>
                  <a:srgbClr val="724598"/>
                </a:solidFill>
                <a:latin typeface="KoPub돋움체 Bold" panose="02020603020101020101" pitchFamily="18" charset="-127"/>
                <a:ea typeface="KoPub돋움체 Bold" panose="02020603020101020101" pitchFamily="18" charset="-127"/>
                <a:cs typeface="KoPub돋움체 Bold"/>
              </a:rPr>
              <a:t>01</a:t>
            </a:r>
          </a:p>
        </p:txBody>
      </p:sp>
      <p:sp>
        <p:nvSpPr>
          <p:cNvPr id="3" name="sec_title"/>
          <p:cNvSpPr txBox="1"/>
          <p:nvPr/>
        </p:nvSpPr>
        <p:spPr>
          <a:xfrm>
            <a:off x="841248" y="2423160"/>
            <a:ext cx="8046720" cy="786384"/>
          </a:xfrm>
          <a:prstGeom prst="rect">
            <a:avLst/>
          </a:prstGeom>
          <a:noFill/>
        </p:spPr>
        <p:txBody>
          <a:bodyPr wrap="square" lIns="0" tIns="0" rIns="0" bIns="0" anchor="t">
            <a:noAutofit/>
          </a:bodyPr>
          <a:lstStyle/>
          <a:p>
            <a:pPr algn="l"/>
            <a:r>
              <a:rPr lang="ko-KR" sz="4400">
                <a:solidFill>
                  <a:srgbClr val="1F1F1F"/>
                </a:solidFill>
                <a:latin typeface="KoPub돋움체 Bold" panose="02020603020101020101" pitchFamily="18" charset="-127"/>
                <a:ea typeface="KoPub돋움체 Bold" panose="02020603020101020101" pitchFamily="18" charset="-127"/>
                <a:cs typeface="KoPub돋움체 Bold"/>
              </a:rPr>
              <a:t>주요 성과</a:t>
            </a:r>
          </a:p>
        </p:txBody>
      </p:sp>
      <p:sp>
        <p:nvSpPr>
          <p:cNvPr id="4" name="sec_sub"/>
          <p:cNvSpPr txBox="1"/>
          <p:nvPr/>
        </p:nvSpPr>
        <p:spPr>
          <a:xfrm>
            <a:off x="841248" y="3346704"/>
            <a:ext cx="8046720" cy="548640"/>
          </a:xfrm>
          <a:prstGeom prst="rect">
            <a:avLst/>
          </a:prstGeom>
          <a:noFill/>
        </p:spPr>
        <p:txBody>
          <a:bodyPr wrap="square" lIns="0" tIns="0" rIns="0" bIns="0" anchor="t">
            <a:noAutofit/>
          </a:bodyPr>
          <a:lstStyle/>
          <a:p>
            <a:pPr algn="l"/>
            <a:r>
              <a:rPr lang="ko-KR" sz="2200">
                <a:solidFill>
                  <a:srgbClr val="5E6672"/>
                </a:solidFill>
                <a:latin typeface="KoPub돋움체 Medium" panose="02020603020101020101" pitchFamily="18" charset="-127"/>
                <a:ea typeface="KoPub돋움체 Medium" panose="02020603020101020101" pitchFamily="18" charset="-127"/>
                <a:cs typeface="KoPub돋움체 Medium"/>
              </a:rPr>
              <a:t>기반 정비 · 현장 사례 · 공동 결과물</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eaLnBrk="0"/>
            <a:r>
              <a:rPr lang="ko-KR" sz="2600">
                <a:solidFill>
                  <a:srgbClr val="1F1F1F"/>
                </a:solidFill>
                <a:latin typeface="KoPub돋움체 Bold" panose="02020603020101020101" pitchFamily="18" charset="-127"/>
                <a:ea typeface="KoPub돋움체 Bold" panose="02020603020101020101" pitchFamily="18" charset="-127"/>
                <a:cs typeface="KoPub돋움체 Bold"/>
              </a:rPr>
              <a:t>현장의 작은 개선이 숫자로 쌓였습니다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eaLnBrk="0"/>
            <a:r>
              <a:rPr lang="ko-KR" sz="1300">
                <a:solidFill>
                  <a:srgbClr val="724598"/>
                </a:solidFill>
                <a:latin typeface="KoPub돋움체 Bold" panose="02020603020101020101" pitchFamily="18" charset="-127"/>
                <a:ea typeface="KoPub돋움체 Bold" panose="02020603020101020101" pitchFamily="18" charset="-127"/>
                <a:cs typeface="KoPub돋움체 Bold"/>
              </a:rPr>
              <a:t>주요 성과 · 수치 실적</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eaLnBrk="0"/>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각 수치는 해당 사례·조사 조건의 값 · 전사 평균 절감률로 일반화하지 않음</a:t>
            </a:r>
          </a:p>
        </p:txBody>
      </p:sp>
      <p:cxnSp>
        <p:nvCxnSpPr>
          <p:cNvPr id="5" name="line_17"/>
          <p:cNvCxnSpPr/>
          <p:nvPr/>
        </p:nvCxnSpPr>
        <p:spPr>
          <a:xfrm>
            <a:off x="621792" y="1463040"/>
            <a:ext cx="3404616" cy="0"/>
          </a:xfrm>
          <a:prstGeom prst="line">
            <a:avLst/>
          </a:prstGeom>
          <a:ln w="31750">
            <a:solidFill>
              <a:srgbClr val="724598"/>
            </a:solidFill>
          </a:ln>
        </p:spPr>
        <p:style>
          <a:lnRef idx="2">
            <a:schemeClr val="accent1"/>
          </a:lnRef>
          <a:fillRef idx="0">
            <a:schemeClr val="accent1"/>
          </a:fillRef>
          <a:effectRef idx="1">
            <a:schemeClr val="accent1"/>
          </a:effectRef>
          <a:fontRef idx="minor">
            <a:schemeClr val="tx1"/>
          </a:fontRef>
        </p:style>
      </p:cxnSp>
      <p:sp>
        <p:nvSpPr>
          <p:cNvPr id="6" name="fig_0_num"/>
          <p:cNvSpPr txBox="1"/>
          <p:nvPr/>
        </p:nvSpPr>
        <p:spPr>
          <a:xfrm>
            <a:off x="621792" y="1572768"/>
            <a:ext cx="3404616" cy="1143000"/>
          </a:xfrm>
          <a:prstGeom prst="rect">
            <a:avLst/>
          </a:prstGeom>
          <a:noFill/>
        </p:spPr>
        <p:txBody>
          <a:bodyPr wrap="square" lIns="0" tIns="0" rIns="0" bIns="0" anchor="b">
            <a:noAutofit/>
          </a:bodyPr>
          <a:lstStyle/>
          <a:p>
            <a:pPr algn="l" eaLnBrk="0"/>
            <a:r>
              <a:rPr lang="ko-KR" sz="7200">
                <a:solidFill>
                  <a:srgbClr val="724598"/>
                </a:solidFill>
                <a:latin typeface="KoPub돋움체 Bold" panose="02020603020101020101" pitchFamily="18" charset="-127"/>
                <a:ea typeface="KoPub돋움체 Bold" panose="02020603020101020101" pitchFamily="18" charset="-127"/>
                <a:cs typeface="KoPub돋움체 Bold"/>
              </a:rPr>
              <a:t>15</a:t>
            </a:r>
            <a:r>
              <a:rPr lang="ko-KR" sz="3000">
                <a:solidFill>
                  <a:srgbClr val="724598"/>
                </a:solidFill>
                <a:latin typeface="KoPub돋움체 Bold" panose="02020603020101020101" pitchFamily="18" charset="-127"/>
                <a:ea typeface="KoPub돋움체 Bold" panose="02020603020101020101" pitchFamily="18" charset="-127"/>
                <a:cs typeface="KoPub돋움체 Bold"/>
              </a:rPr>
              <a:t>명</a:t>
            </a:r>
          </a:p>
        </p:txBody>
      </p:sp>
      <p:sp>
        <p:nvSpPr>
          <p:cNvPr id="7" name="fig_0_label"/>
          <p:cNvSpPr txBox="1"/>
          <p:nvPr/>
        </p:nvSpPr>
        <p:spPr>
          <a:xfrm>
            <a:off x="621792" y="2788920"/>
            <a:ext cx="3404616" cy="36576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챌린저 참여</a:t>
            </a:r>
          </a:p>
        </p:txBody>
      </p:sp>
      <p:sp>
        <p:nvSpPr>
          <p:cNvPr id="8" name="fig_0_cond"/>
          <p:cNvSpPr txBox="1"/>
          <p:nvPr/>
        </p:nvSpPr>
        <p:spPr>
          <a:xfrm>
            <a:off x="621792" y="3154680"/>
            <a:ext cx="3404616" cy="32004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10개 부서 · 위촉 명단 기준</a:t>
            </a:r>
          </a:p>
        </p:txBody>
      </p:sp>
      <p:cxnSp>
        <p:nvCxnSpPr>
          <p:cNvPr id="9" name="line_18"/>
          <p:cNvCxnSpPr/>
          <p:nvPr/>
        </p:nvCxnSpPr>
        <p:spPr>
          <a:xfrm>
            <a:off x="4392167" y="1463040"/>
            <a:ext cx="3404616" cy="0"/>
          </a:xfrm>
          <a:prstGeom prst="line">
            <a:avLst/>
          </a:prstGeom>
          <a:ln w="31750">
            <a:solidFill>
              <a:srgbClr val="724598"/>
            </a:solidFill>
          </a:ln>
        </p:spPr>
        <p:style>
          <a:lnRef idx="2">
            <a:schemeClr val="accent1"/>
          </a:lnRef>
          <a:fillRef idx="0">
            <a:schemeClr val="accent1"/>
          </a:fillRef>
          <a:effectRef idx="1">
            <a:schemeClr val="accent1"/>
          </a:effectRef>
          <a:fontRef idx="minor">
            <a:schemeClr val="tx1"/>
          </a:fontRef>
        </p:style>
      </p:cxnSp>
      <p:sp>
        <p:nvSpPr>
          <p:cNvPr id="10" name="fig_1_num"/>
          <p:cNvSpPr txBox="1"/>
          <p:nvPr/>
        </p:nvSpPr>
        <p:spPr>
          <a:xfrm>
            <a:off x="4392167" y="1572768"/>
            <a:ext cx="3404616" cy="1143000"/>
          </a:xfrm>
          <a:prstGeom prst="rect">
            <a:avLst/>
          </a:prstGeom>
          <a:noFill/>
        </p:spPr>
        <p:txBody>
          <a:bodyPr wrap="square" lIns="0" tIns="0" rIns="0" bIns="0" anchor="b">
            <a:noAutofit/>
          </a:bodyPr>
          <a:lstStyle/>
          <a:p>
            <a:pPr algn="l" eaLnBrk="0"/>
            <a:r>
              <a:rPr lang="ko-KR" sz="7200">
                <a:solidFill>
                  <a:srgbClr val="724598"/>
                </a:solidFill>
                <a:latin typeface="KoPub돋움체 Bold" panose="02020603020101020101" pitchFamily="18" charset="-127"/>
                <a:ea typeface="KoPub돋움체 Bold" panose="02020603020101020101" pitchFamily="18" charset="-127"/>
                <a:cs typeface="KoPub돋움체 Bold"/>
              </a:rPr>
              <a:t>92.9</a:t>
            </a:r>
            <a:r>
              <a:rPr lang="ko-KR" sz="3000">
                <a:solidFill>
                  <a:srgbClr val="724598"/>
                </a:solidFill>
                <a:latin typeface="KoPub돋움체 Bold" panose="02020603020101020101" pitchFamily="18" charset="-127"/>
                <a:ea typeface="KoPub돋움체 Bold" panose="02020603020101020101" pitchFamily="18" charset="-127"/>
                <a:cs typeface="KoPub돋움체 Bold"/>
              </a:rPr>
              <a:t>%</a:t>
            </a:r>
          </a:p>
        </p:txBody>
      </p:sp>
      <p:sp>
        <p:nvSpPr>
          <p:cNvPr id="11" name="fig_1_label"/>
          <p:cNvSpPr txBox="1"/>
          <p:nvPr/>
        </p:nvSpPr>
        <p:spPr>
          <a:xfrm>
            <a:off x="4392167" y="2788920"/>
            <a:ext cx="3404616" cy="36576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응답자의 업무 AI 활용</a:t>
            </a:r>
          </a:p>
        </p:txBody>
      </p:sp>
      <p:sp>
        <p:nvSpPr>
          <p:cNvPr id="12" name="fig_1_cond"/>
          <p:cNvSpPr txBox="1"/>
          <p:nvPr/>
        </p:nvSpPr>
        <p:spPr>
          <a:xfrm>
            <a:off x="4392167" y="3154680"/>
            <a:ext cx="3404616" cy="32004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전 직원 설문 113명 응답 · 자기보고</a:t>
            </a:r>
          </a:p>
        </p:txBody>
      </p:sp>
      <p:cxnSp>
        <p:nvCxnSpPr>
          <p:cNvPr id="13" name="line_19"/>
          <p:cNvCxnSpPr/>
          <p:nvPr/>
        </p:nvCxnSpPr>
        <p:spPr>
          <a:xfrm>
            <a:off x="8162543" y="1463040"/>
            <a:ext cx="3404616" cy="0"/>
          </a:xfrm>
          <a:prstGeom prst="line">
            <a:avLst/>
          </a:prstGeom>
          <a:ln w="31750">
            <a:solidFill>
              <a:srgbClr val="724598"/>
            </a:solidFill>
          </a:ln>
        </p:spPr>
        <p:style>
          <a:lnRef idx="2">
            <a:schemeClr val="accent1"/>
          </a:lnRef>
          <a:fillRef idx="0">
            <a:schemeClr val="accent1"/>
          </a:fillRef>
          <a:effectRef idx="1">
            <a:schemeClr val="accent1"/>
          </a:effectRef>
          <a:fontRef idx="minor">
            <a:schemeClr val="tx1"/>
          </a:fontRef>
        </p:style>
      </p:cxnSp>
      <p:sp>
        <p:nvSpPr>
          <p:cNvPr id="14" name="fig_2_num"/>
          <p:cNvSpPr txBox="1"/>
          <p:nvPr/>
        </p:nvSpPr>
        <p:spPr>
          <a:xfrm>
            <a:off x="8162543" y="1572768"/>
            <a:ext cx="3404616" cy="1143000"/>
          </a:xfrm>
          <a:prstGeom prst="rect">
            <a:avLst/>
          </a:prstGeom>
          <a:noFill/>
        </p:spPr>
        <p:txBody>
          <a:bodyPr wrap="square" lIns="0" tIns="0" rIns="0" bIns="0" anchor="b">
            <a:noAutofit/>
          </a:bodyPr>
          <a:lstStyle/>
          <a:p>
            <a:pPr algn="l" eaLnBrk="0"/>
            <a:r>
              <a:rPr lang="ko-KR" sz="2000">
                <a:solidFill>
                  <a:srgbClr val="5E6672"/>
                </a:solidFill>
                <a:latin typeface="KoPub돋움체 Bold" panose="02020603020101020101" pitchFamily="18" charset="-127"/>
                <a:ea typeface="KoPub돋움체 Bold" panose="02020603020101020101" pitchFamily="18" charset="-127"/>
                <a:cs typeface="KoPub돋움체 Bold"/>
              </a:rPr>
              <a:t>약 20분 → </a:t>
            </a:r>
            <a:r>
              <a:rPr lang="ko-KR" sz="7200">
                <a:solidFill>
                  <a:srgbClr val="724598"/>
                </a:solidFill>
                <a:latin typeface="KoPub돋움체 Bold" panose="02020603020101020101" pitchFamily="18" charset="-127"/>
                <a:ea typeface="KoPub돋움체 Bold" panose="02020603020101020101" pitchFamily="18" charset="-127"/>
                <a:cs typeface="KoPub돋움체 Bold"/>
              </a:rPr>
              <a:t>1분</a:t>
            </a:r>
            <a:r>
              <a:rPr lang="ko-KR" sz="2400">
                <a:solidFill>
                  <a:srgbClr val="724598"/>
                </a:solidFill>
                <a:latin typeface="KoPub돋움체 Bold" panose="02020603020101020101" pitchFamily="18" charset="-127"/>
                <a:ea typeface="KoPub돋움체 Bold" panose="02020603020101020101" pitchFamily="18" charset="-127"/>
                <a:cs typeface="KoPub돋움체 Bold"/>
              </a:rPr>
              <a:t> 이내</a:t>
            </a:r>
          </a:p>
        </p:txBody>
      </p:sp>
      <p:sp>
        <p:nvSpPr>
          <p:cNvPr id="15" name="fig_2_label"/>
          <p:cNvSpPr txBox="1"/>
          <p:nvPr/>
        </p:nvSpPr>
        <p:spPr>
          <a:xfrm>
            <a:off x="8162543" y="2788920"/>
            <a:ext cx="3404616" cy="36576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안전교육일지 10개 작성</a:t>
            </a:r>
          </a:p>
        </p:txBody>
      </p:sp>
      <p:sp>
        <p:nvSpPr>
          <p:cNvPr id="16" name="fig_2_cond"/>
          <p:cNvSpPr txBox="1"/>
          <p:nvPr/>
        </p:nvSpPr>
        <p:spPr>
          <a:xfrm>
            <a:off x="8162543" y="3154680"/>
            <a:ext cx="3404616" cy="32004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소사청소년센터 제출 사례</a:t>
            </a:r>
          </a:p>
        </p:txBody>
      </p:sp>
      <p:cxnSp>
        <p:nvCxnSpPr>
          <p:cNvPr id="17" name="line_20"/>
          <p:cNvCxnSpPr/>
          <p:nvPr/>
        </p:nvCxnSpPr>
        <p:spPr>
          <a:xfrm>
            <a:off x="621792" y="3840480"/>
            <a:ext cx="3404616" cy="0"/>
          </a:xfrm>
          <a:prstGeom prst="line">
            <a:avLst/>
          </a:prstGeom>
          <a:ln w="31750">
            <a:solidFill>
              <a:srgbClr val="156A3A"/>
            </a:solidFill>
          </a:ln>
        </p:spPr>
        <p:style>
          <a:lnRef idx="2">
            <a:schemeClr val="accent1"/>
          </a:lnRef>
          <a:fillRef idx="0">
            <a:schemeClr val="accent1"/>
          </a:fillRef>
          <a:effectRef idx="1">
            <a:schemeClr val="accent1"/>
          </a:effectRef>
          <a:fontRef idx="minor">
            <a:schemeClr val="tx1"/>
          </a:fontRef>
        </p:style>
      </p:cxnSp>
      <p:sp>
        <p:nvSpPr>
          <p:cNvPr id="18" name="fig_3_num"/>
          <p:cNvSpPr txBox="1"/>
          <p:nvPr/>
        </p:nvSpPr>
        <p:spPr>
          <a:xfrm>
            <a:off x="621792" y="3950208"/>
            <a:ext cx="3404616" cy="1143000"/>
          </a:xfrm>
          <a:prstGeom prst="rect">
            <a:avLst/>
          </a:prstGeom>
          <a:noFill/>
        </p:spPr>
        <p:txBody>
          <a:bodyPr wrap="square" lIns="0" tIns="0" rIns="0" bIns="0" anchor="b">
            <a:noAutofit/>
          </a:bodyPr>
          <a:lstStyle/>
          <a:p>
            <a:pPr algn="l" eaLnBrk="0"/>
            <a:r>
              <a:rPr lang="ko-KR" sz="2000">
                <a:solidFill>
                  <a:srgbClr val="5E6672"/>
                </a:solidFill>
                <a:latin typeface="KoPub돋움체 Bold" panose="02020603020101020101" pitchFamily="18" charset="-127"/>
                <a:ea typeface="KoPub돋움체 Bold" panose="02020603020101020101" pitchFamily="18" charset="-127"/>
                <a:cs typeface="KoPub돋움체 Bold"/>
              </a:rPr>
              <a:t>40분 → </a:t>
            </a:r>
            <a:r>
              <a:rPr lang="ko-KR" sz="7200">
                <a:solidFill>
                  <a:srgbClr val="156A3A"/>
                </a:solidFill>
                <a:latin typeface="KoPub돋움체 Bold" panose="02020603020101020101" pitchFamily="18" charset="-127"/>
                <a:ea typeface="KoPub돋움체 Bold" panose="02020603020101020101" pitchFamily="18" charset="-127"/>
                <a:cs typeface="KoPub돋움체 Bold"/>
              </a:rPr>
              <a:t>5</a:t>
            </a:r>
            <a:r>
              <a:rPr lang="ko-KR" sz="3000">
                <a:solidFill>
                  <a:srgbClr val="156A3A"/>
                </a:solidFill>
                <a:latin typeface="KoPub돋움체 Bold" panose="02020603020101020101" pitchFamily="18" charset="-127"/>
                <a:ea typeface="KoPub돋움체 Bold" panose="02020603020101020101" pitchFamily="18" charset="-127"/>
                <a:cs typeface="KoPub돋움체 Bold"/>
              </a:rPr>
              <a:t>분</a:t>
            </a:r>
          </a:p>
        </p:txBody>
      </p:sp>
      <p:sp>
        <p:nvSpPr>
          <p:cNvPr id="19" name="fig_3_label"/>
          <p:cNvSpPr txBox="1"/>
          <p:nvPr/>
        </p:nvSpPr>
        <p:spPr>
          <a:xfrm>
            <a:off x="621792" y="5166360"/>
            <a:ext cx="3404616" cy="36576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보안점검 결과 정리</a:t>
            </a:r>
          </a:p>
        </p:txBody>
      </p:sp>
      <p:sp>
        <p:nvSpPr>
          <p:cNvPr id="20" name="fig_3_cond"/>
          <p:cNvSpPr txBox="1"/>
          <p:nvPr/>
        </p:nvSpPr>
        <p:spPr>
          <a:xfrm>
            <a:off x="621792" y="5532120"/>
            <a:ext cx="3404616" cy="32004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전략경영실 담당자 사례</a:t>
            </a:r>
          </a:p>
        </p:txBody>
      </p:sp>
      <p:cxnSp>
        <p:nvCxnSpPr>
          <p:cNvPr id="21" name="line_21"/>
          <p:cNvCxnSpPr/>
          <p:nvPr/>
        </p:nvCxnSpPr>
        <p:spPr>
          <a:xfrm>
            <a:off x="4392167" y="3840480"/>
            <a:ext cx="3404616" cy="0"/>
          </a:xfrm>
          <a:prstGeom prst="line">
            <a:avLst/>
          </a:prstGeom>
          <a:ln w="31750">
            <a:solidFill>
              <a:srgbClr val="156A3A"/>
            </a:solidFill>
          </a:ln>
        </p:spPr>
        <p:style>
          <a:lnRef idx="2">
            <a:schemeClr val="accent1"/>
          </a:lnRef>
          <a:fillRef idx="0">
            <a:schemeClr val="accent1"/>
          </a:fillRef>
          <a:effectRef idx="1">
            <a:schemeClr val="accent1"/>
          </a:effectRef>
          <a:fontRef idx="minor">
            <a:schemeClr val="tx1"/>
          </a:fontRef>
        </p:style>
      </p:cxnSp>
      <p:sp>
        <p:nvSpPr>
          <p:cNvPr id="22" name="fig_4_num"/>
          <p:cNvSpPr txBox="1"/>
          <p:nvPr/>
        </p:nvSpPr>
        <p:spPr>
          <a:xfrm>
            <a:off x="4392167" y="3950208"/>
            <a:ext cx="3404616" cy="1143000"/>
          </a:xfrm>
          <a:prstGeom prst="rect">
            <a:avLst/>
          </a:prstGeom>
          <a:noFill/>
        </p:spPr>
        <p:txBody>
          <a:bodyPr wrap="square" lIns="0" tIns="0" rIns="0" bIns="0" anchor="b">
            <a:noAutofit/>
          </a:bodyPr>
          <a:lstStyle/>
          <a:p>
            <a:pPr algn="l" eaLnBrk="0"/>
            <a:r>
              <a:rPr lang="ko-KR" sz="7200">
                <a:solidFill>
                  <a:srgbClr val="156A3A"/>
                </a:solidFill>
                <a:latin typeface="KoPub돋움체 Bold" panose="02020603020101020101" pitchFamily="18" charset="-127"/>
                <a:ea typeface="KoPub돋움체 Bold" panose="02020603020101020101" pitchFamily="18" charset="-127"/>
                <a:cs typeface="KoPub돋움체 Bold"/>
              </a:rPr>
              <a:t>3</a:t>
            </a:r>
            <a:r>
              <a:rPr lang="ko-KR" sz="3000">
                <a:solidFill>
                  <a:srgbClr val="156A3A"/>
                </a:solidFill>
                <a:latin typeface="KoPub돋움체 Bold" panose="02020603020101020101" pitchFamily="18" charset="-127"/>
                <a:ea typeface="KoPub돋움체 Bold" panose="02020603020101020101" pitchFamily="18" charset="-127"/>
                <a:cs typeface="KoPub돋움체 Bold"/>
              </a:rPr>
              <a:t>곳</a:t>
            </a:r>
          </a:p>
        </p:txBody>
      </p:sp>
      <p:sp>
        <p:nvSpPr>
          <p:cNvPr id="23" name="fig_4_label"/>
          <p:cNvSpPr txBox="1"/>
          <p:nvPr/>
        </p:nvSpPr>
        <p:spPr>
          <a:xfrm>
            <a:off x="4392167" y="5166360"/>
            <a:ext cx="3404616" cy="36576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부서 직원 AI 활용 워크숍</a:t>
            </a:r>
          </a:p>
        </p:txBody>
      </p:sp>
      <p:sp>
        <p:nvSpPr>
          <p:cNvPr id="24" name="fig_4_cond"/>
          <p:cNvSpPr txBox="1"/>
          <p:nvPr/>
        </p:nvSpPr>
        <p:spPr>
          <a:xfrm>
            <a:off x="4392167" y="5532120"/>
            <a:ext cx="3404616" cy="32004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소사 6.17. · 일쉼 7.29. · 산울림 9.22.</a:t>
            </a:r>
          </a:p>
        </p:txBody>
      </p:sp>
      <p:cxnSp>
        <p:nvCxnSpPr>
          <p:cNvPr id="25" name="line_22"/>
          <p:cNvCxnSpPr/>
          <p:nvPr/>
        </p:nvCxnSpPr>
        <p:spPr>
          <a:xfrm>
            <a:off x="8162543" y="3840480"/>
            <a:ext cx="3404616" cy="0"/>
          </a:xfrm>
          <a:prstGeom prst="line">
            <a:avLst/>
          </a:prstGeom>
          <a:ln w="31750">
            <a:solidFill>
              <a:srgbClr val="156A3A"/>
            </a:solidFill>
          </a:ln>
        </p:spPr>
        <p:style>
          <a:lnRef idx="2">
            <a:schemeClr val="accent1"/>
          </a:lnRef>
          <a:fillRef idx="0">
            <a:schemeClr val="accent1"/>
          </a:fillRef>
          <a:effectRef idx="1">
            <a:schemeClr val="accent1"/>
          </a:effectRef>
          <a:fontRef idx="minor">
            <a:schemeClr val="tx1"/>
          </a:fontRef>
        </p:style>
      </p:cxnSp>
      <p:sp>
        <p:nvSpPr>
          <p:cNvPr id="26" name="fig_5_num"/>
          <p:cNvSpPr txBox="1"/>
          <p:nvPr/>
        </p:nvSpPr>
        <p:spPr>
          <a:xfrm>
            <a:off x="8162543" y="3950208"/>
            <a:ext cx="3404616" cy="1143000"/>
          </a:xfrm>
          <a:prstGeom prst="rect">
            <a:avLst/>
          </a:prstGeom>
          <a:noFill/>
        </p:spPr>
        <p:txBody>
          <a:bodyPr wrap="square" lIns="0" tIns="0" rIns="0" bIns="0" anchor="b">
            <a:noAutofit/>
          </a:bodyPr>
          <a:lstStyle/>
          <a:p>
            <a:pPr algn="l" eaLnBrk="0"/>
            <a:r>
              <a:rPr lang="ko-KR" sz="2000">
                <a:solidFill>
                  <a:srgbClr val="5E6672"/>
                </a:solidFill>
                <a:latin typeface="KoPub돋움체 Bold" panose="02020603020101020101" pitchFamily="18" charset="-127"/>
                <a:ea typeface="KoPub돋움체 Bold" panose="02020603020101020101" pitchFamily="18" charset="-127"/>
                <a:cs typeface="KoPub돋움체 Bold"/>
              </a:rPr>
              <a:t>4명 → </a:t>
            </a:r>
            <a:r>
              <a:rPr lang="ko-KR" sz="7200">
                <a:solidFill>
                  <a:srgbClr val="156A3A"/>
                </a:solidFill>
                <a:latin typeface="KoPub돋움체 Bold" panose="02020603020101020101" pitchFamily="18" charset="-127"/>
                <a:ea typeface="KoPub돋움체 Bold" panose="02020603020101020101" pitchFamily="18" charset="-127"/>
                <a:cs typeface="KoPub돋움체 Bold"/>
              </a:rPr>
              <a:t>2</a:t>
            </a:r>
            <a:r>
              <a:rPr lang="ko-KR" sz="3000">
                <a:solidFill>
                  <a:srgbClr val="156A3A"/>
                </a:solidFill>
                <a:latin typeface="KoPub돋움체 Bold" panose="02020603020101020101" pitchFamily="18" charset="-127"/>
                <a:ea typeface="KoPub돋움체 Bold" panose="02020603020101020101" pitchFamily="18" charset="-127"/>
                <a:cs typeface="KoPub돋움체 Bold"/>
              </a:rPr>
              <a:t>명</a:t>
            </a:r>
          </a:p>
        </p:txBody>
      </p:sp>
      <p:sp>
        <p:nvSpPr>
          <p:cNvPr id="27" name="fig_5_label"/>
          <p:cNvSpPr txBox="1"/>
          <p:nvPr/>
        </p:nvSpPr>
        <p:spPr>
          <a:xfrm>
            <a:off x="8162543" y="5166360"/>
            <a:ext cx="3404616" cy="365760"/>
          </a:xfrm>
          <a:prstGeom prst="rect">
            <a:avLst/>
          </a:prstGeom>
          <a:noFill/>
        </p:spPr>
        <p:txBody>
          <a:bodyPr wrap="square" lIns="0" tIns="0" rIns="0" bIns="0" anchor="t">
            <a:noAutofit/>
          </a:bodyPr>
          <a:lstStyle/>
          <a:p>
            <a:pPr algn="l" eaLnBrk="0"/>
            <a:r>
              <a:rPr lang="ko-KR" sz="1700">
                <a:solidFill>
                  <a:srgbClr val="1F1F1F"/>
                </a:solidFill>
                <a:latin typeface="KoPub돋움체 Bold" panose="02020603020101020101" pitchFamily="18" charset="-127"/>
                <a:ea typeface="KoPub돋움체 Bold" panose="02020603020101020101" pitchFamily="18" charset="-127"/>
                <a:cs typeface="KoPub돋움체 Bold"/>
              </a:rPr>
              <a:t>‘활용 방법 모름’ 응답</a:t>
            </a:r>
          </a:p>
        </p:txBody>
      </p:sp>
      <p:sp>
        <p:nvSpPr>
          <p:cNvPr id="28" name="fig_5_cond"/>
          <p:cNvSpPr txBox="1"/>
          <p:nvPr/>
        </p:nvSpPr>
        <p:spPr>
          <a:xfrm>
            <a:off x="8162543" y="5532120"/>
            <a:ext cx="3404616" cy="32004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일쉼 공동실습 6명 · 자기보고</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AI 활용 경험은 넓고, 현장 지원은 더 필요합니다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직원 현황조사</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2026. 6. 10.~30. 전 직원 AI 활용성 설문 · 응답자 자기보고 기준</a:t>
            </a:r>
          </a:p>
        </p:txBody>
      </p:sp>
      <p:sp>
        <p:nvSpPr>
          <p:cNvPr id="5" name="kpi_0_box"/>
          <p:cNvSpPr/>
          <p:nvPr/>
        </p:nvSpPr>
        <p:spPr>
          <a:xfrm>
            <a:off x="621792" y="1508760"/>
            <a:ext cx="3465576" cy="283464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6" name="kpi_0_bar"/>
          <p:cNvSpPr/>
          <p:nvPr/>
        </p:nvSpPr>
        <p:spPr>
          <a:xfrm>
            <a:off x="621792" y="1508760"/>
            <a:ext cx="3465576"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kpi_0_num"/>
          <p:cNvSpPr txBox="1"/>
          <p:nvPr/>
        </p:nvSpPr>
        <p:spPr>
          <a:xfrm>
            <a:off x="941832" y="1783080"/>
            <a:ext cx="2825496" cy="1097280"/>
          </a:xfrm>
          <a:prstGeom prst="rect">
            <a:avLst/>
          </a:prstGeom>
          <a:noFill/>
        </p:spPr>
        <p:txBody>
          <a:bodyPr wrap="square" lIns="0" tIns="0" rIns="0" bIns="0" anchor="b">
            <a:noAutofit/>
          </a:bodyPr>
          <a:lstStyle/>
          <a:p>
            <a:pPr algn="l"/>
            <a:r>
              <a:rPr lang="ko-KR" sz="6000">
                <a:solidFill>
                  <a:srgbClr val="724598"/>
                </a:solidFill>
                <a:latin typeface="KoPub돋움체 Bold" panose="02020603020101020101" pitchFamily="18" charset="-127"/>
                <a:ea typeface="KoPub돋움체 Bold" panose="02020603020101020101" pitchFamily="18" charset="-127"/>
                <a:cs typeface="KoPub돋움체 Bold"/>
              </a:rPr>
              <a:t>113명</a:t>
            </a:r>
          </a:p>
        </p:txBody>
      </p:sp>
      <p:sp>
        <p:nvSpPr>
          <p:cNvPr id="8" name="kpi_0_label"/>
          <p:cNvSpPr txBox="1"/>
          <p:nvPr/>
        </p:nvSpPr>
        <p:spPr>
          <a:xfrm>
            <a:off x="941832" y="3063240"/>
            <a:ext cx="2825496" cy="411480"/>
          </a:xfrm>
          <a:prstGeom prst="rect">
            <a:avLst/>
          </a:prstGeom>
          <a:noFill/>
        </p:spPr>
        <p:txBody>
          <a:bodyPr wrap="square" lIns="0" tIns="0" rIns="0" bIns="0" anchor="t">
            <a:noAutofit/>
          </a:bodyPr>
          <a:lstStyle/>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설문 응답</a:t>
            </a:r>
          </a:p>
        </p:txBody>
      </p:sp>
      <p:sp>
        <p:nvSpPr>
          <p:cNvPr id="9" name="kpi_0_sub"/>
          <p:cNvSpPr txBox="1"/>
          <p:nvPr/>
        </p:nvSpPr>
        <p:spPr>
          <a:xfrm>
            <a:off x="941832" y="3566160"/>
            <a:ext cx="2825496" cy="73152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조사 대상 143명 · 응답률 79.0%</a:t>
            </a:r>
          </a:p>
        </p:txBody>
      </p:sp>
      <p:sp>
        <p:nvSpPr>
          <p:cNvPr id="10" name="kpi_1_box"/>
          <p:cNvSpPr/>
          <p:nvPr/>
        </p:nvSpPr>
        <p:spPr>
          <a:xfrm>
            <a:off x="4361688" y="1508760"/>
            <a:ext cx="3465576" cy="283464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1" name="kpi_1_bar"/>
          <p:cNvSpPr/>
          <p:nvPr/>
        </p:nvSpPr>
        <p:spPr>
          <a:xfrm>
            <a:off x="4361688" y="1508760"/>
            <a:ext cx="3465576"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2" name="kpi_1_num"/>
          <p:cNvSpPr txBox="1"/>
          <p:nvPr/>
        </p:nvSpPr>
        <p:spPr>
          <a:xfrm>
            <a:off x="4681727" y="1783080"/>
            <a:ext cx="2825496" cy="1097280"/>
          </a:xfrm>
          <a:prstGeom prst="rect">
            <a:avLst/>
          </a:prstGeom>
          <a:noFill/>
        </p:spPr>
        <p:txBody>
          <a:bodyPr wrap="square" lIns="0" tIns="0" rIns="0" bIns="0" anchor="b">
            <a:noAutofit/>
          </a:bodyPr>
          <a:lstStyle/>
          <a:p>
            <a:pPr algn="l"/>
            <a:r>
              <a:rPr lang="ko-KR" sz="6000">
                <a:solidFill>
                  <a:srgbClr val="724598"/>
                </a:solidFill>
                <a:latin typeface="KoPub돋움체 Bold" panose="02020603020101020101" pitchFamily="18" charset="-127"/>
                <a:ea typeface="KoPub돋움체 Bold" panose="02020603020101020101" pitchFamily="18" charset="-127"/>
                <a:cs typeface="KoPub돋움체 Bold"/>
              </a:rPr>
              <a:t>92.9%</a:t>
            </a:r>
          </a:p>
        </p:txBody>
      </p:sp>
      <p:sp>
        <p:nvSpPr>
          <p:cNvPr id="13" name="kpi_1_label"/>
          <p:cNvSpPr txBox="1"/>
          <p:nvPr/>
        </p:nvSpPr>
        <p:spPr>
          <a:xfrm>
            <a:off x="4681727" y="3063240"/>
            <a:ext cx="2825496" cy="411480"/>
          </a:xfrm>
          <a:prstGeom prst="rect">
            <a:avLst/>
          </a:prstGeom>
          <a:noFill/>
        </p:spPr>
        <p:txBody>
          <a:bodyPr wrap="square" lIns="0" tIns="0" rIns="0" bIns="0" anchor="t">
            <a:noAutofit/>
          </a:bodyPr>
          <a:lstStyle/>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업무에 AI 활용</a:t>
            </a:r>
          </a:p>
        </p:txBody>
      </p:sp>
      <p:sp>
        <p:nvSpPr>
          <p:cNvPr id="14" name="kpi_1_sub"/>
          <p:cNvSpPr txBox="1"/>
          <p:nvPr/>
        </p:nvSpPr>
        <p:spPr>
          <a:xfrm>
            <a:off x="4681727" y="3566160"/>
            <a:ext cx="2825496" cy="73152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응답자 105/113명</a:t>
            </a:r>
          </a:p>
        </p:txBody>
      </p:sp>
      <p:sp>
        <p:nvSpPr>
          <p:cNvPr id="15" name="kpi_2_box"/>
          <p:cNvSpPr/>
          <p:nvPr/>
        </p:nvSpPr>
        <p:spPr>
          <a:xfrm>
            <a:off x="8101583" y="1508760"/>
            <a:ext cx="3465576" cy="283464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6" name="kpi_2_bar"/>
          <p:cNvSpPr/>
          <p:nvPr/>
        </p:nvSpPr>
        <p:spPr>
          <a:xfrm>
            <a:off x="8101583" y="1508760"/>
            <a:ext cx="3465576"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7" name="kpi_2_num"/>
          <p:cNvSpPr txBox="1"/>
          <p:nvPr/>
        </p:nvSpPr>
        <p:spPr>
          <a:xfrm>
            <a:off x="8421624" y="1783080"/>
            <a:ext cx="2825496" cy="1097280"/>
          </a:xfrm>
          <a:prstGeom prst="rect">
            <a:avLst/>
          </a:prstGeom>
          <a:noFill/>
        </p:spPr>
        <p:txBody>
          <a:bodyPr wrap="square" lIns="0" tIns="0" rIns="0" bIns="0" anchor="b">
            <a:noAutofit/>
          </a:bodyPr>
          <a:lstStyle/>
          <a:p>
            <a:pPr algn="l"/>
            <a:r>
              <a:rPr lang="ko-KR" sz="6000">
                <a:solidFill>
                  <a:srgbClr val="724598"/>
                </a:solidFill>
                <a:latin typeface="KoPub돋움체 Bold" panose="02020603020101020101" pitchFamily="18" charset="-127"/>
                <a:ea typeface="KoPub돋움체 Bold" panose="02020603020101020101" pitchFamily="18" charset="-127"/>
                <a:cs typeface="KoPub돋움체 Bold"/>
              </a:rPr>
              <a:t>4.96</a:t>
            </a:r>
            <a:r>
              <a:rPr lang="ko-KR" sz="2400">
                <a:solidFill>
                  <a:srgbClr val="5E6672"/>
                </a:solidFill>
                <a:latin typeface="KoPub돋움체 Bold" panose="02020603020101020101" pitchFamily="18" charset="-127"/>
                <a:ea typeface="KoPub돋움체 Bold" panose="02020603020101020101" pitchFamily="18" charset="-127"/>
                <a:cs typeface="KoPub돋움체 Bold"/>
              </a:rPr>
              <a:t> /10</a:t>
            </a:r>
          </a:p>
        </p:txBody>
      </p:sp>
      <p:sp>
        <p:nvSpPr>
          <p:cNvPr id="18" name="kpi_2_label"/>
          <p:cNvSpPr txBox="1"/>
          <p:nvPr/>
        </p:nvSpPr>
        <p:spPr>
          <a:xfrm>
            <a:off x="8421624" y="3063240"/>
            <a:ext cx="2825496" cy="411480"/>
          </a:xfrm>
          <a:prstGeom prst="rect">
            <a:avLst/>
          </a:prstGeom>
          <a:noFill/>
        </p:spPr>
        <p:txBody>
          <a:bodyPr wrap="square" lIns="0" tIns="0" rIns="0" bIns="0" anchor="t">
            <a:noAutofit/>
          </a:bodyPr>
          <a:lstStyle/>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활용 자신감 평균</a:t>
            </a:r>
          </a:p>
        </p:txBody>
      </p:sp>
      <p:sp>
        <p:nvSpPr>
          <p:cNvPr id="19" name="kpi_2_sub"/>
          <p:cNvSpPr txBox="1"/>
          <p:nvPr/>
        </p:nvSpPr>
        <p:spPr>
          <a:xfrm>
            <a:off x="8421624" y="3566160"/>
            <a:ext cx="2825496" cy="73152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10점 만점 · n=113</a:t>
            </a:r>
          </a:p>
        </p:txBody>
      </p:sp>
      <p:sp>
        <p:nvSpPr>
          <p:cNvPr id="20" name="survey_take_box"/>
          <p:cNvSpPr/>
          <p:nvPr/>
        </p:nvSpPr>
        <p:spPr>
          <a:xfrm>
            <a:off x="621792" y="4663440"/>
            <a:ext cx="10945368" cy="114300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1" name="survey_take"/>
          <p:cNvSpPr txBox="1"/>
          <p:nvPr/>
        </p:nvSpPr>
        <p:spPr>
          <a:xfrm>
            <a:off x="914400" y="4663440"/>
            <a:ext cx="10424160" cy="1143000"/>
          </a:xfrm>
          <a:prstGeom prst="rect">
            <a:avLst/>
          </a:prstGeom>
          <a:noFill/>
        </p:spPr>
        <p:txBody>
          <a:bodyPr wrap="square" lIns="0" tIns="0" rIns="0" bIns="0" anchor="ctr">
            <a:noAutofit/>
          </a:bodyPr>
          <a:lstStyle/>
          <a:p>
            <a:pPr algn="l"/>
            <a:r>
              <a:rPr lang="ko-KR" sz="1500" dirty="0">
                <a:solidFill>
                  <a:srgbClr val="724598"/>
                </a:solidFill>
                <a:latin typeface="KoPub돋움체 Bold" panose="02020603020101020101" pitchFamily="18" charset="-127"/>
                <a:ea typeface="KoPub돋움체 Bold" panose="02020603020101020101" pitchFamily="18" charset="-127"/>
                <a:cs typeface="KoPub돋움체 Bold"/>
              </a:rPr>
              <a:t>직원들이 원한 것  </a:t>
            </a:r>
            <a:r>
              <a:rPr lang="ko-KR" sz="1800" dirty="0">
                <a:solidFill>
                  <a:srgbClr val="3F2A5E"/>
                </a:solidFill>
                <a:latin typeface="KoPub돋움체 Bold" panose="02020603020101020101" pitchFamily="18" charset="-127"/>
                <a:ea typeface="KoPub돋움체 Bold" panose="02020603020101020101" pitchFamily="18" charset="-127"/>
                <a:cs typeface="KoPub돋움체 Bold"/>
              </a:rPr>
              <a:t>업무별 사례자료와 내 업무로 직접 해보는 실습 중심의 사용</a:t>
            </a:r>
            <a:r>
              <a:rPr lang="en-US" altLang="ko-KR" sz="1800" dirty="0">
                <a:solidFill>
                  <a:srgbClr val="3F2A5E"/>
                </a:solidFill>
                <a:latin typeface="KoPub돋움체 Bold" panose="02020603020101020101" pitchFamily="18" charset="-127"/>
                <a:ea typeface="KoPub돋움체 Bold" panose="02020603020101020101" pitchFamily="18" charset="-127"/>
                <a:cs typeface="KoPub돋움체 Bold"/>
              </a:rPr>
              <a:t> </a:t>
            </a:r>
            <a:r>
              <a:rPr lang="ko-KR" sz="1800" dirty="0">
                <a:solidFill>
                  <a:srgbClr val="3F2A5E"/>
                </a:solidFill>
                <a:latin typeface="KoPub돋움체 Bold" panose="02020603020101020101" pitchFamily="18" charset="-127"/>
                <a:ea typeface="KoPub돋움체 Bold" panose="02020603020101020101" pitchFamily="18" charset="-127"/>
                <a:cs typeface="KoPub돋움체 Bold"/>
              </a:rPr>
              <a:t>지원</a:t>
            </a:r>
            <a:r>
              <a:rPr lang="ko-KR" altLang="en-US" sz="1800" dirty="0">
                <a:solidFill>
                  <a:srgbClr val="3F2A5E"/>
                </a:solidFill>
                <a:latin typeface="KoPub돋움체 Bold" panose="02020603020101020101" pitchFamily="18" charset="-127"/>
                <a:ea typeface="KoPub돋움체 Bold" panose="02020603020101020101" pitchFamily="18" charset="-127"/>
                <a:cs typeface="KoPub돋움체 Bold"/>
              </a:rPr>
              <a:t>을</a:t>
            </a:r>
            <a:r>
              <a:rPr lang="en-US" altLang="ko-KR" sz="1800" dirty="0">
                <a:solidFill>
                  <a:srgbClr val="3F2A5E"/>
                </a:solidFill>
                <a:latin typeface="KoPub돋움체 Bold" panose="02020603020101020101" pitchFamily="18" charset="-127"/>
                <a:ea typeface="KoPub돋움체 Bold" panose="02020603020101020101" pitchFamily="18" charset="-127"/>
                <a:cs typeface="KoPub돋움체 Bold"/>
              </a:rPr>
              <a:t> </a:t>
            </a:r>
            <a:r>
              <a:rPr lang="ko-KR" altLang="en-US" sz="1800" dirty="0">
                <a:solidFill>
                  <a:srgbClr val="3F2A5E"/>
                </a:solidFill>
                <a:latin typeface="KoPub돋움체 Bold" panose="02020603020101020101" pitchFamily="18" charset="-127"/>
                <a:ea typeface="KoPub돋움체 Bold" panose="02020603020101020101" pitchFamily="18" charset="-127"/>
                <a:cs typeface="KoPub돋움체 Bold"/>
              </a:rPr>
              <a:t>희망</a:t>
            </a:r>
            <a:endParaRPr lang="ko-KR" sz="1800" dirty="0">
              <a:solidFill>
                <a:srgbClr val="3F2A5E"/>
              </a:solidFill>
              <a:latin typeface="KoPub돋움체 Bold" panose="02020603020101020101" pitchFamily="18" charset="-127"/>
              <a:ea typeface="KoPub돋움체 Bold" panose="02020603020101020101" pitchFamily="18" charset="-127"/>
              <a:cs typeface="KoPub돋움체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함께 쓸 기반 세 가지를 정비했습니다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통합 결과물</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HWPX 전환 공표 · AI 활용성 조사 결과분석보고서(7.7.) · 윤리지침 작업본(8.27.)</a:t>
            </a:r>
          </a:p>
        </p:txBody>
      </p:sp>
      <p:sp>
        <p:nvSpPr>
          <p:cNvPr id="5" name="foundation_0_box"/>
          <p:cNvSpPr/>
          <p:nvPr/>
        </p:nvSpPr>
        <p:spPr>
          <a:xfrm>
            <a:off x="621792" y="1508760"/>
            <a:ext cx="3465576" cy="3246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6" name="foundation_0_bar"/>
          <p:cNvSpPr/>
          <p:nvPr/>
        </p:nvSpPr>
        <p:spPr>
          <a:xfrm>
            <a:off x="621792" y="1508760"/>
            <a:ext cx="3465576" cy="73152"/>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foundation_0_num"/>
          <p:cNvSpPr txBox="1"/>
          <p:nvPr/>
        </p:nvSpPr>
        <p:spPr>
          <a:xfrm>
            <a:off x="896112" y="1783080"/>
            <a:ext cx="914400" cy="411480"/>
          </a:xfrm>
          <a:prstGeom prst="rect">
            <a:avLst/>
          </a:prstGeom>
          <a:noFill/>
        </p:spPr>
        <p:txBody>
          <a:bodyPr wrap="square" lIns="0" tIns="0" rIns="0" bIns="0" anchor="t">
            <a:noAutofit/>
          </a:bodyPr>
          <a:lstStyle/>
          <a:p>
            <a:pPr algn="l"/>
            <a:r>
              <a:rPr lang="ko-KR" sz="2200">
                <a:solidFill>
                  <a:srgbClr val="724598"/>
                </a:solidFill>
                <a:latin typeface="KoPub돋움체 Bold" panose="02020603020101020101" pitchFamily="18" charset="-127"/>
                <a:ea typeface="KoPub돋움체 Bold" panose="02020603020101020101" pitchFamily="18" charset="-127"/>
                <a:cs typeface="KoPub돋움체 Bold"/>
              </a:rPr>
              <a:t>01</a:t>
            </a:r>
          </a:p>
        </p:txBody>
      </p:sp>
      <p:sp>
        <p:nvSpPr>
          <p:cNvPr id="8" name="foundation_0_chip"/>
          <p:cNvSpPr/>
          <p:nvPr/>
        </p:nvSpPr>
        <p:spPr>
          <a:xfrm>
            <a:off x="2212848" y="1828800"/>
            <a:ext cx="1600200" cy="292608"/>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200">
                <a:solidFill>
                  <a:srgbClr val="FFFFFF"/>
                </a:solidFill>
                <a:latin typeface="KoPub돋움체 Bold" panose="02020603020101020101" pitchFamily="18" charset="-127"/>
                <a:ea typeface="KoPub돋움체 Bold" panose="02020603020101020101" pitchFamily="18" charset="-127"/>
                <a:cs typeface="KoPub돋움체 Bold"/>
              </a:rPr>
              <a:t>적용 지원 중</a:t>
            </a:r>
          </a:p>
        </p:txBody>
      </p:sp>
      <p:sp>
        <p:nvSpPr>
          <p:cNvPr id="9" name="foundation_0_title"/>
          <p:cNvSpPr txBox="1"/>
          <p:nvPr/>
        </p:nvSpPr>
        <p:spPr>
          <a:xfrm>
            <a:off x="896112" y="2377440"/>
            <a:ext cx="2926080" cy="50292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문서 전환</a:t>
            </a:r>
          </a:p>
        </p:txBody>
      </p:sp>
      <p:sp>
        <p:nvSpPr>
          <p:cNvPr id="10" name="foundation_0_items"/>
          <p:cNvSpPr txBox="1"/>
          <p:nvPr/>
        </p:nvSpPr>
        <p:spPr>
          <a:xfrm>
            <a:off x="896112" y="3108960"/>
            <a:ext cx="2971800" cy="155448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HWPX 전환 공표·적용 지원</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AI 결과를 업무 문서로 연결</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서식·저장 관행 정착 지원</a:t>
            </a:r>
          </a:p>
        </p:txBody>
      </p:sp>
      <p:sp>
        <p:nvSpPr>
          <p:cNvPr id="11" name="foundation_1_box"/>
          <p:cNvSpPr/>
          <p:nvPr/>
        </p:nvSpPr>
        <p:spPr>
          <a:xfrm>
            <a:off x="4361688" y="1508760"/>
            <a:ext cx="3465576" cy="3246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2" name="foundation_1_bar"/>
          <p:cNvSpPr/>
          <p:nvPr/>
        </p:nvSpPr>
        <p:spPr>
          <a:xfrm>
            <a:off x="4361688" y="1508760"/>
            <a:ext cx="3465576"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3" name="foundation_1_num"/>
          <p:cNvSpPr txBox="1"/>
          <p:nvPr/>
        </p:nvSpPr>
        <p:spPr>
          <a:xfrm>
            <a:off x="4636007" y="1783080"/>
            <a:ext cx="914400" cy="411480"/>
          </a:xfrm>
          <a:prstGeom prst="rect">
            <a:avLst/>
          </a:prstGeom>
          <a:noFill/>
        </p:spPr>
        <p:txBody>
          <a:bodyPr wrap="square" lIns="0" tIns="0" rIns="0" bIns="0" anchor="t">
            <a:noAutofit/>
          </a:bodyPr>
          <a:lstStyle/>
          <a:p>
            <a:pPr algn="l"/>
            <a:r>
              <a:rPr lang="ko-KR" sz="2200">
                <a:solidFill>
                  <a:srgbClr val="724598"/>
                </a:solidFill>
                <a:latin typeface="KoPub돋움체 Bold" panose="02020603020101020101" pitchFamily="18" charset="-127"/>
                <a:ea typeface="KoPub돋움체 Bold" panose="02020603020101020101" pitchFamily="18" charset="-127"/>
                <a:cs typeface="KoPub돋움체 Bold"/>
              </a:rPr>
              <a:t>02</a:t>
            </a:r>
          </a:p>
        </p:txBody>
      </p:sp>
      <p:sp>
        <p:nvSpPr>
          <p:cNvPr id="14" name="foundation_1_chip"/>
          <p:cNvSpPr/>
          <p:nvPr/>
        </p:nvSpPr>
        <p:spPr>
          <a:xfrm>
            <a:off x="5952743" y="1828800"/>
            <a:ext cx="1600200" cy="292608"/>
          </a:xfrm>
          <a:prstGeom prst="roundRect">
            <a:avLst>
              <a:gd name="adj" fmla="val 50000"/>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200">
                <a:solidFill>
                  <a:srgbClr val="FFFFFF"/>
                </a:solidFill>
                <a:latin typeface="KoPub돋움체 Bold" panose="02020603020101020101" pitchFamily="18" charset="-127"/>
                <a:ea typeface="KoPub돋움체 Bold" panose="02020603020101020101" pitchFamily="18" charset="-127"/>
                <a:cs typeface="KoPub돋움체 Bold"/>
              </a:rPr>
              <a:t>조사·분석 완료</a:t>
            </a:r>
          </a:p>
        </p:txBody>
      </p:sp>
      <p:sp>
        <p:nvSpPr>
          <p:cNvPr id="15" name="foundation_1_title"/>
          <p:cNvSpPr txBox="1"/>
          <p:nvPr/>
        </p:nvSpPr>
        <p:spPr>
          <a:xfrm>
            <a:off x="4636007" y="2377440"/>
            <a:ext cx="2926080" cy="50292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현황조사</a:t>
            </a:r>
          </a:p>
        </p:txBody>
      </p:sp>
      <p:sp>
        <p:nvSpPr>
          <p:cNvPr id="16" name="foundation_1_items"/>
          <p:cNvSpPr txBox="1"/>
          <p:nvPr/>
        </p:nvSpPr>
        <p:spPr>
          <a:xfrm>
            <a:off x="4636007" y="3108960"/>
            <a:ext cx="2971800" cy="155448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전 직원 대상, 113명 응답</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활용 수준과 학습 수요 확인</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업무별 사례·실습 수요 도출</a:t>
            </a:r>
          </a:p>
        </p:txBody>
      </p:sp>
      <p:sp>
        <p:nvSpPr>
          <p:cNvPr id="17" name="foundation_2_box"/>
          <p:cNvSpPr/>
          <p:nvPr/>
        </p:nvSpPr>
        <p:spPr>
          <a:xfrm>
            <a:off x="8101583" y="1508760"/>
            <a:ext cx="3465576" cy="32461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8" name="foundation_2_bar"/>
          <p:cNvSpPr/>
          <p:nvPr/>
        </p:nvSpPr>
        <p:spPr>
          <a:xfrm>
            <a:off x="8101583" y="1508760"/>
            <a:ext cx="3465576" cy="73152"/>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9" name="foundation_2_num"/>
          <p:cNvSpPr txBox="1"/>
          <p:nvPr/>
        </p:nvSpPr>
        <p:spPr>
          <a:xfrm>
            <a:off x="8375904" y="1783080"/>
            <a:ext cx="914400" cy="411480"/>
          </a:xfrm>
          <a:prstGeom prst="rect">
            <a:avLst/>
          </a:prstGeom>
          <a:noFill/>
        </p:spPr>
        <p:txBody>
          <a:bodyPr wrap="square" lIns="0" tIns="0" rIns="0" bIns="0" anchor="t">
            <a:noAutofit/>
          </a:bodyPr>
          <a:lstStyle/>
          <a:p>
            <a:pPr algn="l"/>
            <a:r>
              <a:rPr lang="ko-KR" sz="2200">
                <a:solidFill>
                  <a:srgbClr val="724598"/>
                </a:solidFill>
                <a:latin typeface="KoPub돋움체 Bold" panose="02020603020101020101" pitchFamily="18" charset="-127"/>
                <a:ea typeface="KoPub돋움체 Bold" panose="02020603020101020101" pitchFamily="18" charset="-127"/>
                <a:cs typeface="KoPub돋움체 Bold"/>
              </a:rPr>
              <a:t>03</a:t>
            </a:r>
          </a:p>
        </p:txBody>
      </p:sp>
      <p:sp>
        <p:nvSpPr>
          <p:cNvPr id="20" name="foundation_2_chip"/>
          <p:cNvSpPr/>
          <p:nvPr/>
        </p:nvSpPr>
        <p:spPr>
          <a:xfrm>
            <a:off x="9692639" y="1828800"/>
            <a:ext cx="1600200" cy="292608"/>
          </a:xfrm>
          <a:prstGeom prst="roundRect">
            <a:avLst>
              <a:gd name="adj" fmla="val 50000"/>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200">
                <a:solidFill>
                  <a:srgbClr val="FFFFFF"/>
                </a:solidFill>
                <a:latin typeface="KoPub돋움체 Bold" panose="02020603020101020101" pitchFamily="18" charset="-127"/>
                <a:ea typeface="KoPub돋움체 Bold" panose="02020603020101020101" pitchFamily="18" charset="-127"/>
                <a:cs typeface="KoPub돋움체 Bold"/>
              </a:rPr>
              <a:t>지침안 공동 검토</a:t>
            </a:r>
          </a:p>
        </p:txBody>
      </p:sp>
      <p:sp>
        <p:nvSpPr>
          <p:cNvPr id="21" name="foundation_2_title"/>
          <p:cNvSpPr txBox="1"/>
          <p:nvPr/>
        </p:nvSpPr>
        <p:spPr>
          <a:xfrm>
            <a:off x="8375904" y="2377440"/>
            <a:ext cx="2926080" cy="502920"/>
          </a:xfrm>
          <a:prstGeom prst="rect">
            <a:avLst/>
          </a:prstGeom>
          <a:noFill/>
        </p:spPr>
        <p:txBody>
          <a:bodyPr wrap="square" lIns="0" tIns="0" rIns="0" bIns="0" anchor="t">
            <a:noAutofit/>
          </a:bodyPr>
          <a:lstStyle/>
          <a:p>
            <a:pPr algn="l"/>
            <a:r>
              <a:rPr lang="ko-KR" sz="2400">
                <a:solidFill>
                  <a:srgbClr val="1F1F1F"/>
                </a:solidFill>
                <a:latin typeface="KoPub돋움체 Bold" panose="02020603020101020101" pitchFamily="18" charset="-127"/>
                <a:ea typeface="KoPub돋움체 Bold" panose="02020603020101020101" pitchFamily="18" charset="-127"/>
                <a:cs typeface="KoPub돋움체 Bold"/>
              </a:rPr>
              <a:t>윤리지침안</a:t>
            </a:r>
          </a:p>
        </p:txBody>
      </p:sp>
      <p:sp>
        <p:nvSpPr>
          <p:cNvPr id="22" name="foundation_2_items"/>
          <p:cNvSpPr txBox="1"/>
          <p:nvPr/>
        </p:nvSpPr>
        <p:spPr>
          <a:xfrm>
            <a:off x="8375904" y="3108960"/>
            <a:ext cx="2971800" cy="155448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AI 활용 윤리 지침안 마련</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활용 범위와 결과 검토 책임</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업무자료 관리 기준 검토</a:t>
            </a:r>
          </a:p>
        </p:txBody>
      </p:sp>
      <p:sp>
        <p:nvSpPr>
          <p:cNvPr id="23" name="foundation_take_box"/>
          <p:cNvSpPr/>
          <p:nvPr/>
        </p:nvSpPr>
        <p:spPr>
          <a:xfrm>
            <a:off x="621792" y="5029200"/>
            <a:ext cx="10945368" cy="86868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4" name="foundation_take"/>
          <p:cNvSpPr txBox="1"/>
          <p:nvPr/>
        </p:nvSpPr>
        <p:spPr>
          <a:xfrm>
            <a:off x="914400" y="5029200"/>
            <a:ext cx="10424160" cy="868680"/>
          </a:xfrm>
          <a:prstGeom prst="rect">
            <a:avLst/>
          </a:prstGeom>
          <a:noFill/>
        </p:spPr>
        <p:txBody>
          <a:bodyPr wrap="square" lIns="0" tIns="0" rIns="0" bIns="0" anchor="ctr">
            <a:noAutofit/>
          </a:bodyPr>
          <a:lstStyle/>
          <a:p>
            <a:pPr algn="l"/>
            <a:r>
              <a:rPr lang="ko-KR" sz="1600">
                <a:solidFill>
                  <a:srgbClr val="3F2A5E"/>
                </a:solidFill>
                <a:latin typeface="KoPub돋움체 Bold" panose="02020603020101020101" pitchFamily="18" charset="-127"/>
                <a:ea typeface="KoPub돋움체 Bold" panose="02020603020101020101" pitchFamily="18" charset="-127"/>
                <a:cs typeface="KoPub돋움체 Bold"/>
              </a:rPr>
              <a:t>개별 도구가 담당자 경험에만 의존하지 않고, 기관 안에서 계속 쓰이도록 하는 공통 토대</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50"/>
                                        <p:tgtEl>
                                          <p:spTgt spid="12"/>
                                        </p:tgtEl>
                                      </p:cBhvr>
                                    </p:animEffect>
                                  </p:childTnLst>
                                </p:cTn>
                              </p:par>
                            </p:childTnLst>
                          </p:cTn>
                        </p:par>
                        <p:par>
                          <p:cTn id="12"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350"/>
                                        <p:tgtEl>
                                          <p:spTgt spid="13"/>
                                        </p:tgtEl>
                                      </p:cBhvr>
                                    </p:animEffect>
                                  </p:childTnLst>
                                </p:cTn>
                              </p:par>
                            </p:childTnLst>
                          </p:cTn>
                        </p:par>
                        <p:par>
                          <p:cTn id="16" fill="hold">
                            <p:stCondLst>
                              <p:cond delay="105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childTnLst>
                          </p:cTn>
                        </p:par>
                        <p:par>
                          <p:cTn id="20" fill="hold">
                            <p:stCondLst>
                              <p:cond delay="1400"/>
                            </p:stCondLst>
                            <p:childTnLst>
                              <p:par>
                                <p:cTn id="21" presetID="10"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50"/>
                                        <p:tgtEl>
                                          <p:spTgt spid="15"/>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childTnLst>
                          </p:cTn>
                        </p:par>
                        <p:par>
                          <p:cTn id="28" fill="hold">
                            <p:stCondLst>
                              <p:cond delay="21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350"/>
                                        <p:tgtEl>
                                          <p:spTgt spid="17"/>
                                        </p:tgtEl>
                                      </p:cBhvr>
                                    </p:animEffect>
                                  </p:childTnLst>
                                </p:cTn>
                              </p:par>
                            </p:childTnLst>
                          </p:cTn>
                        </p:par>
                        <p:par>
                          <p:cTn id="32" fill="hold">
                            <p:stCondLst>
                              <p:cond delay="2450"/>
                            </p:stCondLst>
                            <p:childTnLst>
                              <p:par>
                                <p:cTn id="33" presetID="10"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350"/>
                                        <p:tgtEl>
                                          <p:spTgt spid="18"/>
                                        </p:tgtEl>
                                      </p:cBhvr>
                                    </p:animEffect>
                                  </p:childTnLst>
                                </p:cTn>
                              </p:par>
                            </p:childTnLst>
                          </p:cTn>
                        </p:par>
                        <p:par>
                          <p:cTn id="36" fill="hold">
                            <p:stCondLst>
                              <p:cond delay="2800"/>
                            </p:stCondLst>
                            <p:childTnLst>
                              <p:par>
                                <p:cTn id="37" presetID="10" presetClass="entr" presetSubtype="0"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350"/>
                                        <p:tgtEl>
                                          <p:spTgt spid="19"/>
                                        </p:tgtEl>
                                      </p:cBhvr>
                                    </p:animEffect>
                                  </p:childTnLst>
                                </p:cTn>
                              </p:par>
                            </p:childTnLst>
                          </p:cTn>
                        </p:par>
                        <p:par>
                          <p:cTn id="40" fill="hold">
                            <p:stCondLst>
                              <p:cond delay="3150"/>
                            </p:stCondLst>
                            <p:childTnLst>
                              <p:par>
                                <p:cTn id="41" presetID="10" presetClass="entr" presetSubtype="0"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350"/>
                                        <p:tgtEl>
                                          <p:spTgt spid="20"/>
                                        </p:tgtEl>
                                      </p:cBhvr>
                                    </p:animEffect>
                                  </p:childTnLst>
                                </p:cTn>
                              </p:par>
                            </p:childTnLst>
                          </p:cTn>
                        </p:par>
                        <p:par>
                          <p:cTn id="44" fill="hold">
                            <p:stCondLst>
                              <p:cond delay="3500"/>
                            </p:stCondLst>
                            <p:childTnLst>
                              <p:par>
                                <p:cTn id="45" presetID="10" presetClass="entr" presetSubtype="0"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350"/>
                                        <p:tgtEl>
                                          <p:spTgt spid="21"/>
                                        </p:tgtEl>
                                      </p:cBhvr>
                                    </p:animEffect>
                                  </p:childTnLst>
                                </p:cTn>
                              </p:par>
                            </p:childTnLst>
                          </p:cTn>
                        </p:par>
                        <p:par>
                          <p:cTn id="48" fill="hold">
                            <p:stCondLst>
                              <p:cond delay="3850"/>
                            </p:stCondLst>
                            <p:childTnLst>
                              <p:par>
                                <p:cTn id="49" presetID="10" presetClass="entr" presetSubtype="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350"/>
                                        <p:tgtEl>
                                          <p:spTgt spid="22"/>
                                        </p:tgtEl>
                                      </p:cBhvr>
                                    </p:animEffect>
                                  </p:childTnLst>
                                </p:cTn>
                              </p:par>
                            </p:childTnLst>
                          </p:cTn>
                        </p:par>
                        <p:par>
                          <p:cTn id="52" fill="hold">
                            <p:stCondLst>
                              <p:cond delay="4200"/>
                            </p:stCondLst>
                            <p:childTnLst>
                              <p:par>
                                <p:cTn id="53" presetID="10" presetClass="entr"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50"/>
                                        <p:tgtEl>
                                          <p:spTgt spid="23"/>
                                        </p:tgtEl>
                                      </p:cBhvr>
                                    </p:animEffect>
                                  </p:childTnLst>
                                </p:cTn>
                              </p:par>
                            </p:childTnLst>
                          </p:cTn>
                        </p:par>
                        <p:par>
                          <p:cTn id="56" fill="hold">
                            <p:stCondLst>
                              <p:cond delay="4550"/>
                            </p:stCondLst>
                            <p:childTnLst>
                              <p:par>
                                <p:cTn id="57" presetID="10"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4" grpId="0" animBg="1"/>
      <p:bldP spid="15" grpId="0"/>
      <p:bldP spid="16" grpId="0"/>
      <p:bldP spid="17" grpId="0" animBg="1"/>
      <p:bldP spid="18" grpId="0" animBg="1"/>
      <p:bldP spid="19" grpId="0"/>
      <p:bldP spid="20" grpId="0" animBg="1"/>
      <p:bldP spid="21" grpId="0"/>
      <p:bldP spid="22" grpId="0"/>
      <p:bldP spid="23" grpId="0" animBg="1"/>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eaLnBrk="0"/>
            <a:r>
              <a:rPr lang="ko-KR" sz="2600">
                <a:solidFill>
                  <a:srgbClr val="1F1F1F"/>
                </a:solidFill>
                <a:latin typeface="KoPub돋움체 Bold" panose="02020603020101020101" pitchFamily="18" charset="-127"/>
                <a:ea typeface="KoPub돋움체 Bold" panose="02020603020101020101" pitchFamily="18" charset="-127"/>
                <a:cs typeface="KoPub돋움체 Bold"/>
              </a:rPr>
              <a:t>전략경영실은 기관 공통 시스템과 기반 도구를 맡았습니다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eaLnBrk="0"/>
            <a:r>
              <a:rPr lang="ko-KR" sz="1300">
                <a:solidFill>
                  <a:srgbClr val="724598"/>
                </a:solidFill>
                <a:latin typeface="KoPub돋움체 Bold" panose="02020603020101020101" pitchFamily="18" charset="-127"/>
                <a:ea typeface="KoPub돋움체 Bold" panose="02020603020101020101" pitchFamily="18" charset="-127"/>
                <a:cs typeface="KoPub돋움체 Bold"/>
              </a:rPr>
              <a:t>주요 성과 · 전략경영실 주도 프로덕트</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eaLnBrk="0"/>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9월 </a:t>
            </a:r>
            <a:r>
              <a:rPr lang="ko-KR" sz="1050" dirty="0" err="1">
                <a:solidFill>
                  <a:srgbClr val="5E6672"/>
                </a:solidFill>
                <a:latin typeface="KoPub돋움체 Medium" panose="02020603020101020101" pitchFamily="18" charset="-127"/>
                <a:ea typeface="KoPub돋움체 Medium" panose="02020603020101020101" pitchFamily="18" charset="-127"/>
                <a:cs typeface="KoPub돋움체 Medium"/>
              </a:rPr>
              <a:t>경과보고·부서</a:t>
            </a:r>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 제출물 기준 · 상태는 보고 시점 기준</a:t>
            </a:r>
          </a:p>
        </p:txBody>
      </p:sp>
      <p:sp>
        <p:nvSpPr>
          <p:cNvPr id="5" name="kpi_panel"/>
          <p:cNvSpPr/>
          <p:nvPr/>
        </p:nvSpPr>
        <p:spPr>
          <a:xfrm>
            <a:off x="621792" y="1417320"/>
            <a:ext cx="6035040" cy="470916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6" name="kpi_panel_bar"/>
          <p:cNvSpPr/>
          <p:nvPr/>
        </p:nvSpPr>
        <p:spPr>
          <a:xfrm>
            <a:off x="621792" y="1417320"/>
            <a:ext cx="109728" cy="4709160"/>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kpi_title"/>
          <p:cNvSpPr txBox="1"/>
          <p:nvPr/>
        </p:nvSpPr>
        <p:spPr>
          <a:xfrm>
            <a:off x="1005840" y="1645920"/>
            <a:ext cx="4206240" cy="457200"/>
          </a:xfrm>
          <a:prstGeom prst="rect">
            <a:avLst/>
          </a:prstGeom>
          <a:noFill/>
        </p:spPr>
        <p:txBody>
          <a:bodyPr wrap="square" lIns="0" tIns="0" rIns="0" bIns="0" anchor="t">
            <a:noAutofit/>
          </a:bodyPr>
          <a:lstStyle/>
          <a:p>
            <a:pPr algn="l" eaLnBrk="0"/>
            <a:r>
              <a:rPr lang="ko-KR" sz="2400">
                <a:solidFill>
                  <a:srgbClr val="1F1F1F"/>
                </a:solidFill>
                <a:latin typeface="KoPub돋움체 Bold" panose="02020603020101020101" pitchFamily="18" charset="-127"/>
                <a:ea typeface="KoPub돋움체 Bold" panose="02020603020101020101" pitchFamily="18" charset="-127"/>
                <a:cs typeface="KoPub돋움체 Bold"/>
              </a:rPr>
              <a:t>KPI 성과관리 시스템</a:t>
            </a:r>
          </a:p>
        </p:txBody>
      </p:sp>
      <p:sp>
        <p:nvSpPr>
          <p:cNvPr id="8" name="kpi_state"/>
          <p:cNvSpPr/>
          <p:nvPr/>
        </p:nvSpPr>
        <p:spPr>
          <a:xfrm>
            <a:off x="5074920" y="1691640"/>
            <a:ext cx="1280160" cy="329184"/>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FFFFFF"/>
                </a:solidFill>
                <a:latin typeface="KoPub돋움체 Bold" panose="02020603020101020101" pitchFamily="18" charset="-127"/>
                <a:ea typeface="KoPub돋움체 Bold" panose="02020603020101020101" pitchFamily="18" charset="-127"/>
                <a:cs typeface="KoPub돋움체 Bold"/>
              </a:rPr>
              <a:t>정식 운영</a:t>
            </a:r>
          </a:p>
        </p:txBody>
      </p:sp>
      <p:sp>
        <p:nvSpPr>
          <p:cNvPr id="9" name="kpi_lead"/>
          <p:cNvSpPr txBox="1"/>
          <p:nvPr/>
        </p:nvSpPr>
        <p:spPr>
          <a:xfrm>
            <a:off x="1005840" y="2194560"/>
            <a:ext cx="5394960" cy="365760"/>
          </a:xfrm>
          <a:prstGeom prst="rect">
            <a:avLst/>
          </a:prstGeom>
          <a:noFill/>
        </p:spPr>
        <p:txBody>
          <a:bodyPr wrap="square" lIns="0" tIns="0" rIns="0" bIns="0" anchor="t">
            <a:noAutofit/>
          </a:bodyPr>
          <a:lstStyle/>
          <a:p>
            <a:pPr algn="l" eaLnBrk="0"/>
            <a:r>
              <a:rPr lang="ko-KR" sz="1600">
                <a:solidFill>
                  <a:srgbClr val="3F2A5E"/>
                </a:solidFill>
                <a:latin typeface="KoPub돋움체 Medium" panose="02020603020101020101" pitchFamily="18" charset="-127"/>
                <a:ea typeface="KoPub돋움체 Medium" panose="02020603020101020101" pitchFamily="18" charset="-127"/>
                <a:cs typeface="KoPub돋움체 Medium"/>
              </a:rPr>
              <a:t>엑셀 중심 취합을 웹 입력·확인·집계 흐름으로 전환</a:t>
            </a:r>
          </a:p>
        </p:txBody>
      </p:sp>
      <p:sp>
        <p:nvSpPr>
          <p:cNvPr id="10" name="kpi_before_chip"/>
          <p:cNvSpPr/>
          <p:nvPr/>
        </p:nvSpPr>
        <p:spPr>
          <a:xfrm>
            <a:off x="1005840" y="2788920"/>
            <a:ext cx="731520" cy="292608"/>
          </a:xfrm>
          <a:prstGeom prst="roundRect">
            <a:avLst>
              <a:gd name="adj" fmla="val 50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5E6672"/>
                </a:solidFill>
                <a:latin typeface="KoPub돋움체 Bold" panose="02020603020101020101" pitchFamily="18" charset="-127"/>
                <a:ea typeface="KoPub돋움체 Bold" panose="02020603020101020101" pitchFamily="18" charset="-127"/>
                <a:cs typeface="KoPub돋움체 Bold"/>
              </a:rPr>
              <a:t>이전</a:t>
            </a:r>
          </a:p>
        </p:txBody>
      </p:sp>
      <p:sp>
        <p:nvSpPr>
          <p:cNvPr id="11" name="kpi_before"/>
          <p:cNvSpPr txBox="1"/>
          <p:nvPr/>
        </p:nvSpPr>
        <p:spPr>
          <a:xfrm>
            <a:off x="1874519" y="2761488"/>
            <a:ext cx="4572000" cy="365760"/>
          </a:xfrm>
          <a:prstGeom prst="rect">
            <a:avLst/>
          </a:prstGeom>
          <a:noFill/>
        </p:spPr>
        <p:txBody>
          <a:bodyPr wrap="square" lIns="0" tIns="0" rIns="0" bIns="0" anchor="ctr">
            <a:noAutofit/>
          </a:bodyPr>
          <a:lstStyle/>
          <a:p>
            <a:pPr algn="l" eaLnBrk="0"/>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부서별 엑셀 파일 작성 · 취합</a:t>
            </a:r>
          </a:p>
        </p:txBody>
      </p:sp>
      <p:sp>
        <p:nvSpPr>
          <p:cNvPr id="12" name="kpi_after_chip"/>
          <p:cNvSpPr/>
          <p:nvPr/>
        </p:nvSpPr>
        <p:spPr>
          <a:xfrm>
            <a:off x="1005840" y="3291840"/>
            <a:ext cx="731520" cy="292608"/>
          </a:xfrm>
          <a:prstGeom prst="roundRect">
            <a:avLst>
              <a:gd name="adj" fmla="val 50000"/>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FFFFFF"/>
                </a:solidFill>
                <a:latin typeface="KoPub돋움체 Bold" panose="02020603020101020101" pitchFamily="18" charset="-127"/>
                <a:ea typeface="KoPub돋움체 Bold" panose="02020603020101020101" pitchFamily="18" charset="-127"/>
                <a:cs typeface="KoPub돋움체 Bold"/>
              </a:rPr>
              <a:t>개선</a:t>
            </a:r>
          </a:p>
        </p:txBody>
      </p:sp>
      <p:sp>
        <p:nvSpPr>
          <p:cNvPr id="13" name="kpi_after"/>
          <p:cNvSpPr txBox="1"/>
          <p:nvPr/>
        </p:nvSpPr>
        <p:spPr>
          <a:xfrm>
            <a:off x="1874519" y="3264408"/>
            <a:ext cx="4572000" cy="365760"/>
          </a:xfrm>
          <a:prstGeom prst="rect">
            <a:avLst/>
          </a:prstGeom>
          <a:noFill/>
        </p:spPr>
        <p:txBody>
          <a:bodyPr wrap="square" lIns="0" tIns="0" rIns="0" bIns="0" anchor="ctr">
            <a:noAutofit/>
          </a:bodyPr>
          <a:lstStyle/>
          <a:p>
            <a:pPr algn="l" eaLnBrk="0"/>
            <a:r>
              <a:rPr lang="ko-KR" sz="1600">
                <a:solidFill>
                  <a:srgbClr val="1F1F1F"/>
                </a:solidFill>
                <a:latin typeface="KoPub돋움체 Bold" panose="02020603020101020101" pitchFamily="18" charset="-127"/>
                <a:ea typeface="KoPub돋움체 Bold" panose="02020603020101020101" pitchFamily="18" charset="-127"/>
                <a:cs typeface="KoPub돋움체 Bold"/>
              </a:rPr>
              <a:t>웹에서 입력하고 확인·승인 후 집계</a:t>
            </a:r>
          </a:p>
        </p:txBody>
      </p:sp>
      <p:sp>
        <p:nvSpPr>
          <p:cNvPr id="14" name="kpi_step0_box"/>
          <p:cNvSpPr/>
          <p:nvPr/>
        </p:nvSpPr>
        <p:spPr>
          <a:xfrm>
            <a:off x="1005840" y="3977639"/>
            <a:ext cx="1508760" cy="960120"/>
          </a:xfrm>
          <a:prstGeom prst="rect">
            <a:avLst/>
          </a:prstGeom>
          <a:solidFill>
            <a:srgbClr val="FFFFFF"/>
          </a:solidFill>
          <a:ln w="1905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5" name="kpi_step0"/>
          <p:cNvSpPr txBox="1"/>
          <p:nvPr/>
        </p:nvSpPr>
        <p:spPr>
          <a:xfrm>
            <a:off x="1005840" y="3977639"/>
            <a:ext cx="1508760" cy="960120"/>
          </a:xfrm>
          <a:prstGeom prst="rect">
            <a:avLst/>
          </a:prstGeom>
          <a:noFill/>
        </p:spPr>
        <p:txBody>
          <a:bodyPr wrap="square" lIns="0" tIns="0" rIns="0" bIns="0" anchor="ctr">
            <a:noAutofit/>
          </a:bodyPr>
          <a:lstStyle/>
          <a:p>
            <a:pPr algn="ctr" eaLnBrk="0"/>
            <a:r>
              <a:rPr lang="ko-KR" sz="1600">
                <a:solidFill>
                  <a:srgbClr val="1F1F1F"/>
                </a:solidFill>
                <a:latin typeface="KoPub돋움체 Bold" panose="02020603020101020101" pitchFamily="18" charset="-127"/>
                <a:ea typeface="KoPub돋움체 Bold" panose="02020603020101020101" pitchFamily="18" charset="-127"/>
                <a:cs typeface="KoPub돋움체 Bold"/>
              </a:rPr>
              <a:t>부서 실적</a:t>
            </a:r>
          </a:p>
          <a:p>
            <a:pPr algn="ctr" eaLnBrk="0"/>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웹 입력</a:t>
            </a:r>
          </a:p>
        </p:txBody>
      </p:sp>
      <p:cxnSp>
        <p:nvCxnSpPr>
          <p:cNvPr id="16" name="line_23"/>
          <p:cNvCxnSpPr/>
          <p:nvPr/>
        </p:nvCxnSpPr>
        <p:spPr>
          <a:xfrm>
            <a:off x="2542032" y="4453128"/>
            <a:ext cx="292608"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kpi_step1_box"/>
          <p:cNvSpPr/>
          <p:nvPr/>
        </p:nvSpPr>
        <p:spPr>
          <a:xfrm>
            <a:off x="2862072" y="3977639"/>
            <a:ext cx="1508760" cy="960120"/>
          </a:xfrm>
          <a:prstGeom prst="rect">
            <a:avLst/>
          </a:prstGeom>
          <a:solidFill>
            <a:srgbClr val="FFFFFF"/>
          </a:solidFill>
          <a:ln w="1905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8" name="kpi_step1"/>
          <p:cNvSpPr txBox="1"/>
          <p:nvPr/>
        </p:nvSpPr>
        <p:spPr>
          <a:xfrm>
            <a:off x="2862072" y="3977639"/>
            <a:ext cx="1508760" cy="960120"/>
          </a:xfrm>
          <a:prstGeom prst="rect">
            <a:avLst/>
          </a:prstGeom>
          <a:noFill/>
        </p:spPr>
        <p:txBody>
          <a:bodyPr wrap="square" lIns="0" tIns="0" rIns="0" bIns="0" anchor="ctr">
            <a:noAutofit/>
          </a:bodyPr>
          <a:lstStyle/>
          <a:p>
            <a:pPr algn="ctr" eaLnBrk="0"/>
            <a:r>
              <a:rPr lang="ko-KR" sz="1600">
                <a:solidFill>
                  <a:srgbClr val="1F1F1F"/>
                </a:solidFill>
                <a:latin typeface="KoPub돋움체 Bold" panose="02020603020101020101" pitchFamily="18" charset="-127"/>
                <a:ea typeface="KoPub돋움체 Bold" panose="02020603020101020101" pitchFamily="18" charset="-127"/>
                <a:cs typeface="KoPub돋움체 Bold"/>
              </a:rPr>
              <a:t>담당 확인</a:t>
            </a:r>
          </a:p>
          <a:p>
            <a:pPr algn="ctr" eaLnBrk="0"/>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승인</a:t>
            </a:r>
          </a:p>
        </p:txBody>
      </p:sp>
      <p:cxnSp>
        <p:nvCxnSpPr>
          <p:cNvPr id="19" name="line_24"/>
          <p:cNvCxnSpPr/>
          <p:nvPr/>
        </p:nvCxnSpPr>
        <p:spPr>
          <a:xfrm>
            <a:off x="4398264" y="4453128"/>
            <a:ext cx="292607"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kpi_step2_box"/>
          <p:cNvSpPr/>
          <p:nvPr/>
        </p:nvSpPr>
        <p:spPr>
          <a:xfrm>
            <a:off x="4718304" y="3977639"/>
            <a:ext cx="1508760" cy="960120"/>
          </a:xfrm>
          <a:prstGeom prst="rect">
            <a:avLst/>
          </a:prstGeom>
          <a:solidFill>
            <a:srgbClr val="FFFFFF"/>
          </a:solidFill>
          <a:ln w="19050">
            <a:solidFill>
              <a:srgbClr val="724598"/>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1" name="kpi_step2"/>
          <p:cNvSpPr txBox="1"/>
          <p:nvPr/>
        </p:nvSpPr>
        <p:spPr>
          <a:xfrm>
            <a:off x="4718304" y="3977639"/>
            <a:ext cx="1508760" cy="960120"/>
          </a:xfrm>
          <a:prstGeom prst="rect">
            <a:avLst/>
          </a:prstGeom>
          <a:noFill/>
        </p:spPr>
        <p:txBody>
          <a:bodyPr wrap="square" lIns="0" tIns="0" rIns="0" bIns="0" anchor="ctr">
            <a:noAutofit/>
          </a:bodyPr>
          <a:lstStyle/>
          <a:p>
            <a:pPr algn="ctr" eaLnBrk="0"/>
            <a:r>
              <a:rPr lang="ko-KR" sz="1600">
                <a:solidFill>
                  <a:srgbClr val="1F1F1F"/>
                </a:solidFill>
                <a:latin typeface="KoPub돋움체 Bold" panose="02020603020101020101" pitchFamily="18" charset="-127"/>
                <a:ea typeface="KoPub돋움체 Bold" panose="02020603020101020101" pitchFamily="18" charset="-127"/>
                <a:cs typeface="KoPub돋움체 Bold"/>
              </a:rPr>
              <a:t>실적</a:t>
            </a:r>
          </a:p>
          <a:p>
            <a:pPr algn="ctr" eaLnBrk="0"/>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집계</a:t>
            </a:r>
          </a:p>
        </p:txBody>
      </p:sp>
      <p:sp>
        <p:nvSpPr>
          <p:cNvPr id="22" name="kpi_take"/>
          <p:cNvSpPr txBox="1"/>
          <p:nvPr/>
        </p:nvSpPr>
        <p:spPr>
          <a:xfrm>
            <a:off x="1005840" y="5212080"/>
            <a:ext cx="5394960" cy="731520"/>
          </a:xfrm>
          <a:prstGeom prst="rect">
            <a:avLst/>
          </a:prstGeom>
          <a:noFill/>
        </p:spPr>
        <p:txBody>
          <a:bodyPr wrap="square" lIns="0" tIns="0" rIns="0" bIns="0" anchor="t">
            <a:noAutofit/>
          </a:bodyPr>
          <a:lstStyle/>
          <a:p>
            <a:pPr algn="l" eaLnBrk="0"/>
            <a:r>
              <a:rPr lang="ko-KR" sz="1500">
                <a:solidFill>
                  <a:srgbClr val="3F2A5E"/>
                </a:solidFill>
                <a:latin typeface="KoPub돋움체 Bold" panose="02020603020101020101" pitchFamily="18" charset="-127"/>
                <a:ea typeface="KoPub돋움체 Bold" panose="02020603020101020101" pitchFamily="18" charset="-127"/>
                <a:cs typeface="KoPub돋움체 Bold"/>
              </a:rPr>
              <a:t>실적 입력부터 집계까지 한 흐름으로 모아</a:t>
            </a:r>
          </a:p>
          <a:p>
            <a:pPr algn="l" eaLnBrk="0">
              <a:spcBef>
                <a:spcPts val="200"/>
              </a:spcBef>
            </a:pPr>
            <a:r>
              <a:rPr lang="ko-KR" sz="1500">
                <a:solidFill>
                  <a:srgbClr val="3F2A5E"/>
                </a:solidFill>
                <a:latin typeface="KoPub돋움체 Bold" panose="02020603020101020101" pitchFamily="18" charset="-127"/>
                <a:ea typeface="KoPub돋움체 Bold" panose="02020603020101020101" pitchFamily="18" charset="-127"/>
                <a:cs typeface="KoPub돋움체 Bold"/>
              </a:rPr>
              <a:t>부서와 담당자가 같은 자료를 봅니다</a:t>
            </a:r>
          </a:p>
        </p:txBody>
      </p:sp>
      <p:sp>
        <p:nvSpPr>
          <p:cNvPr id="23" name="prod_0_box"/>
          <p:cNvSpPr/>
          <p:nvPr/>
        </p:nvSpPr>
        <p:spPr>
          <a:xfrm>
            <a:off x="6903720" y="1417320"/>
            <a:ext cx="4663440" cy="1069848"/>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4" name="prod_0_bar"/>
          <p:cNvSpPr/>
          <p:nvPr/>
        </p:nvSpPr>
        <p:spPr>
          <a:xfrm>
            <a:off x="6903720" y="1417320"/>
            <a:ext cx="64008" cy="106984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5" name="prod_0_title"/>
          <p:cNvSpPr txBox="1"/>
          <p:nvPr/>
        </p:nvSpPr>
        <p:spPr>
          <a:xfrm>
            <a:off x="7178040" y="1572768"/>
            <a:ext cx="3291840" cy="365760"/>
          </a:xfrm>
          <a:prstGeom prst="rect">
            <a:avLst/>
          </a:prstGeom>
          <a:noFill/>
        </p:spPr>
        <p:txBody>
          <a:bodyPr wrap="square" lIns="0" tIns="0" rIns="0" bIns="0" anchor="t">
            <a:noAutofit/>
          </a:bodyPr>
          <a:lstStyle/>
          <a:p>
            <a:pPr algn="l" eaLnBrk="0"/>
            <a:r>
              <a:rPr lang="ko-KR" sz="1600">
                <a:solidFill>
                  <a:srgbClr val="1F1F1F"/>
                </a:solidFill>
                <a:latin typeface="KoPub돋움체 Bold" panose="02020603020101020101" pitchFamily="18" charset="-127"/>
                <a:ea typeface="KoPub돋움체 Bold" panose="02020603020101020101" pitchFamily="18" charset="-127"/>
                <a:cs typeface="KoPub돋움체 Bold"/>
              </a:rPr>
              <a:t>HWPX 문서 체계 전환·변환 도구</a:t>
            </a:r>
          </a:p>
        </p:txBody>
      </p:sp>
      <p:sp>
        <p:nvSpPr>
          <p:cNvPr id="26" name="prod_0_chip"/>
          <p:cNvSpPr/>
          <p:nvPr/>
        </p:nvSpPr>
        <p:spPr>
          <a:xfrm>
            <a:off x="10332720" y="1581912"/>
            <a:ext cx="1097280" cy="274320"/>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100">
                <a:solidFill>
                  <a:srgbClr val="FFFFFF"/>
                </a:solidFill>
                <a:latin typeface="KoPub돋움체 Bold" panose="02020603020101020101" pitchFamily="18" charset="-127"/>
                <a:ea typeface="KoPub돋움체 Bold" panose="02020603020101020101" pitchFamily="18" charset="-127"/>
                <a:cs typeface="KoPub돋움체 Bold"/>
              </a:rPr>
              <a:t>적용 지원</a:t>
            </a:r>
          </a:p>
        </p:txBody>
      </p:sp>
      <p:sp>
        <p:nvSpPr>
          <p:cNvPr id="27" name="prod_0_desc"/>
          <p:cNvSpPr txBox="1"/>
          <p:nvPr/>
        </p:nvSpPr>
        <p:spPr>
          <a:xfrm>
            <a:off x="7178040" y="2011680"/>
            <a:ext cx="4251960" cy="36576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6.8. 전환 공표 · AI 결과를 업무 문서로 변환</a:t>
            </a:r>
          </a:p>
        </p:txBody>
      </p:sp>
      <p:sp>
        <p:nvSpPr>
          <p:cNvPr id="28" name="prod_1_box"/>
          <p:cNvSpPr/>
          <p:nvPr/>
        </p:nvSpPr>
        <p:spPr>
          <a:xfrm>
            <a:off x="6903720" y="2624328"/>
            <a:ext cx="4663440" cy="1069848"/>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9" name="prod_1_bar"/>
          <p:cNvSpPr/>
          <p:nvPr/>
        </p:nvSpPr>
        <p:spPr>
          <a:xfrm>
            <a:off x="6903720" y="2624328"/>
            <a:ext cx="64008" cy="106984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0" name="prod_1_title"/>
          <p:cNvSpPr txBox="1"/>
          <p:nvPr/>
        </p:nvSpPr>
        <p:spPr>
          <a:xfrm>
            <a:off x="7178040" y="2779776"/>
            <a:ext cx="3291840" cy="365760"/>
          </a:xfrm>
          <a:prstGeom prst="rect">
            <a:avLst/>
          </a:prstGeom>
          <a:noFill/>
        </p:spPr>
        <p:txBody>
          <a:bodyPr wrap="square" lIns="0" tIns="0" rIns="0" bIns="0" anchor="t">
            <a:noAutofit/>
          </a:bodyPr>
          <a:lstStyle/>
          <a:p>
            <a:pPr algn="l" eaLnBrk="0"/>
            <a:r>
              <a:rPr lang="ko-KR" sz="1600">
                <a:solidFill>
                  <a:srgbClr val="1F1F1F"/>
                </a:solidFill>
                <a:latin typeface="KoPub돋움체 Bold" panose="02020603020101020101" pitchFamily="18" charset="-127"/>
                <a:ea typeface="KoPub돋움체 Bold" panose="02020603020101020101" pitchFamily="18" charset="-127"/>
                <a:cs typeface="KoPub돋움체 Bold"/>
              </a:rPr>
              <a:t>내PC지키미 점검 결과 정리</a:t>
            </a:r>
          </a:p>
        </p:txBody>
      </p:sp>
      <p:sp>
        <p:nvSpPr>
          <p:cNvPr id="31" name="prod_1_chip"/>
          <p:cNvSpPr/>
          <p:nvPr/>
        </p:nvSpPr>
        <p:spPr>
          <a:xfrm>
            <a:off x="10332720" y="2788920"/>
            <a:ext cx="1097280" cy="274320"/>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100">
                <a:solidFill>
                  <a:srgbClr val="FFFFFF"/>
                </a:solidFill>
                <a:latin typeface="KoPub돋움체 Bold" panose="02020603020101020101" pitchFamily="18" charset="-127"/>
                <a:ea typeface="KoPub돋움체 Bold" panose="02020603020101020101" pitchFamily="18" charset="-127"/>
                <a:cs typeface="KoPub돋움체 Bold"/>
              </a:rPr>
              <a:t>적용</a:t>
            </a:r>
          </a:p>
        </p:txBody>
      </p:sp>
      <p:sp>
        <p:nvSpPr>
          <p:cNvPr id="32" name="prod_1_desc"/>
          <p:cNvSpPr txBox="1"/>
          <p:nvPr/>
        </p:nvSpPr>
        <p:spPr>
          <a:xfrm>
            <a:off x="7178040" y="3218688"/>
            <a:ext cx="4251960" cy="36576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PC명·직원 매칭 자동화 · 40분 → 5분 사례</a:t>
            </a:r>
          </a:p>
        </p:txBody>
      </p:sp>
      <p:sp>
        <p:nvSpPr>
          <p:cNvPr id="33" name="prod_2_box"/>
          <p:cNvSpPr/>
          <p:nvPr/>
        </p:nvSpPr>
        <p:spPr>
          <a:xfrm>
            <a:off x="6903720" y="3831336"/>
            <a:ext cx="4663440" cy="1069848"/>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4" name="prod_2_bar"/>
          <p:cNvSpPr/>
          <p:nvPr/>
        </p:nvSpPr>
        <p:spPr>
          <a:xfrm>
            <a:off x="6903720" y="3831336"/>
            <a:ext cx="64008" cy="106984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5" name="prod_2_title"/>
          <p:cNvSpPr txBox="1"/>
          <p:nvPr/>
        </p:nvSpPr>
        <p:spPr>
          <a:xfrm>
            <a:off x="7178040" y="3986784"/>
            <a:ext cx="3291840" cy="365760"/>
          </a:xfrm>
          <a:prstGeom prst="rect">
            <a:avLst/>
          </a:prstGeom>
          <a:noFill/>
        </p:spPr>
        <p:txBody>
          <a:bodyPr wrap="square" lIns="0" tIns="0" rIns="0" bIns="0" anchor="t">
            <a:noAutofit/>
          </a:bodyPr>
          <a:lstStyle/>
          <a:p>
            <a:pPr algn="l" eaLnBrk="0"/>
            <a:r>
              <a:rPr lang="ko-KR" sz="1600">
                <a:solidFill>
                  <a:srgbClr val="1F1F1F"/>
                </a:solidFill>
                <a:latin typeface="KoPub돋움체 Bold" panose="02020603020101020101" pitchFamily="18" charset="-127"/>
                <a:ea typeface="KoPub돋움체 Bold" panose="02020603020101020101" pitchFamily="18" charset="-127"/>
                <a:cs typeface="KoPub돋움체 Bold"/>
              </a:rPr>
              <a:t>구글 AI 활용 콘텐츠</a:t>
            </a:r>
          </a:p>
        </p:txBody>
      </p:sp>
      <p:sp>
        <p:nvSpPr>
          <p:cNvPr id="36" name="prod_2_chip"/>
          <p:cNvSpPr/>
          <p:nvPr/>
        </p:nvSpPr>
        <p:spPr>
          <a:xfrm>
            <a:off x="10332720" y="3995928"/>
            <a:ext cx="1097280" cy="274320"/>
          </a:xfrm>
          <a:prstGeom prst="roundRect">
            <a:avLst>
              <a:gd name="adj" fmla="val 50000"/>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100">
                <a:solidFill>
                  <a:srgbClr val="FFFFFF"/>
                </a:solidFill>
                <a:latin typeface="KoPub돋움체 Bold" panose="02020603020101020101" pitchFamily="18" charset="-127"/>
                <a:ea typeface="KoPub돋움체 Bold" panose="02020603020101020101" pitchFamily="18" charset="-127"/>
                <a:cs typeface="KoPub돋움체 Bold"/>
              </a:rPr>
              <a:t>배포·확산</a:t>
            </a:r>
          </a:p>
        </p:txBody>
      </p:sp>
      <p:sp>
        <p:nvSpPr>
          <p:cNvPr id="37" name="prod_2_desc"/>
          <p:cNvSpPr txBox="1"/>
          <p:nvPr/>
        </p:nvSpPr>
        <p:spPr>
          <a:xfrm>
            <a:off x="7178040" y="4425696"/>
            <a:ext cx="4251960" cy="36576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재단 업무 사례로 따라 하는 실습 콘텐츠</a:t>
            </a:r>
          </a:p>
        </p:txBody>
      </p:sp>
      <p:sp>
        <p:nvSpPr>
          <p:cNvPr id="38" name="prod_3_box"/>
          <p:cNvSpPr/>
          <p:nvPr/>
        </p:nvSpPr>
        <p:spPr>
          <a:xfrm>
            <a:off x="6903720" y="5038344"/>
            <a:ext cx="4663440" cy="1069848"/>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9" name="prod_3_bar"/>
          <p:cNvSpPr/>
          <p:nvPr/>
        </p:nvSpPr>
        <p:spPr>
          <a:xfrm>
            <a:off x="6903720" y="5038344"/>
            <a:ext cx="64008" cy="1069848"/>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0" name="prod_3_title"/>
          <p:cNvSpPr txBox="1"/>
          <p:nvPr/>
        </p:nvSpPr>
        <p:spPr>
          <a:xfrm>
            <a:off x="7178040" y="5193792"/>
            <a:ext cx="3291840" cy="365760"/>
          </a:xfrm>
          <a:prstGeom prst="rect">
            <a:avLst/>
          </a:prstGeom>
          <a:noFill/>
        </p:spPr>
        <p:txBody>
          <a:bodyPr wrap="square" lIns="0" tIns="0" rIns="0" bIns="0" anchor="t">
            <a:noAutofit/>
          </a:bodyPr>
          <a:lstStyle/>
          <a:p>
            <a:pPr algn="l" eaLnBrk="0"/>
            <a:r>
              <a:rPr lang="ko-KR" sz="1600">
                <a:solidFill>
                  <a:srgbClr val="1F1F1F"/>
                </a:solidFill>
                <a:latin typeface="KoPub돋움체 Bold" panose="02020603020101020101" pitchFamily="18" charset="-127"/>
                <a:ea typeface="KoPub돋움체 Bold" panose="02020603020101020101" pitchFamily="18" charset="-127"/>
                <a:cs typeface="KoPub돋움체 Bold"/>
              </a:rPr>
              <a:t>전 직원 활용성 조사·윤리 지침안</a:t>
            </a:r>
          </a:p>
        </p:txBody>
      </p:sp>
      <p:sp>
        <p:nvSpPr>
          <p:cNvPr id="41" name="prod_3_chip"/>
          <p:cNvSpPr/>
          <p:nvPr/>
        </p:nvSpPr>
        <p:spPr>
          <a:xfrm>
            <a:off x="10332720" y="5202936"/>
            <a:ext cx="1097280" cy="274320"/>
          </a:xfrm>
          <a:prstGeom prst="roundRect">
            <a:avLst>
              <a:gd name="adj" fmla="val 50000"/>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100">
                <a:solidFill>
                  <a:srgbClr val="FFFFFF"/>
                </a:solidFill>
                <a:latin typeface="KoPub돋움체 Bold" panose="02020603020101020101" pitchFamily="18" charset="-127"/>
                <a:ea typeface="KoPub돋움체 Bold" panose="02020603020101020101" pitchFamily="18" charset="-127"/>
                <a:cs typeface="KoPub돋움체 Bold"/>
              </a:rPr>
              <a:t>분석·검토</a:t>
            </a:r>
          </a:p>
        </p:txBody>
      </p:sp>
      <p:sp>
        <p:nvSpPr>
          <p:cNvPr id="42" name="prod_3_desc"/>
          <p:cNvSpPr txBox="1"/>
          <p:nvPr/>
        </p:nvSpPr>
        <p:spPr>
          <a:xfrm>
            <a:off x="7178040" y="5632704"/>
            <a:ext cx="4251960" cy="365760"/>
          </a:xfrm>
          <a:prstGeom prst="rect">
            <a:avLst/>
          </a:prstGeom>
          <a:noFill/>
        </p:spPr>
        <p:txBody>
          <a:bodyPr wrap="square" lIns="0" tIns="0" rIns="0" bIns="0" anchor="t">
            <a:noAutofit/>
          </a:bodyPr>
          <a:lstStyle/>
          <a:p>
            <a:pPr algn="l" eaLnBrk="0"/>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113명 조사 분석 · 활용 기준 공동 검토</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eaLnBrk="0"/>
            <a:r>
              <a:rPr lang="ko-KR" sz="2600">
                <a:solidFill>
                  <a:srgbClr val="1F1F1F"/>
                </a:solidFill>
                <a:latin typeface="KoPub돋움체 Bold" panose="02020603020101020101" pitchFamily="18" charset="-127"/>
                <a:ea typeface="KoPub돋움체 Bold" panose="02020603020101020101" pitchFamily="18" charset="-127"/>
                <a:cs typeface="KoPub돋움체 Bold"/>
              </a:rPr>
              <a:t>재무부터 홍보까지, 현장 업무에 맞춘 도구를 만들었습니다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eaLnBrk="0"/>
            <a:r>
              <a:rPr lang="ko-KR" sz="1300">
                <a:solidFill>
                  <a:srgbClr val="724598"/>
                </a:solidFill>
                <a:latin typeface="KoPub돋움체 Bold" panose="02020603020101020101" pitchFamily="18" charset="-127"/>
                <a:ea typeface="KoPub돋움체 Bold" panose="02020603020101020101" pitchFamily="18" charset="-127"/>
                <a:cs typeface="KoPub돋움체 Bold"/>
              </a:rPr>
              <a:t>주요 성과 · 업무유형별 개발·적용 목록</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eaLnBrk="0"/>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03B 업무유형별 사례목록 기준 · 단계는 각 부서 </a:t>
            </a:r>
            <a:r>
              <a:rPr lang="ko-KR" sz="1050" dirty="0" err="1">
                <a:solidFill>
                  <a:srgbClr val="5E6672"/>
                </a:solidFill>
                <a:latin typeface="KoPub돋움체 Medium" panose="02020603020101020101" pitchFamily="18" charset="-127"/>
                <a:ea typeface="KoPub돋움체 Medium" panose="02020603020101020101" pitchFamily="18" charset="-127"/>
                <a:cs typeface="KoPub돋움체 Medium"/>
              </a:rPr>
              <a:t>제출·보고</a:t>
            </a:r>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 상태이며 항목 수는 완료 건수가 아님</a:t>
            </a:r>
          </a:p>
        </p:txBody>
      </p:sp>
      <p:cxnSp>
        <p:nvCxnSpPr>
          <p:cNvPr id="5" name="line_25"/>
          <p:cNvCxnSpPr/>
          <p:nvPr/>
        </p:nvCxnSpPr>
        <p:spPr>
          <a:xfrm>
            <a:off x="621792" y="1371600"/>
            <a:ext cx="256489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6" name="dev_0_0_cat"/>
          <p:cNvSpPr txBox="1"/>
          <p:nvPr/>
        </p:nvSpPr>
        <p:spPr>
          <a:xfrm>
            <a:off x="621792" y="1426464"/>
            <a:ext cx="2564892" cy="292608"/>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재무·회계</a:t>
            </a:r>
          </a:p>
        </p:txBody>
      </p:sp>
      <p:sp>
        <p:nvSpPr>
          <p:cNvPr id="7" name="dev_0_0_0"/>
          <p:cNvSpPr txBox="1"/>
          <p:nvPr/>
        </p:nvSpPr>
        <p:spPr>
          <a:xfrm>
            <a:off x="621792" y="1755648"/>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수입·지출 대시보드·결의서</a:t>
            </a:r>
          </a:p>
        </p:txBody>
      </p:sp>
      <p:sp>
        <p:nvSpPr>
          <p:cNvPr id="8" name="dev_0_0_0_m"/>
          <p:cNvSpPr txBox="1"/>
          <p:nvPr/>
        </p:nvSpPr>
        <p:spPr>
          <a:xfrm>
            <a:off x="621792" y="1984248"/>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소사·전략경영실 · 운영 개시</a:t>
            </a:r>
          </a:p>
        </p:txBody>
      </p:sp>
      <p:sp>
        <p:nvSpPr>
          <p:cNvPr id="9" name="dev_0_0_1"/>
          <p:cNvSpPr txBox="1"/>
          <p:nvPr/>
        </p:nvSpPr>
        <p:spPr>
          <a:xfrm>
            <a:off x="621792" y="2263140"/>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이체명세서 자동출력</a:t>
            </a:r>
          </a:p>
        </p:txBody>
      </p:sp>
      <p:sp>
        <p:nvSpPr>
          <p:cNvPr id="10" name="dev_0_0_1_m"/>
          <p:cNvSpPr txBox="1"/>
          <p:nvPr/>
        </p:nvSpPr>
        <p:spPr>
          <a:xfrm>
            <a:off x="621792" y="2491740"/>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산울림 · 부서 공유</a:t>
            </a:r>
          </a:p>
        </p:txBody>
      </p:sp>
      <p:sp>
        <p:nvSpPr>
          <p:cNvPr id="11" name="dev_0_0_2"/>
          <p:cNvSpPr txBox="1"/>
          <p:nvPr/>
        </p:nvSpPr>
        <p:spPr>
          <a:xfrm>
            <a:off x="621792" y="2770632"/>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급량비 자동기안</a:t>
            </a:r>
          </a:p>
        </p:txBody>
      </p:sp>
      <p:sp>
        <p:nvSpPr>
          <p:cNvPr id="12" name="dev_0_0_2_m"/>
          <p:cNvSpPr txBox="1"/>
          <p:nvPr/>
        </p:nvSpPr>
        <p:spPr>
          <a:xfrm>
            <a:off x="621792" y="2999232"/>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산울림 · 부서 적용</a:t>
            </a:r>
          </a:p>
        </p:txBody>
      </p:sp>
      <p:cxnSp>
        <p:nvCxnSpPr>
          <p:cNvPr id="13" name="line_26"/>
          <p:cNvCxnSpPr/>
          <p:nvPr/>
        </p:nvCxnSpPr>
        <p:spPr>
          <a:xfrm>
            <a:off x="621792" y="3369564"/>
            <a:ext cx="256489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14" name="dev_0_1_cat"/>
          <p:cNvSpPr txBox="1"/>
          <p:nvPr/>
        </p:nvSpPr>
        <p:spPr>
          <a:xfrm>
            <a:off x="621792" y="3424428"/>
            <a:ext cx="2564892" cy="292608"/>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보고·성과·통계</a:t>
            </a:r>
          </a:p>
        </p:txBody>
      </p:sp>
      <p:sp>
        <p:nvSpPr>
          <p:cNvPr id="15" name="dev_0_1_0"/>
          <p:cNvSpPr txBox="1"/>
          <p:nvPr/>
        </p:nvSpPr>
        <p:spPr>
          <a:xfrm>
            <a:off x="621792" y="3753612"/>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KPI 성과관리 시스템</a:t>
            </a:r>
          </a:p>
        </p:txBody>
      </p:sp>
      <p:sp>
        <p:nvSpPr>
          <p:cNvPr id="16" name="dev_0_1_0_m"/>
          <p:cNvSpPr txBox="1"/>
          <p:nvPr/>
        </p:nvSpPr>
        <p:spPr>
          <a:xfrm>
            <a:off x="621792" y="3982212"/>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전략경영실 · 정식 운영</a:t>
            </a:r>
          </a:p>
        </p:txBody>
      </p:sp>
      <p:sp>
        <p:nvSpPr>
          <p:cNvPr id="17" name="dev_0_1_1"/>
          <p:cNvSpPr txBox="1"/>
          <p:nvPr/>
        </p:nvSpPr>
        <p:spPr>
          <a:xfrm>
            <a:off x="621792" y="4261104"/>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여성 고용동향 자동 브리프</a:t>
            </a:r>
          </a:p>
        </p:txBody>
      </p:sp>
      <p:sp>
        <p:nvSpPr>
          <p:cNvPr id="18" name="dev_0_1_1_m"/>
          <p:cNvSpPr txBox="1"/>
          <p:nvPr/>
        </p:nvSpPr>
        <p:spPr>
          <a:xfrm>
            <a:off x="621792" y="4489704"/>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일쉼 · 도구 구현</a:t>
            </a:r>
          </a:p>
        </p:txBody>
      </p:sp>
      <p:sp>
        <p:nvSpPr>
          <p:cNvPr id="19" name="dev_0_1_2"/>
          <p:cNvSpPr txBox="1"/>
          <p:nvPr/>
        </p:nvSpPr>
        <p:spPr>
          <a:xfrm>
            <a:off x="621792" y="4768596"/>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월간 업무보고 자동화</a:t>
            </a:r>
          </a:p>
        </p:txBody>
      </p:sp>
      <p:sp>
        <p:nvSpPr>
          <p:cNvPr id="20" name="dev_0_1_2_m"/>
          <p:cNvSpPr txBox="1"/>
          <p:nvPr/>
        </p:nvSpPr>
        <p:spPr>
          <a:xfrm>
            <a:off x="621792" y="4997196"/>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상담복지·전략경영실 · 시제품</a:t>
            </a:r>
          </a:p>
        </p:txBody>
      </p:sp>
      <p:cxnSp>
        <p:nvCxnSpPr>
          <p:cNvPr id="21" name="line_27"/>
          <p:cNvCxnSpPr/>
          <p:nvPr/>
        </p:nvCxnSpPr>
        <p:spPr>
          <a:xfrm>
            <a:off x="3415284" y="1371600"/>
            <a:ext cx="256489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22" name="dev_1_0_cat"/>
          <p:cNvSpPr txBox="1"/>
          <p:nvPr/>
        </p:nvSpPr>
        <p:spPr>
          <a:xfrm>
            <a:off x="3415284" y="1426464"/>
            <a:ext cx="2564892" cy="292608"/>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시설·프로그램·서비스 운영</a:t>
            </a:r>
          </a:p>
        </p:txBody>
      </p:sp>
      <p:sp>
        <p:nvSpPr>
          <p:cNvPr id="23" name="dev_1_0_0"/>
          <p:cNvSpPr txBox="1"/>
          <p:nvPr/>
        </p:nvSpPr>
        <p:spPr>
          <a:xfrm>
            <a:off x="3415284" y="1755648"/>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안전교육일지 자동생성</a:t>
            </a:r>
          </a:p>
        </p:txBody>
      </p:sp>
      <p:sp>
        <p:nvSpPr>
          <p:cNvPr id="24" name="dev_1_0_0_m"/>
          <p:cNvSpPr txBox="1"/>
          <p:nvPr/>
        </p:nvSpPr>
        <p:spPr>
          <a:xfrm>
            <a:off x="3415284" y="1984248"/>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소사 · 부서 배포</a:t>
            </a:r>
          </a:p>
        </p:txBody>
      </p:sp>
      <p:sp>
        <p:nvSpPr>
          <p:cNvPr id="25" name="dev_1_0_1"/>
          <p:cNvSpPr txBox="1"/>
          <p:nvPr/>
        </p:nvSpPr>
        <p:spPr>
          <a:xfrm>
            <a:off x="3415284" y="2263140"/>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S TOUR 디지털 출입기록</a:t>
            </a:r>
          </a:p>
        </p:txBody>
      </p:sp>
      <p:sp>
        <p:nvSpPr>
          <p:cNvPr id="26" name="dev_1_0_1_m"/>
          <p:cNvSpPr txBox="1"/>
          <p:nvPr/>
        </p:nvSpPr>
        <p:spPr>
          <a:xfrm>
            <a:off x="3415284" y="2491740"/>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소사 · 현장 적용</a:t>
            </a:r>
          </a:p>
        </p:txBody>
      </p:sp>
      <p:sp>
        <p:nvSpPr>
          <p:cNvPr id="27" name="dev_1_0_2"/>
          <p:cNvSpPr txBox="1"/>
          <p:nvPr/>
        </p:nvSpPr>
        <p:spPr>
          <a:xfrm>
            <a:off x="3415284" y="2770632"/>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출석부 자동생성</a:t>
            </a:r>
          </a:p>
        </p:txBody>
      </p:sp>
      <p:sp>
        <p:nvSpPr>
          <p:cNvPr id="28" name="dev_1_0_2_m"/>
          <p:cNvSpPr txBox="1"/>
          <p:nvPr/>
        </p:nvSpPr>
        <p:spPr>
          <a:xfrm>
            <a:off x="3415284" y="2999232"/>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여성회관 · 테스트</a:t>
            </a:r>
          </a:p>
        </p:txBody>
      </p:sp>
      <p:sp>
        <p:nvSpPr>
          <p:cNvPr id="29" name="dev_1_0_3"/>
          <p:cNvSpPr txBox="1"/>
          <p:nvPr/>
        </p:nvSpPr>
        <p:spPr>
          <a:xfrm>
            <a:off x="3415284" y="3278124"/>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청소년카페 이용관리</a:t>
            </a:r>
          </a:p>
        </p:txBody>
      </p:sp>
      <p:sp>
        <p:nvSpPr>
          <p:cNvPr id="30" name="dev_1_0_3_m"/>
          <p:cNvSpPr txBox="1"/>
          <p:nvPr/>
        </p:nvSpPr>
        <p:spPr>
          <a:xfrm>
            <a:off x="3415284" y="3506724"/>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상담복지 · 운영 중</a:t>
            </a:r>
          </a:p>
        </p:txBody>
      </p:sp>
      <p:sp>
        <p:nvSpPr>
          <p:cNvPr id="31" name="dev_1_0_4"/>
          <p:cNvSpPr txBox="1"/>
          <p:nvPr/>
        </p:nvSpPr>
        <p:spPr>
          <a:xfrm>
            <a:off x="3415284" y="3785616"/>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또래상담 시뮬레이션</a:t>
            </a:r>
          </a:p>
        </p:txBody>
      </p:sp>
      <p:sp>
        <p:nvSpPr>
          <p:cNvPr id="32" name="dev_1_0_4_m"/>
          <p:cNvSpPr txBox="1"/>
          <p:nvPr/>
        </p:nvSpPr>
        <p:spPr>
          <a:xfrm>
            <a:off x="3415284" y="4014216"/>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상담복지 · 결과물 등록</a:t>
            </a:r>
          </a:p>
        </p:txBody>
      </p:sp>
      <p:sp>
        <p:nvSpPr>
          <p:cNvPr id="33" name="dev_1_0_5"/>
          <p:cNvSpPr txBox="1"/>
          <p:nvPr/>
        </p:nvSpPr>
        <p:spPr>
          <a:xfrm>
            <a:off x="3415284" y="4293108"/>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감정노동존중주간 웹앱</a:t>
            </a:r>
          </a:p>
        </p:txBody>
      </p:sp>
      <p:sp>
        <p:nvSpPr>
          <p:cNvPr id="34" name="dev_1_0_5_m"/>
          <p:cNvSpPr txBox="1"/>
          <p:nvPr/>
        </p:nvSpPr>
        <p:spPr>
          <a:xfrm>
            <a:off x="3415284" y="4521708"/>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일쉼 · 운영 배포</a:t>
            </a:r>
          </a:p>
        </p:txBody>
      </p:sp>
      <p:sp>
        <p:nvSpPr>
          <p:cNvPr id="35" name="dev_1_0_6"/>
          <p:cNvSpPr txBox="1"/>
          <p:nvPr/>
        </p:nvSpPr>
        <p:spPr>
          <a:xfrm>
            <a:off x="3415284" y="4800600"/>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청소년 존중시민 퀴즈톡</a:t>
            </a:r>
          </a:p>
        </p:txBody>
      </p:sp>
      <p:sp>
        <p:nvSpPr>
          <p:cNvPr id="36" name="dev_1_0_6_m"/>
          <p:cNvSpPr txBox="1"/>
          <p:nvPr/>
        </p:nvSpPr>
        <p:spPr>
          <a:xfrm>
            <a:off x="3415284" y="5029200"/>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일쉼 · 베타 배포</a:t>
            </a:r>
          </a:p>
        </p:txBody>
      </p:sp>
      <p:sp>
        <p:nvSpPr>
          <p:cNvPr id="37" name="dev_1_0_7"/>
          <p:cNvSpPr txBox="1"/>
          <p:nvPr/>
        </p:nvSpPr>
        <p:spPr>
          <a:xfrm>
            <a:off x="3415284" y="5308092"/>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시민참여 웹 이벤트</a:t>
            </a:r>
          </a:p>
        </p:txBody>
      </p:sp>
      <p:sp>
        <p:nvSpPr>
          <p:cNvPr id="38" name="dev_1_0_7_m"/>
          <p:cNvSpPr txBox="1"/>
          <p:nvPr/>
        </p:nvSpPr>
        <p:spPr>
          <a:xfrm>
            <a:off x="3415284" y="5536692"/>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일쉼 · 운영</a:t>
            </a:r>
          </a:p>
        </p:txBody>
      </p:sp>
      <p:cxnSp>
        <p:nvCxnSpPr>
          <p:cNvPr id="39" name="line_28"/>
          <p:cNvCxnSpPr/>
          <p:nvPr/>
        </p:nvCxnSpPr>
        <p:spPr>
          <a:xfrm>
            <a:off x="6208776" y="1371600"/>
            <a:ext cx="256489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40" name="dev_2_0_cat"/>
          <p:cNvSpPr txBox="1"/>
          <p:nvPr/>
        </p:nvSpPr>
        <p:spPr>
          <a:xfrm>
            <a:off x="6208776" y="1426464"/>
            <a:ext cx="2564892" cy="292608"/>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홍보·콘텐츠·기록</a:t>
            </a:r>
          </a:p>
        </p:txBody>
      </p:sp>
      <p:sp>
        <p:nvSpPr>
          <p:cNvPr id="41" name="dev_2_0_0"/>
          <p:cNvSpPr txBox="1"/>
          <p:nvPr/>
        </p:nvSpPr>
        <p:spPr>
          <a:xfrm>
            <a:off x="6208776" y="1755648"/>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보도자료 초안 생성기</a:t>
            </a:r>
          </a:p>
        </p:txBody>
      </p:sp>
      <p:sp>
        <p:nvSpPr>
          <p:cNvPr id="42" name="dev_2_0_0_m"/>
          <p:cNvSpPr txBox="1"/>
          <p:nvPr/>
        </p:nvSpPr>
        <p:spPr>
          <a:xfrm>
            <a:off x="6208776" y="1984248"/>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청소년센터 · 부서 배포</a:t>
            </a:r>
          </a:p>
        </p:txBody>
      </p:sp>
      <p:sp>
        <p:nvSpPr>
          <p:cNvPr id="43" name="dev_2_0_1"/>
          <p:cNvSpPr txBox="1"/>
          <p:nvPr/>
        </p:nvSpPr>
        <p:spPr>
          <a:xfrm>
            <a:off x="6208776" y="2263140"/>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사계 부여청 웹 아카이브</a:t>
            </a:r>
          </a:p>
        </p:txBody>
      </p:sp>
      <p:sp>
        <p:nvSpPr>
          <p:cNvPr id="44" name="dev_2_0_1_m"/>
          <p:cNvSpPr txBox="1"/>
          <p:nvPr/>
        </p:nvSpPr>
        <p:spPr>
          <a:xfrm>
            <a:off x="6208776" y="2491740"/>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여성청소년센터 · 공개</a:t>
            </a:r>
          </a:p>
        </p:txBody>
      </p:sp>
      <p:sp>
        <p:nvSpPr>
          <p:cNvPr id="45" name="dev_2_0_2"/>
          <p:cNvSpPr txBox="1"/>
          <p:nvPr/>
        </p:nvSpPr>
        <p:spPr>
          <a:xfrm>
            <a:off x="6208776" y="2770632"/>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국제가사노동자의 날 캠페인</a:t>
            </a:r>
          </a:p>
        </p:txBody>
      </p:sp>
      <p:sp>
        <p:nvSpPr>
          <p:cNvPr id="46" name="dev_2_0_2_m"/>
          <p:cNvSpPr txBox="1"/>
          <p:nvPr/>
        </p:nvSpPr>
        <p:spPr>
          <a:xfrm>
            <a:off x="6208776" y="2999232"/>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일쉼 · 공개</a:t>
            </a:r>
          </a:p>
        </p:txBody>
      </p:sp>
      <p:sp>
        <p:nvSpPr>
          <p:cNvPr id="47" name="dev_2_0_3"/>
          <p:cNvSpPr txBox="1"/>
          <p:nvPr/>
        </p:nvSpPr>
        <p:spPr>
          <a:xfrm>
            <a:off x="6208776" y="3278124"/>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맘편한 임산부우선이용 안내</a:t>
            </a:r>
          </a:p>
        </p:txBody>
      </p:sp>
      <p:sp>
        <p:nvSpPr>
          <p:cNvPr id="48" name="dev_2_0_3_m"/>
          <p:cNvSpPr txBox="1"/>
          <p:nvPr/>
        </p:nvSpPr>
        <p:spPr>
          <a:xfrm>
            <a:off x="6208776" y="3506724"/>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일쉼 · 공개</a:t>
            </a:r>
          </a:p>
        </p:txBody>
      </p:sp>
      <p:cxnSp>
        <p:nvCxnSpPr>
          <p:cNvPr id="49" name="line_29"/>
          <p:cNvCxnSpPr/>
          <p:nvPr/>
        </p:nvCxnSpPr>
        <p:spPr>
          <a:xfrm>
            <a:off x="6208776" y="3877056"/>
            <a:ext cx="256489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50" name="dev_2_1_cat"/>
          <p:cNvSpPr txBox="1"/>
          <p:nvPr/>
        </p:nvSpPr>
        <p:spPr>
          <a:xfrm>
            <a:off x="6208776" y="3931920"/>
            <a:ext cx="2564892" cy="292608"/>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직원 교육·활용지원</a:t>
            </a:r>
          </a:p>
        </p:txBody>
      </p:sp>
      <p:sp>
        <p:nvSpPr>
          <p:cNvPr id="51" name="dev_2_1_0"/>
          <p:cNvSpPr txBox="1"/>
          <p:nvPr/>
        </p:nvSpPr>
        <p:spPr>
          <a:xfrm>
            <a:off x="6208776" y="4261104"/>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구글 AI 활용 콘텐츠</a:t>
            </a:r>
          </a:p>
        </p:txBody>
      </p:sp>
      <p:sp>
        <p:nvSpPr>
          <p:cNvPr id="52" name="dev_2_1_0_m"/>
          <p:cNvSpPr txBox="1"/>
          <p:nvPr/>
        </p:nvSpPr>
        <p:spPr>
          <a:xfrm>
            <a:off x="6208776" y="4489704"/>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전략경영실 · 배포·확산</a:t>
            </a:r>
          </a:p>
        </p:txBody>
      </p:sp>
      <p:sp>
        <p:nvSpPr>
          <p:cNvPr id="53" name="dev_2_1_1"/>
          <p:cNvSpPr txBox="1"/>
          <p:nvPr/>
        </p:nvSpPr>
        <p:spPr>
          <a:xfrm>
            <a:off x="6208776" y="4768596"/>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소사 AI 활용 안내 워크숍</a:t>
            </a:r>
          </a:p>
        </p:txBody>
      </p:sp>
      <p:sp>
        <p:nvSpPr>
          <p:cNvPr id="54" name="dev_2_1_1_m"/>
          <p:cNvSpPr txBox="1"/>
          <p:nvPr/>
        </p:nvSpPr>
        <p:spPr>
          <a:xfrm>
            <a:off x="6208776" y="4997196"/>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소사 · 6.17. 13명 참석</a:t>
            </a:r>
          </a:p>
        </p:txBody>
      </p:sp>
      <p:sp>
        <p:nvSpPr>
          <p:cNvPr id="55" name="dev_2_1_2"/>
          <p:cNvSpPr txBox="1"/>
          <p:nvPr/>
        </p:nvSpPr>
        <p:spPr>
          <a:xfrm>
            <a:off x="6208776" y="5276088"/>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일쉼 AX 워크숍</a:t>
            </a:r>
          </a:p>
        </p:txBody>
      </p:sp>
      <p:sp>
        <p:nvSpPr>
          <p:cNvPr id="56" name="dev_2_1_2_m"/>
          <p:cNvSpPr txBox="1"/>
          <p:nvPr/>
        </p:nvSpPr>
        <p:spPr>
          <a:xfrm>
            <a:off x="6208776" y="5504688"/>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일쉼 · 7.29. 6명 전원</a:t>
            </a:r>
          </a:p>
        </p:txBody>
      </p:sp>
      <p:sp>
        <p:nvSpPr>
          <p:cNvPr id="57" name="dev_2_1_3"/>
          <p:cNvSpPr txBox="1"/>
          <p:nvPr/>
        </p:nvSpPr>
        <p:spPr>
          <a:xfrm>
            <a:off x="6208776" y="5783579"/>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산울림 AI 활용 워크숍</a:t>
            </a:r>
          </a:p>
        </p:txBody>
      </p:sp>
      <p:sp>
        <p:nvSpPr>
          <p:cNvPr id="58" name="dev_2_1_3_m"/>
          <p:cNvSpPr txBox="1"/>
          <p:nvPr/>
        </p:nvSpPr>
        <p:spPr>
          <a:xfrm>
            <a:off x="6208776" y="6012179"/>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산울림 · 9.22. 14명 대상</a:t>
            </a:r>
          </a:p>
        </p:txBody>
      </p:sp>
      <p:cxnSp>
        <p:nvCxnSpPr>
          <p:cNvPr id="59" name="line_30"/>
          <p:cNvCxnSpPr/>
          <p:nvPr/>
        </p:nvCxnSpPr>
        <p:spPr>
          <a:xfrm>
            <a:off x="9002268" y="1371600"/>
            <a:ext cx="256489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60" name="dev_3_0_cat"/>
          <p:cNvSpPr txBox="1"/>
          <p:nvPr/>
        </p:nvSpPr>
        <p:spPr>
          <a:xfrm>
            <a:off x="9002268" y="1426464"/>
            <a:ext cx="2564892" cy="292608"/>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규정·윤리·보안</a:t>
            </a:r>
          </a:p>
        </p:txBody>
      </p:sp>
      <p:sp>
        <p:nvSpPr>
          <p:cNvPr id="61" name="dev_3_0_0"/>
          <p:cNvSpPr txBox="1"/>
          <p:nvPr/>
        </p:nvSpPr>
        <p:spPr>
          <a:xfrm>
            <a:off x="9002268" y="1755648"/>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외부활동 신고 AI 챗봇</a:t>
            </a:r>
          </a:p>
        </p:txBody>
      </p:sp>
      <p:sp>
        <p:nvSpPr>
          <p:cNvPr id="62" name="dev_3_0_0_m"/>
          <p:cNvSpPr txBox="1"/>
          <p:nvPr/>
        </p:nvSpPr>
        <p:spPr>
          <a:xfrm>
            <a:off x="9002268" y="1984248"/>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윤리감사 · 공식 안내</a:t>
            </a:r>
          </a:p>
        </p:txBody>
      </p:sp>
      <p:sp>
        <p:nvSpPr>
          <p:cNvPr id="63" name="dev_3_0_1"/>
          <p:cNvSpPr txBox="1"/>
          <p:nvPr/>
        </p:nvSpPr>
        <p:spPr>
          <a:xfrm>
            <a:off x="9002268" y="2263140"/>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내PC지키미 점검 정리</a:t>
            </a:r>
          </a:p>
        </p:txBody>
      </p:sp>
      <p:sp>
        <p:nvSpPr>
          <p:cNvPr id="64" name="dev_3_0_1_m"/>
          <p:cNvSpPr txBox="1"/>
          <p:nvPr/>
        </p:nvSpPr>
        <p:spPr>
          <a:xfrm>
            <a:off x="9002268" y="2491740"/>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전략경영실 · 적용</a:t>
            </a:r>
          </a:p>
        </p:txBody>
      </p:sp>
      <p:sp>
        <p:nvSpPr>
          <p:cNvPr id="65" name="dev_3_0_2"/>
          <p:cNvSpPr txBox="1"/>
          <p:nvPr/>
        </p:nvSpPr>
        <p:spPr>
          <a:xfrm>
            <a:off x="9002268" y="2770632"/>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AI 활용 윤리 지침안</a:t>
            </a:r>
          </a:p>
        </p:txBody>
      </p:sp>
      <p:sp>
        <p:nvSpPr>
          <p:cNvPr id="66" name="dev_3_0_2_m"/>
          <p:cNvSpPr txBox="1"/>
          <p:nvPr/>
        </p:nvSpPr>
        <p:spPr>
          <a:xfrm>
            <a:off x="9002268" y="2999232"/>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전략경영실 · 공동 검토</a:t>
            </a:r>
          </a:p>
        </p:txBody>
      </p:sp>
      <p:cxnSp>
        <p:nvCxnSpPr>
          <p:cNvPr id="67" name="line_31"/>
          <p:cNvCxnSpPr/>
          <p:nvPr/>
        </p:nvCxnSpPr>
        <p:spPr>
          <a:xfrm>
            <a:off x="9002268" y="3369564"/>
            <a:ext cx="256489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68" name="dev_3_1_cat"/>
          <p:cNvSpPr txBox="1"/>
          <p:nvPr/>
        </p:nvSpPr>
        <p:spPr>
          <a:xfrm>
            <a:off x="9002268" y="3424428"/>
            <a:ext cx="2564892" cy="292608"/>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문서·서식 관리</a:t>
            </a:r>
          </a:p>
        </p:txBody>
      </p:sp>
      <p:sp>
        <p:nvSpPr>
          <p:cNvPr id="69" name="dev_3_1_0"/>
          <p:cNvSpPr txBox="1"/>
          <p:nvPr/>
        </p:nvSpPr>
        <p:spPr>
          <a:xfrm>
            <a:off x="9002268" y="3753612"/>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HWPX 문서 체계 전환</a:t>
            </a:r>
          </a:p>
        </p:txBody>
      </p:sp>
      <p:sp>
        <p:nvSpPr>
          <p:cNvPr id="70" name="dev_3_1_0_m"/>
          <p:cNvSpPr txBox="1"/>
          <p:nvPr/>
        </p:nvSpPr>
        <p:spPr>
          <a:xfrm>
            <a:off x="9002268" y="3982212"/>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전략경영실 · 적용 지원</a:t>
            </a:r>
          </a:p>
        </p:txBody>
      </p:sp>
      <p:sp>
        <p:nvSpPr>
          <p:cNvPr id="71" name="dev_3_1_1"/>
          <p:cNvSpPr txBox="1"/>
          <p:nvPr/>
        </p:nvSpPr>
        <p:spPr>
          <a:xfrm>
            <a:off x="9002268" y="4261104"/>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HWPX 변환 도구</a:t>
            </a:r>
          </a:p>
        </p:txBody>
      </p:sp>
      <p:sp>
        <p:nvSpPr>
          <p:cNvPr id="72" name="dev_3_1_1_m"/>
          <p:cNvSpPr txBox="1"/>
          <p:nvPr/>
        </p:nvSpPr>
        <p:spPr>
          <a:xfrm>
            <a:off x="9002268" y="4489704"/>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전략경영실 · 안내</a:t>
            </a:r>
          </a:p>
        </p:txBody>
      </p:sp>
      <p:cxnSp>
        <p:nvCxnSpPr>
          <p:cNvPr id="73" name="line_32"/>
          <p:cNvCxnSpPr/>
          <p:nvPr/>
        </p:nvCxnSpPr>
        <p:spPr>
          <a:xfrm>
            <a:off x="9002268" y="4860036"/>
            <a:ext cx="256489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sp>
        <p:nvSpPr>
          <p:cNvPr id="74" name="dev_3_2_cat"/>
          <p:cNvSpPr txBox="1"/>
          <p:nvPr/>
        </p:nvSpPr>
        <p:spPr>
          <a:xfrm>
            <a:off x="9002268" y="4914899"/>
            <a:ext cx="2564892" cy="292608"/>
          </a:xfrm>
          <a:prstGeom prst="rect">
            <a:avLst/>
          </a:prstGeom>
          <a:noFill/>
        </p:spPr>
        <p:txBody>
          <a:bodyPr wrap="square" lIns="0" tIns="0" rIns="0" bIns="0" anchor="t">
            <a:noAutofit/>
          </a:bodyPr>
          <a:lstStyle/>
          <a:p>
            <a:pPr algn="l" eaLnBrk="0"/>
            <a:r>
              <a:rPr lang="ko-KR" sz="1400">
                <a:solidFill>
                  <a:srgbClr val="724598"/>
                </a:solidFill>
                <a:latin typeface="KoPub돋움체 Bold" panose="02020603020101020101" pitchFamily="18" charset="-127"/>
                <a:ea typeface="KoPub돋움체 Bold" panose="02020603020101020101" pitchFamily="18" charset="-127"/>
                <a:cs typeface="KoPub돋움체 Bold"/>
              </a:rPr>
              <a:t>활용 현황·수요조사</a:t>
            </a:r>
          </a:p>
        </p:txBody>
      </p:sp>
      <p:sp>
        <p:nvSpPr>
          <p:cNvPr id="75" name="dev_3_2_0"/>
          <p:cNvSpPr txBox="1"/>
          <p:nvPr/>
        </p:nvSpPr>
        <p:spPr>
          <a:xfrm>
            <a:off x="9002268" y="5244083"/>
            <a:ext cx="2564892" cy="246888"/>
          </a:xfrm>
          <a:prstGeom prst="rect">
            <a:avLst/>
          </a:prstGeom>
          <a:noFill/>
        </p:spPr>
        <p:txBody>
          <a:bodyPr wrap="square" lIns="0" tIns="0" rIns="0" bIns="0" anchor="t">
            <a:noAutofit/>
          </a:bodyPr>
          <a:lstStyle/>
          <a:p>
            <a:pPr algn="l" eaLnBrk="0"/>
            <a:r>
              <a:rPr lang="ko-KR" sz="1350">
                <a:solidFill>
                  <a:srgbClr val="1F1F1F"/>
                </a:solidFill>
                <a:latin typeface="KoPub돋움체 Bold" panose="02020603020101020101" pitchFamily="18" charset="-127"/>
                <a:ea typeface="KoPub돋움체 Bold" panose="02020603020101020101" pitchFamily="18" charset="-127"/>
                <a:cs typeface="KoPub돋움체 Bold"/>
              </a:rPr>
              <a:t>전 직원 AI 활용성 조사</a:t>
            </a:r>
          </a:p>
        </p:txBody>
      </p:sp>
      <p:sp>
        <p:nvSpPr>
          <p:cNvPr id="76" name="dev_3_2_0_m"/>
          <p:cNvSpPr txBox="1"/>
          <p:nvPr/>
        </p:nvSpPr>
        <p:spPr>
          <a:xfrm>
            <a:off x="9002268" y="5472683"/>
            <a:ext cx="2564892" cy="219456"/>
          </a:xfrm>
          <a:prstGeom prst="rect">
            <a:avLst/>
          </a:prstGeom>
          <a:noFill/>
        </p:spPr>
        <p:txBody>
          <a:bodyPr wrap="square" lIns="0" tIns="0" rIns="0" bIns="0" anchor="t">
            <a:noAutofit/>
          </a:bodyPr>
          <a:lstStyle/>
          <a:p>
            <a:pPr algn="l" eaLnBrk="0"/>
            <a:r>
              <a:rPr lang="ko-KR" sz="1100">
                <a:solidFill>
                  <a:srgbClr val="5E6672"/>
                </a:solidFill>
                <a:latin typeface="KoPub돋움체 Medium" panose="02020603020101020101" pitchFamily="18" charset="-127"/>
                <a:ea typeface="KoPub돋움체 Medium" panose="02020603020101020101" pitchFamily="18" charset="-127"/>
                <a:cs typeface="KoPub돋움체 Medium"/>
              </a:rPr>
              <a:t>전략경영실 · 분석 완료</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같은 데이터를 다시 입력하는 일을 줄였습니다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부서별 성과</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안전교육일지: 제출 사례의 시간 비교 · 공동실습: 참여 6명 사전·사후 자기보고</a:t>
            </a:r>
          </a:p>
        </p:txBody>
      </p:sp>
      <p:sp>
        <p:nvSpPr>
          <p:cNvPr id="5" name="cat_0"/>
          <p:cNvSpPr txBox="1"/>
          <p:nvPr/>
        </p:nvSpPr>
        <p:spPr>
          <a:xfrm>
            <a:off x="621792" y="1371600"/>
            <a:ext cx="2651760" cy="548640"/>
          </a:xfrm>
          <a:prstGeom prst="rect">
            <a:avLst/>
          </a:prstGeom>
          <a:noFill/>
        </p:spPr>
        <p:txBody>
          <a:bodyPr wrap="square" lIns="0" tIns="0" rIns="0" bIns="0" anchor="t">
            <a:noAutofit/>
          </a:bodyPr>
          <a:lstStyle/>
          <a:p>
            <a:pPr algn="l"/>
            <a:r>
              <a:rPr lang="ko-KR" sz="1400">
                <a:solidFill>
                  <a:srgbClr val="724598"/>
                </a:solidFill>
                <a:latin typeface="KoPub돋움체 Bold" panose="02020603020101020101" pitchFamily="18" charset="-127"/>
                <a:ea typeface="KoPub돋움체 Bold" panose="02020603020101020101" pitchFamily="18" charset="-127"/>
                <a:cs typeface="KoPub돋움체 Bold"/>
              </a:rPr>
              <a:t>자동화</a:t>
            </a:r>
          </a:p>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안전일지, 출석부, 행정서류</a:t>
            </a:r>
          </a:p>
        </p:txBody>
      </p:sp>
      <p:sp>
        <p:nvSpPr>
          <p:cNvPr id="6" name="cat_1"/>
          <p:cNvSpPr txBox="1"/>
          <p:nvPr/>
        </p:nvSpPr>
        <p:spPr>
          <a:xfrm>
            <a:off x="3364992" y="1371600"/>
            <a:ext cx="2651760" cy="548640"/>
          </a:xfrm>
          <a:prstGeom prst="rect">
            <a:avLst/>
          </a:prstGeom>
          <a:noFill/>
        </p:spPr>
        <p:txBody>
          <a:bodyPr wrap="square" lIns="0" tIns="0" rIns="0" bIns="0" anchor="t">
            <a:noAutofit/>
          </a:bodyPr>
          <a:lstStyle/>
          <a:p>
            <a:pPr algn="l"/>
            <a:r>
              <a:rPr lang="ko-KR" sz="1400">
                <a:solidFill>
                  <a:srgbClr val="724598"/>
                </a:solidFill>
                <a:latin typeface="KoPub돋움체 Bold" panose="02020603020101020101" pitchFamily="18" charset="-127"/>
                <a:ea typeface="KoPub돋움체 Bold" panose="02020603020101020101" pitchFamily="18" charset="-127"/>
                <a:cs typeface="KoPub돋움체 Bold"/>
              </a:rPr>
              <a:t>대민서비스</a:t>
            </a:r>
          </a:p>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이용관리, 상담 연습</a:t>
            </a:r>
          </a:p>
        </p:txBody>
      </p:sp>
      <p:sp>
        <p:nvSpPr>
          <p:cNvPr id="7" name="cat_2"/>
          <p:cNvSpPr txBox="1"/>
          <p:nvPr/>
        </p:nvSpPr>
        <p:spPr>
          <a:xfrm>
            <a:off x="6108192" y="1371600"/>
            <a:ext cx="2651760" cy="548640"/>
          </a:xfrm>
          <a:prstGeom prst="rect">
            <a:avLst/>
          </a:prstGeom>
          <a:noFill/>
        </p:spPr>
        <p:txBody>
          <a:bodyPr wrap="square" lIns="0" tIns="0" rIns="0" bIns="0" anchor="t">
            <a:noAutofit/>
          </a:bodyPr>
          <a:lstStyle/>
          <a:p>
            <a:pPr algn="l"/>
            <a:r>
              <a:rPr lang="ko-KR" sz="1400">
                <a:solidFill>
                  <a:srgbClr val="724598"/>
                </a:solidFill>
                <a:latin typeface="KoPub돋움체 Bold" panose="02020603020101020101" pitchFamily="18" charset="-127"/>
                <a:ea typeface="KoPub돋움체 Bold" panose="02020603020101020101" pitchFamily="18" charset="-127"/>
                <a:cs typeface="KoPub돋움체 Bold"/>
              </a:rPr>
              <a:t>홍보콘텐츠</a:t>
            </a:r>
          </a:p>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보도자료, 웹 아카이브</a:t>
            </a:r>
          </a:p>
        </p:txBody>
      </p:sp>
      <p:sp>
        <p:nvSpPr>
          <p:cNvPr id="8" name="cat_3"/>
          <p:cNvSpPr txBox="1"/>
          <p:nvPr/>
        </p:nvSpPr>
        <p:spPr>
          <a:xfrm>
            <a:off x="8851392" y="1371600"/>
            <a:ext cx="2651760" cy="548640"/>
          </a:xfrm>
          <a:prstGeom prst="rect">
            <a:avLst/>
          </a:prstGeom>
          <a:noFill/>
        </p:spPr>
        <p:txBody>
          <a:bodyPr wrap="square" lIns="0" tIns="0" rIns="0" bIns="0" anchor="t">
            <a:noAutofit/>
          </a:bodyPr>
          <a:lstStyle/>
          <a:p>
            <a:pPr algn="l"/>
            <a:r>
              <a:rPr lang="ko-KR" sz="1400">
                <a:solidFill>
                  <a:srgbClr val="724598"/>
                </a:solidFill>
                <a:latin typeface="KoPub돋움체 Bold" panose="02020603020101020101" pitchFamily="18" charset="-127"/>
                <a:ea typeface="KoPub돋움체 Bold" panose="02020603020101020101" pitchFamily="18" charset="-127"/>
                <a:cs typeface="KoPub돋움체 Bold"/>
              </a:rPr>
              <a:t>문화확산</a:t>
            </a:r>
          </a:p>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공동실습, 동료 안내</a:t>
            </a:r>
          </a:p>
        </p:txBody>
      </p:sp>
      <p:cxnSp>
        <p:nvCxnSpPr>
          <p:cNvPr id="9" name="line_2"/>
          <p:cNvCxnSpPr/>
          <p:nvPr/>
        </p:nvCxnSpPr>
        <p:spPr>
          <a:xfrm>
            <a:off x="621792" y="2011680"/>
            <a:ext cx="10945368"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10" name="case_title"/>
          <p:cNvSpPr txBox="1"/>
          <p:nvPr/>
        </p:nvSpPr>
        <p:spPr>
          <a:xfrm>
            <a:off x="621792" y="2194560"/>
            <a:ext cx="6766560" cy="41148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소사청소년센터  </a:t>
            </a:r>
            <a:r>
              <a:rPr lang="ko-KR" sz="2000">
                <a:solidFill>
                  <a:srgbClr val="1F1F1F"/>
                </a:solidFill>
                <a:latin typeface="KoPub돋움체 Bold" panose="02020603020101020101" pitchFamily="18" charset="-127"/>
                <a:ea typeface="KoPub돋움체 Bold" panose="02020603020101020101" pitchFamily="18" charset="-127"/>
                <a:cs typeface="KoPub돋움체 Bold"/>
              </a:rPr>
              <a:t>안전교육일지</a:t>
            </a:r>
          </a:p>
        </p:txBody>
      </p:sp>
      <p:sp>
        <p:nvSpPr>
          <p:cNvPr id="11" name="case_before_chip"/>
          <p:cNvSpPr/>
          <p:nvPr/>
        </p:nvSpPr>
        <p:spPr>
          <a:xfrm>
            <a:off x="621792" y="2788920"/>
            <a:ext cx="731520" cy="292608"/>
          </a:xfrm>
          <a:prstGeom prst="roundRect">
            <a:avLst>
              <a:gd name="adj" fmla="val 50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5E6672"/>
                </a:solidFill>
                <a:latin typeface="KoPub돋움체 Bold" panose="02020603020101020101" pitchFamily="18" charset="-127"/>
                <a:ea typeface="KoPub돋움체 Bold" panose="02020603020101020101" pitchFamily="18" charset="-127"/>
                <a:cs typeface="KoPub돋움체 Bold"/>
              </a:rPr>
              <a:t>이전</a:t>
            </a:r>
          </a:p>
        </p:txBody>
      </p:sp>
      <p:sp>
        <p:nvSpPr>
          <p:cNvPr id="12" name="case_before"/>
          <p:cNvSpPr txBox="1"/>
          <p:nvPr/>
        </p:nvSpPr>
        <p:spPr>
          <a:xfrm>
            <a:off x="1508760" y="2761488"/>
            <a:ext cx="5760720" cy="365760"/>
          </a:xfrm>
          <a:prstGeom prst="rect">
            <a:avLst/>
          </a:prstGeom>
          <a:noFill/>
        </p:spPr>
        <p:txBody>
          <a:bodyPr wrap="square" lIns="0" tIns="0" rIns="0" bIns="0" anchor="ctr">
            <a:noAutofit/>
          </a:bodyPr>
          <a:lstStyle/>
          <a:p>
            <a:pPr algn="l"/>
            <a:r>
              <a:rPr lang="ko-KR" sz="1700">
                <a:solidFill>
                  <a:srgbClr val="5E6672"/>
                </a:solidFill>
                <a:latin typeface="KoPub돋움체 Medium" panose="02020603020101020101" pitchFamily="18" charset="-127"/>
                <a:ea typeface="KoPub돋움체 Medium" panose="02020603020101020101" pitchFamily="18" charset="-127"/>
                <a:cs typeface="KoPub돋움체 Medium"/>
              </a:rPr>
              <a:t>Excel 대장에 작성  →  일지에 다시 입력</a:t>
            </a:r>
          </a:p>
        </p:txBody>
      </p:sp>
      <p:sp>
        <p:nvSpPr>
          <p:cNvPr id="13" name="cue_reuse_chip"/>
          <p:cNvSpPr/>
          <p:nvPr/>
        </p:nvSpPr>
        <p:spPr>
          <a:xfrm>
            <a:off x="621792" y="3291840"/>
            <a:ext cx="731520" cy="292608"/>
          </a:xfrm>
          <a:prstGeom prst="roundRect">
            <a:avLst>
              <a:gd name="adj" fmla="val 50000"/>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FFFFFF"/>
                </a:solidFill>
                <a:latin typeface="KoPub돋움체 Bold" panose="02020603020101020101" pitchFamily="18" charset="-127"/>
                <a:ea typeface="KoPub돋움체 Bold" panose="02020603020101020101" pitchFamily="18" charset="-127"/>
                <a:cs typeface="KoPub돋움체 Bold"/>
              </a:rPr>
              <a:t>개선</a:t>
            </a:r>
          </a:p>
        </p:txBody>
      </p:sp>
      <p:sp>
        <p:nvSpPr>
          <p:cNvPr id="14" name="cue_reuse_text"/>
          <p:cNvSpPr txBox="1"/>
          <p:nvPr/>
        </p:nvSpPr>
        <p:spPr>
          <a:xfrm>
            <a:off x="1508760" y="3264408"/>
            <a:ext cx="5760720" cy="365760"/>
          </a:xfrm>
          <a:prstGeom prst="rect">
            <a:avLst/>
          </a:prstGeom>
          <a:noFill/>
        </p:spPr>
        <p:txBody>
          <a:bodyPr wrap="square" lIns="0" tIns="0" rIns="0" bIns="0" anchor="ctr">
            <a:noAutofit/>
          </a:bodyPr>
          <a:lstStyle/>
          <a:p>
            <a:pPr algn="l"/>
            <a:r>
              <a:rPr lang="ko-KR" sz="1700">
                <a:solidFill>
                  <a:srgbClr val="1F1F1F"/>
                </a:solidFill>
                <a:latin typeface="KoPub돋움체 Bold" panose="02020603020101020101" pitchFamily="18" charset="-127"/>
                <a:ea typeface="KoPub돋움체 Bold" panose="02020603020101020101" pitchFamily="18" charset="-127"/>
                <a:cs typeface="KoPub돋움체 Bold"/>
              </a:rPr>
              <a:t>같은 자료로 HWPX 일지를 바로 생성</a:t>
            </a:r>
          </a:p>
        </p:txBody>
      </p:sp>
      <p:sp>
        <p:nvSpPr>
          <p:cNvPr id="15" name="case_from"/>
          <p:cNvSpPr txBox="1"/>
          <p:nvPr/>
        </p:nvSpPr>
        <p:spPr>
          <a:xfrm>
            <a:off x="621792" y="3886200"/>
            <a:ext cx="2377440" cy="1005840"/>
          </a:xfrm>
          <a:prstGeom prst="rect">
            <a:avLst/>
          </a:prstGeom>
          <a:noFill/>
        </p:spPr>
        <p:txBody>
          <a:bodyPr wrap="square" lIns="0" tIns="0" rIns="0" bIns="0" anchor="b">
            <a:noAutofit/>
          </a:bodyPr>
          <a:lstStyle/>
          <a:p>
            <a:pPr algn="l"/>
            <a:r>
              <a:rPr lang="ko-KR" sz="4400">
                <a:solidFill>
                  <a:srgbClr val="5E6672"/>
                </a:solidFill>
                <a:latin typeface="KoPub돋움체 Bold" panose="02020603020101020101" pitchFamily="18" charset="-127"/>
                <a:ea typeface="KoPub돋움체 Bold" panose="02020603020101020101" pitchFamily="18" charset="-127"/>
                <a:cs typeface="KoPub돋움체 Bold"/>
              </a:rPr>
              <a:t>약 20분</a:t>
            </a:r>
          </a:p>
        </p:txBody>
      </p:sp>
      <p:cxnSp>
        <p:nvCxnSpPr>
          <p:cNvPr id="16" name="case_arrow"/>
          <p:cNvCxnSpPr/>
          <p:nvPr/>
        </p:nvCxnSpPr>
        <p:spPr>
          <a:xfrm>
            <a:off x="2926080" y="4526280"/>
            <a:ext cx="731520" cy="0"/>
          </a:xfrm>
          <a:prstGeom prst="line">
            <a:avLst/>
          </a:prstGeom>
          <a:ln w="381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case_to"/>
          <p:cNvSpPr txBox="1"/>
          <p:nvPr/>
        </p:nvSpPr>
        <p:spPr>
          <a:xfrm>
            <a:off x="3840480" y="3749039"/>
            <a:ext cx="3566160" cy="1143000"/>
          </a:xfrm>
          <a:prstGeom prst="rect">
            <a:avLst/>
          </a:prstGeom>
          <a:noFill/>
        </p:spPr>
        <p:txBody>
          <a:bodyPr wrap="square" lIns="0" tIns="0" rIns="0" bIns="0" anchor="b">
            <a:noAutofit/>
          </a:bodyPr>
          <a:lstStyle/>
          <a:p>
            <a:pPr algn="l"/>
            <a:r>
              <a:rPr lang="ko-KR" sz="6400">
                <a:solidFill>
                  <a:srgbClr val="724598"/>
                </a:solidFill>
                <a:latin typeface="KoPub돋움체 Bold" panose="02020603020101020101" pitchFamily="18" charset="-127"/>
                <a:ea typeface="KoPub돋움체 Bold" panose="02020603020101020101" pitchFamily="18" charset="-127"/>
                <a:cs typeface="KoPub돋움체 Bold"/>
              </a:rPr>
              <a:t>1분 이내</a:t>
            </a:r>
          </a:p>
        </p:txBody>
      </p:sp>
      <p:sp>
        <p:nvSpPr>
          <p:cNvPr id="18" name="case_cond"/>
          <p:cNvSpPr txBox="1"/>
          <p:nvPr/>
        </p:nvSpPr>
        <p:spPr>
          <a:xfrm>
            <a:off x="621792" y="4983480"/>
            <a:ext cx="6675120" cy="320040"/>
          </a:xfrm>
          <a:prstGeom prst="rect">
            <a:avLst/>
          </a:prstGeom>
          <a:noFill/>
        </p:spPr>
        <p:txBody>
          <a:bodyPr wrap="square" lIns="0" tIns="0" rIns="0" bIns="0" anchor="t">
            <a:noAutofit/>
          </a:bodyPr>
          <a:lstStyle/>
          <a:p>
            <a:pPr algn="l"/>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일지 10개 작성 기준 · 제출 사례</a:t>
            </a:r>
          </a:p>
        </p:txBody>
      </p:sp>
      <p:sp>
        <p:nvSpPr>
          <p:cNvPr id="19" name="practice_box"/>
          <p:cNvSpPr/>
          <p:nvPr/>
        </p:nvSpPr>
        <p:spPr>
          <a:xfrm>
            <a:off x="7818120" y="2194560"/>
            <a:ext cx="3749039" cy="315468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0" name="practice_title"/>
          <p:cNvSpPr txBox="1"/>
          <p:nvPr/>
        </p:nvSpPr>
        <p:spPr>
          <a:xfrm>
            <a:off x="8092440" y="2377440"/>
            <a:ext cx="3291840" cy="411480"/>
          </a:xfrm>
          <a:prstGeom prst="rect">
            <a:avLst/>
          </a:prstGeom>
          <a:noFill/>
        </p:spPr>
        <p:txBody>
          <a:bodyPr wrap="square" lIns="0" tIns="0" rIns="0" bIns="0" anchor="t">
            <a:noAutofit/>
          </a:bodyPr>
          <a:lstStyle/>
          <a:p>
            <a:pPr algn="l"/>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일쉼지원센터  </a:t>
            </a:r>
            <a:r>
              <a:rPr lang="ko-KR" sz="2000">
                <a:solidFill>
                  <a:srgbClr val="1F1F1F"/>
                </a:solidFill>
                <a:latin typeface="KoPub돋움체 Bold" panose="02020603020101020101" pitchFamily="18" charset="-127"/>
                <a:ea typeface="KoPub돋움체 Bold" panose="02020603020101020101" pitchFamily="18" charset="-127"/>
                <a:cs typeface="KoPub돋움체 Bold"/>
              </a:rPr>
              <a:t>공동실습</a:t>
            </a:r>
          </a:p>
        </p:txBody>
      </p:sp>
      <p:sp>
        <p:nvSpPr>
          <p:cNvPr id="21" name="practice_people"/>
          <p:cNvSpPr txBox="1"/>
          <p:nvPr/>
        </p:nvSpPr>
        <p:spPr>
          <a:xfrm>
            <a:off x="8092440" y="2834640"/>
            <a:ext cx="3291840" cy="777240"/>
          </a:xfrm>
          <a:prstGeom prst="rect">
            <a:avLst/>
          </a:prstGeom>
          <a:noFill/>
        </p:spPr>
        <p:txBody>
          <a:bodyPr wrap="square" lIns="0" tIns="0" rIns="0" bIns="0" anchor="b">
            <a:noAutofit/>
          </a:bodyPr>
          <a:lstStyle/>
          <a:p>
            <a:pPr algn="l"/>
            <a:r>
              <a:rPr lang="ko-KR" sz="4400">
                <a:solidFill>
                  <a:srgbClr val="156A3A"/>
                </a:solidFill>
                <a:latin typeface="KoPub돋움체 Bold" panose="02020603020101020101" pitchFamily="18" charset="-127"/>
                <a:ea typeface="KoPub돋움체 Bold" panose="02020603020101020101" pitchFamily="18" charset="-127"/>
                <a:cs typeface="KoPub돋움체 Bold"/>
              </a:rPr>
              <a:t>6명</a:t>
            </a:r>
            <a:r>
              <a:rPr lang="ko-KR" sz="1500">
                <a:solidFill>
                  <a:srgbClr val="1F1F1F"/>
                </a:solidFill>
                <a:latin typeface="KoPub돋움체 Medium" panose="02020603020101020101" pitchFamily="18" charset="-127"/>
                <a:ea typeface="KoPub돋움체 Medium" panose="02020603020101020101" pitchFamily="18" charset="-127"/>
                <a:cs typeface="KoPub돋움체 Medium"/>
              </a:rPr>
              <a:t>  각자 업무 과제를 함께 적용</a:t>
            </a:r>
          </a:p>
        </p:txBody>
      </p:sp>
      <p:cxnSp>
        <p:nvCxnSpPr>
          <p:cNvPr id="22" name="line_3"/>
          <p:cNvCxnSpPr/>
          <p:nvPr/>
        </p:nvCxnSpPr>
        <p:spPr>
          <a:xfrm>
            <a:off x="8092440" y="3794760"/>
            <a:ext cx="3200400"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23" name="practice_q"/>
          <p:cNvSpPr txBox="1"/>
          <p:nvPr/>
        </p:nvSpPr>
        <p:spPr>
          <a:xfrm>
            <a:off x="8092440" y="3931920"/>
            <a:ext cx="3291840" cy="32004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‘활용 방법을 모르겠다’는 응답</a:t>
            </a:r>
          </a:p>
        </p:txBody>
      </p:sp>
      <p:sp>
        <p:nvSpPr>
          <p:cNvPr id="24" name="practice_change"/>
          <p:cNvSpPr txBox="1"/>
          <p:nvPr/>
        </p:nvSpPr>
        <p:spPr>
          <a:xfrm>
            <a:off x="8092440" y="4297680"/>
            <a:ext cx="3291840" cy="685800"/>
          </a:xfrm>
          <a:prstGeom prst="rect">
            <a:avLst/>
          </a:prstGeom>
          <a:noFill/>
        </p:spPr>
        <p:txBody>
          <a:bodyPr wrap="square" lIns="0" tIns="0" rIns="0" bIns="0" anchor="ctr">
            <a:noAutofit/>
          </a:bodyPr>
          <a:lstStyle/>
          <a:p>
            <a:pPr algn="l"/>
            <a:r>
              <a:rPr lang="ko-KR" sz="3600">
                <a:solidFill>
                  <a:srgbClr val="156A3A"/>
                </a:solidFill>
                <a:latin typeface="KoPub돋움체 Bold" panose="02020603020101020101" pitchFamily="18" charset="-127"/>
                <a:ea typeface="KoPub돋움체 Bold" panose="02020603020101020101" pitchFamily="18" charset="-127"/>
                <a:cs typeface="KoPub돋움체 Bold"/>
              </a:rPr>
              <a:t>4명 → 2명</a:t>
            </a:r>
          </a:p>
        </p:txBody>
      </p:sp>
      <p:sp>
        <p:nvSpPr>
          <p:cNvPr id="25" name="practice_cond"/>
          <p:cNvSpPr txBox="1"/>
          <p:nvPr/>
        </p:nvSpPr>
        <p:spPr>
          <a:xfrm>
            <a:off x="8092440" y="4983480"/>
            <a:ext cx="3291840" cy="274320"/>
          </a:xfrm>
          <a:prstGeom prst="rect">
            <a:avLst/>
          </a:prstGeom>
          <a:noFill/>
        </p:spPr>
        <p:txBody>
          <a:bodyPr wrap="square" lIns="0" tIns="0" rIns="0" bIns="0" anchor="t">
            <a:noAutofit/>
          </a:bodyPr>
          <a:lstStyle/>
          <a:p>
            <a:pPr algn="l"/>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사전·사후 자기보고</a:t>
            </a:r>
          </a:p>
        </p:txBody>
      </p:sp>
      <p:sp>
        <p:nvSpPr>
          <p:cNvPr id="26" name="case_take_box"/>
          <p:cNvSpPr/>
          <p:nvPr/>
        </p:nvSpPr>
        <p:spPr>
          <a:xfrm>
            <a:off x="621792" y="5532120"/>
            <a:ext cx="10945368" cy="548640"/>
          </a:xfrm>
          <a:prstGeom prst="rect">
            <a:avLst/>
          </a:prstGeom>
          <a:solidFill>
            <a:srgbClr val="FFFFFF"/>
          </a:solidFill>
          <a:ln w="15875">
            <a:solidFill>
              <a:srgbClr val="724598"/>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7" name="case_take"/>
          <p:cNvSpPr txBox="1"/>
          <p:nvPr/>
        </p:nvSpPr>
        <p:spPr>
          <a:xfrm>
            <a:off x="914400" y="5532120"/>
            <a:ext cx="10424160" cy="548640"/>
          </a:xfrm>
          <a:prstGeom prst="rect">
            <a:avLst/>
          </a:prstGeom>
          <a:noFill/>
        </p:spPr>
        <p:txBody>
          <a:bodyPr wrap="square" lIns="0" tIns="0" rIns="0" bIns="0" anchor="ctr">
            <a:noAutofit/>
          </a:bodyPr>
          <a:lstStyle/>
          <a:p>
            <a:pPr algn="l"/>
            <a:r>
              <a:rPr lang="ko-KR" sz="1600">
                <a:solidFill>
                  <a:srgbClr val="3F2A5E"/>
                </a:solidFill>
                <a:latin typeface="KoPub돋움체 Bold" panose="02020603020101020101" pitchFamily="18" charset="-127"/>
                <a:ea typeface="KoPub돋움체 Bold" panose="02020603020101020101" pitchFamily="18" charset="-127"/>
                <a:cs typeface="KoPub돋움체 Bold"/>
              </a:rPr>
              <a:t>기능을 만드는 데서 끝내지 않고, 현장에서 함께 써보는 과정까지가 성과입니다</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par>
                          <p:cTn id="12"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350"/>
                                        <p:tgtEl>
                                          <p:spTgt spid="26"/>
                                        </p:tgtEl>
                                      </p:cBhvr>
                                    </p:animEffect>
                                  </p:childTnLst>
                                </p:cTn>
                              </p:par>
                            </p:childTnLst>
                          </p:cTn>
                        </p:par>
                        <p:par>
                          <p:cTn id="16" fill="hold">
                            <p:stCondLst>
                              <p:cond delay="105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26" grpId="0" animBg="1"/>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만드는 과정에서 다음 과제도 확인했습니다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시행착오와 개선과제</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월간 업무보고 자동화 프로젝트 추진 경과 및 결과(9.14.)</a:t>
            </a:r>
          </a:p>
        </p:txBody>
      </p:sp>
      <p:sp>
        <p:nvSpPr>
          <p:cNvPr id="5" name="trial_sub"/>
          <p:cNvSpPr txBox="1"/>
          <p:nvPr/>
        </p:nvSpPr>
        <p:spPr>
          <a:xfrm>
            <a:off x="621792" y="1371600"/>
            <a:ext cx="7315200" cy="411480"/>
          </a:xfrm>
          <a:prstGeom prst="rect">
            <a:avLst/>
          </a:prstGeom>
          <a:noFill/>
        </p:spPr>
        <p:txBody>
          <a:bodyPr wrap="square" lIns="0" tIns="0" rIns="0" bIns="0" anchor="t">
            <a:noAutofit/>
          </a:bodyPr>
          <a:lstStyle/>
          <a:p>
            <a:pPr algn="l"/>
            <a:r>
              <a:rPr lang="ko-KR" sz="2000">
                <a:solidFill>
                  <a:srgbClr val="1F1F1F"/>
                </a:solidFill>
                <a:latin typeface="KoPub돋움체 Bold" panose="02020603020101020101" pitchFamily="18" charset="-127"/>
                <a:ea typeface="KoPub돋움체 Bold" panose="02020603020101020101" pitchFamily="18" charset="-127"/>
                <a:cs typeface="KoPub돋움체 Bold"/>
              </a:rPr>
              <a:t>월간 업무보고 자동화</a:t>
            </a:r>
          </a:p>
        </p:txBody>
      </p:sp>
      <p:sp>
        <p:nvSpPr>
          <p:cNvPr id="6" name="learning_0_box"/>
          <p:cNvSpPr/>
          <p:nvPr/>
        </p:nvSpPr>
        <p:spPr>
          <a:xfrm>
            <a:off x="621792" y="1965960"/>
            <a:ext cx="3291840" cy="251460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learning_0_bar"/>
          <p:cNvSpPr/>
          <p:nvPr/>
        </p:nvSpPr>
        <p:spPr>
          <a:xfrm>
            <a:off x="621792" y="1965960"/>
            <a:ext cx="73152" cy="2514600"/>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8" name="learning_0_num"/>
          <p:cNvSpPr txBox="1"/>
          <p:nvPr/>
        </p:nvSpPr>
        <p:spPr>
          <a:xfrm>
            <a:off x="941832" y="2194560"/>
            <a:ext cx="914400" cy="411480"/>
          </a:xfrm>
          <a:prstGeom prst="rect">
            <a:avLst/>
          </a:prstGeom>
          <a:noFill/>
        </p:spPr>
        <p:txBody>
          <a:bodyPr wrap="square" lIns="0" tIns="0" rIns="0" bIns="0" anchor="t">
            <a:noAutofit/>
          </a:bodyPr>
          <a:lstStyle/>
          <a:p>
            <a:pPr algn="l"/>
            <a:r>
              <a:rPr lang="ko-KR" sz="2200">
                <a:solidFill>
                  <a:srgbClr val="724598"/>
                </a:solidFill>
                <a:latin typeface="KoPub돋움체 Bold" panose="02020603020101020101" pitchFamily="18" charset="-127"/>
                <a:ea typeface="KoPub돋움체 Bold" panose="02020603020101020101" pitchFamily="18" charset="-127"/>
                <a:cs typeface="KoPub돋움체 Bold"/>
              </a:rPr>
              <a:t>01</a:t>
            </a:r>
          </a:p>
        </p:txBody>
      </p:sp>
      <p:sp>
        <p:nvSpPr>
          <p:cNvPr id="9" name="learning_0_chip"/>
          <p:cNvSpPr/>
          <p:nvPr/>
        </p:nvSpPr>
        <p:spPr>
          <a:xfrm>
            <a:off x="2542032" y="2240280"/>
            <a:ext cx="1097280" cy="292608"/>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200">
                <a:solidFill>
                  <a:srgbClr val="FFFFFF"/>
                </a:solidFill>
                <a:latin typeface="KoPub돋움체 Bold" panose="02020603020101020101" pitchFamily="18" charset="-127"/>
                <a:ea typeface="KoPub돋움체 Bold" panose="02020603020101020101" pitchFamily="18" charset="-127"/>
                <a:cs typeface="KoPub돋움체 Bold"/>
              </a:rPr>
              <a:t>완료</a:t>
            </a:r>
          </a:p>
        </p:txBody>
      </p:sp>
      <p:sp>
        <p:nvSpPr>
          <p:cNvPr id="10" name="learning_0_title"/>
          <p:cNvSpPr txBox="1"/>
          <p:nvPr/>
        </p:nvSpPr>
        <p:spPr>
          <a:xfrm>
            <a:off x="941832" y="2743200"/>
            <a:ext cx="2743200" cy="457200"/>
          </a:xfrm>
          <a:prstGeom prst="rect">
            <a:avLst/>
          </a:prstGeom>
          <a:noFill/>
        </p:spPr>
        <p:txBody>
          <a:bodyPr wrap="square" lIns="0" tIns="0" rIns="0" bIns="0" anchor="t">
            <a:noAutofit/>
          </a:bodyPr>
          <a:lstStyle/>
          <a:p>
            <a:pPr algn="l"/>
            <a:r>
              <a:rPr lang="ko-KR" sz="2100">
                <a:solidFill>
                  <a:srgbClr val="1F1F1F"/>
                </a:solidFill>
                <a:latin typeface="KoPub돋움체 Bold" panose="02020603020101020101" pitchFamily="18" charset="-127"/>
                <a:ea typeface="KoPub돋움체 Bold" panose="02020603020101020101" pitchFamily="18" charset="-127"/>
                <a:cs typeface="KoPub돋움체 Bold"/>
              </a:rPr>
              <a:t>시제품 구현</a:t>
            </a:r>
          </a:p>
        </p:txBody>
      </p:sp>
      <p:sp>
        <p:nvSpPr>
          <p:cNvPr id="11" name="learning_0_items"/>
          <p:cNvSpPr txBox="1"/>
          <p:nvPr/>
        </p:nvSpPr>
        <p:spPr>
          <a:xfrm>
            <a:off x="941832" y="3337560"/>
            <a:ext cx="2743200" cy="109728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HWPX 처리 기능 구현</a:t>
            </a:r>
          </a:p>
        </p:txBody>
      </p:sp>
      <p:cxnSp>
        <p:nvCxnSpPr>
          <p:cNvPr id="12" name="learning_1_arrow"/>
          <p:cNvCxnSpPr/>
          <p:nvPr/>
        </p:nvCxnSpPr>
        <p:spPr>
          <a:xfrm>
            <a:off x="3986784" y="3218688"/>
            <a:ext cx="38862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learning_1_box"/>
          <p:cNvSpPr/>
          <p:nvPr/>
        </p:nvSpPr>
        <p:spPr>
          <a:xfrm>
            <a:off x="4448556" y="1965960"/>
            <a:ext cx="3291840" cy="251460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4" name="learning_1_bar"/>
          <p:cNvSpPr/>
          <p:nvPr/>
        </p:nvSpPr>
        <p:spPr>
          <a:xfrm>
            <a:off x="4448556" y="1965960"/>
            <a:ext cx="73152" cy="2514600"/>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5" name="learning_1_num"/>
          <p:cNvSpPr txBox="1"/>
          <p:nvPr/>
        </p:nvSpPr>
        <p:spPr>
          <a:xfrm>
            <a:off x="4768596" y="2194560"/>
            <a:ext cx="914400" cy="411480"/>
          </a:xfrm>
          <a:prstGeom prst="rect">
            <a:avLst/>
          </a:prstGeom>
          <a:noFill/>
        </p:spPr>
        <p:txBody>
          <a:bodyPr wrap="square" lIns="0" tIns="0" rIns="0" bIns="0" anchor="t">
            <a:noAutofit/>
          </a:bodyPr>
          <a:lstStyle/>
          <a:p>
            <a:pPr algn="l"/>
            <a:r>
              <a:rPr lang="ko-KR" sz="2200">
                <a:solidFill>
                  <a:srgbClr val="724598"/>
                </a:solidFill>
                <a:latin typeface="KoPub돋움체 Bold" panose="02020603020101020101" pitchFamily="18" charset="-127"/>
                <a:ea typeface="KoPub돋움체 Bold" panose="02020603020101020101" pitchFamily="18" charset="-127"/>
                <a:cs typeface="KoPub돋움체 Bold"/>
              </a:rPr>
              <a:t>02</a:t>
            </a:r>
          </a:p>
        </p:txBody>
      </p:sp>
      <p:sp>
        <p:nvSpPr>
          <p:cNvPr id="16" name="learning_1_chip"/>
          <p:cNvSpPr/>
          <p:nvPr/>
        </p:nvSpPr>
        <p:spPr>
          <a:xfrm>
            <a:off x="6368795" y="2240280"/>
            <a:ext cx="1097280" cy="292608"/>
          </a:xfrm>
          <a:prstGeom prst="roundRect">
            <a:avLst>
              <a:gd name="adj" fmla="val 50000"/>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200">
                <a:solidFill>
                  <a:srgbClr val="FFFFFF"/>
                </a:solidFill>
                <a:latin typeface="KoPub돋움체 Bold" panose="02020603020101020101" pitchFamily="18" charset="-127"/>
                <a:ea typeface="KoPub돋움체 Bold" panose="02020603020101020101" pitchFamily="18" charset="-127"/>
                <a:cs typeface="KoPub돋움체 Bold"/>
              </a:rPr>
              <a:t>발견</a:t>
            </a:r>
          </a:p>
        </p:txBody>
      </p:sp>
      <p:sp>
        <p:nvSpPr>
          <p:cNvPr id="17" name="learning_1_title"/>
          <p:cNvSpPr txBox="1"/>
          <p:nvPr/>
        </p:nvSpPr>
        <p:spPr>
          <a:xfrm>
            <a:off x="4768596" y="2743200"/>
            <a:ext cx="2743200" cy="457200"/>
          </a:xfrm>
          <a:prstGeom prst="rect">
            <a:avLst/>
          </a:prstGeom>
          <a:noFill/>
        </p:spPr>
        <p:txBody>
          <a:bodyPr wrap="square" lIns="0" tIns="0" rIns="0" bIns="0" anchor="t">
            <a:noAutofit/>
          </a:bodyPr>
          <a:lstStyle/>
          <a:p>
            <a:pPr algn="l"/>
            <a:r>
              <a:rPr lang="ko-KR" sz="2100">
                <a:solidFill>
                  <a:srgbClr val="1F1F1F"/>
                </a:solidFill>
                <a:latin typeface="KoPub돋움체 Bold" panose="02020603020101020101" pitchFamily="18" charset="-127"/>
                <a:ea typeface="KoPub돋움체 Bold" panose="02020603020101020101" pitchFamily="18" charset="-127"/>
                <a:cs typeface="KoPub돋움체 Bold"/>
              </a:rPr>
              <a:t>새 입력업무 부담</a:t>
            </a:r>
          </a:p>
        </p:txBody>
      </p:sp>
      <p:sp>
        <p:nvSpPr>
          <p:cNvPr id="18" name="learning_1_items"/>
          <p:cNvSpPr txBox="1"/>
          <p:nvPr/>
        </p:nvSpPr>
        <p:spPr>
          <a:xfrm>
            <a:off x="4768596" y="3337560"/>
            <a:ext cx="2743200" cy="109728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기존 서식과 수집 방식이 복잡</a:t>
            </a:r>
          </a:p>
          <a:p>
            <a:pPr algn="l">
              <a:spcBef>
                <a:spcPts val="600"/>
              </a:spcBef>
            </a:pPr>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새 입력업무가 더해질 수 있음</a:t>
            </a:r>
          </a:p>
        </p:txBody>
      </p:sp>
      <p:cxnSp>
        <p:nvCxnSpPr>
          <p:cNvPr id="19" name="learning_2_arrow"/>
          <p:cNvCxnSpPr/>
          <p:nvPr/>
        </p:nvCxnSpPr>
        <p:spPr>
          <a:xfrm>
            <a:off x="7813548" y="3218688"/>
            <a:ext cx="38862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learning_2_box"/>
          <p:cNvSpPr/>
          <p:nvPr/>
        </p:nvSpPr>
        <p:spPr>
          <a:xfrm>
            <a:off x="8275320" y="1965960"/>
            <a:ext cx="3291840" cy="251460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1" name="learning_2_bar"/>
          <p:cNvSpPr/>
          <p:nvPr/>
        </p:nvSpPr>
        <p:spPr>
          <a:xfrm>
            <a:off x="8275320" y="1965960"/>
            <a:ext cx="73152" cy="2514600"/>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2" name="learning_2_num"/>
          <p:cNvSpPr txBox="1"/>
          <p:nvPr/>
        </p:nvSpPr>
        <p:spPr>
          <a:xfrm>
            <a:off x="8595360" y="2194560"/>
            <a:ext cx="914400" cy="411480"/>
          </a:xfrm>
          <a:prstGeom prst="rect">
            <a:avLst/>
          </a:prstGeom>
          <a:noFill/>
        </p:spPr>
        <p:txBody>
          <a:bodyPr wrap="square" lIns="0" tIns="0" rIns="0" bIns="0" anchor="t">
            <a:noAutofit/>
          </a:bodyPr>
          <a:lstStyle/>
          <a:p>
            <a:pPr algn="l"/>
            <a:r>
              <a:rPr lang="ko-KR" sz="2200">
                <a:solidFill>
                  <a:srgbClr val="724598"/>
                </a:solidFill>
                <a:latin typeface="KoPub돋움체 Bold" panose="02020603020101020101" pitchFamily="18" charset="-127"/>
                <a:ea typeface="KoPub돋움체 Bold" panose="02020603020101020101" pitchFamily="18" charset="-127"/>
                <a:cs typeface="KoPub돋움체 Bold"/>
              </a:rPr>
              <a:t>03</a:t>
            </a:r>
          </a:p>
        </p:txBody>
      </p:sp>
      <p:sp>
        <p:nvSpPr>
          <p:cNvPr id="23" name="learning_2_chip"/>
          <p:cNvSpPr/>
          <p:nvPr/>
        </p:nvSpPr>
        <p:spPr>
          <a:xfrm>
            <a:off x="10195560" y="2240280"/>
            <a:ext cx="1097280" cy="292608"/>
          </a:xfrm>
          <a:prstGeom prst="roundRect">
            <a:avLst>
              <a:gd name="adj" fmla="val 50000"/>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200">
                <a:solidFill>
                  <a:srgbClr val="FFFFFF"/>
                </a:solidFill>
                <a:latin typeface="KoPub돋움체 Bold" panose="02020603020101020101" pitchFamily="18" charset="-127"/>
                <a:ea typeface="KoPub돋움체 Bold" panose="02020603020101020101" pitchFamily="18" charset="-127"/>
                <a:cs typeface="KoPub돋움체 Bold"/>
              </a:rPr>
              <a:t>다음 과제</a:t>
            </a:r>
          </a:p>
        </p:txBody>
      </p:sp>
      <p:sp>
        <p:nvSpPr>
          <p:cNvPr id="24" name="learning_2_title"/>
          <p:cNvSpPr txBox="1"/>
          <p:nvPr/>
        </p:nvSpPr>
        <p:spPr>
          <a:xfrm>
            <a:off x="8595360" y="2743200"/>
            <a:ext cx="2743200" cy="457200"/>
          </a:xfrm>
          <a:prstGeom prst="rect">
            <a:avLst/>
          </a:prstGeom>
          <a:noFill/>
        </p:spPr>
        <p:txBody>
          <a:bodyPr wrap="square" lIns="0" tIns="0" rIns="0" bIns="0" anchor="t">
            <a:noAutofit/>
          </a:bodyPr>
          <a:lstStyle/>
          <a:p>
            <a:pPr algn="l"/>
            <a:r>
              <a:rPr lang="ko-KR" sz="2100">
                <a:solidFill>
                  <a:srgbClr val="1F1F1F"/>
                </a:solidFill>
                <a:latin typeface="KoPub돋움체 Bold" panose="02020603020101020101" pitchFamily="18" charset="-127"/>
                <a:ea typeface="KoPub돋움체 Bold" panose="02020603020101020101" pitchFamily="18" charset="-127"/>
                <a:cs typeface="KoPub돋움체 Bold"/>
              </a:rPr>
              <a:t>서식·수집 합의 필요</a:t>
            </a:r>
          </a:p>
        </p:txBody>
      </p:sp>
      <p:sp>
        <p:nvSpPr>
          <p:cNvPr id="25" name="learning_2_items"/>
          <p:cNvSpPr txBox="1"/>
          <p:nvPr/>
        </p:nvSpPr>
        <p:spPr>
          <a:xfrm>
            <a:off x="8595360" y="3337560"/>
            <a:ext cx="2743200" cy="109728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입력 항목과 수집 방식 정리</a:t>
            </a:r>
          </a:p>
          <a:p>
            <a:pPr algn="l">
              <a:spcBef>
                <a:spcPts val="600"/>
              </a:spcBef>
            </a:pPr>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 합의 후 자동화 시범 검토</a:t>
            </a:r>
          </a:p>
        </p:txBody>
      </p:sp>
      <p:sp>
        <p:nvSpPr>
          <p:cNvPr id="26" name="lesson_0_box"/>
          <p:cNvSpPr/>
          <p:nvPr/>
        </p:nvSpPr>
        <p:spPr>
          <a:xfrm>
            <a:off x="621792" y="4754880"/>
            <a:ext cx="5404104" cy="123444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7" name="lesson_0_text"/>
          <p:cNvSpPr txBox="1"/>
          <p:nvPr/>
        </p:nvSpPr>
        <p:spPr>
          <a:xfrm>
            <a:off x="941832" y="4754880"/>
            <a:ext cx="4846320" cy="1234440"/>
          </a:xfrm>
          <a:prstGeom prst="rect">
            <a:avLst/>
          </a:prstGeom>
          <a:noFill/>
        </p:spPr>
        <p:txBody>
          <a:bodyPr wrap="square" lIns="0" tIns="0" rIns="0" bIns="0" anchor="ctr">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배운 점 1</a:t>
            </a:r>
          </a:p>
          <a:p>
            <a:pPr algn="l">
              <a:spcBef>
                <a:spcPts val="400"/>
              </a:spcBef>
            </a:pPr>
            <a:r>
              <a:rPr lang="ko-KR" sz="1800">
                <a:solidFill>
                  <a:srgbClr val="3F2A5E"/>
                </a:solidFill>
                <a:latin typeface="KoPub돋움체 Bold" panose="02020603020101020101" pitchFamily="18" charset="-127"/>
                <a:ea typeface="KoPub돋움체 Bold" panose="02020603020101020101" pitchFamily="18" charset="-127"/>
                <a:cs typeface="KoPub돋움체 Bold"/>
              </a:rPr>
              <a:t>기능을 더하기 전에 업무 구조부터 단순화</a:t>
            </a:r>
          </a:p>
        </p:txBody>
      </p:sp>
      <p:sp>
        <p:nvSpPr>
          <p:cNvPr id="28" name="lesson_1_box"/>
          <p:cNvSpPr/>
          <p:nvPr/>
        </p:nvSpPr>
        <p:spPr>
          <a:xfrm>
            <a:off x="6163055" y="4754880"/>
            <a:ext cx="5404104" cy="123444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9" name="lesson_1_text"/>
          <p:cNvSpPr txBox="1"/>
          <p:nvPr/>
        </p:nvSpPr>
        <p:spPr>
          <a:xfrm>
            <a:off x="6483095" y="4754880"/>
            <a:ext cx="4846320" cy="1234440"/>
          </a:xfrm>
          <a:prstGeom prst="rect">
            <a:avLst/>
          </a:prstGeom>
          <a:noFill/>
        </p:spPr>
        <p:txBody>
          <a:bodyPr wrap="square" lIns="0" tIns="0" rIns="0" bIns="0" anchor="ctr">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배운 점 2</a:t>
            </a:r>
          </a:p>
          <a:p>
            <a:pPr algn="l">
              <a:spcBef>
                <a:spcPts val="400"/>
              </a:spcBef>
            </a:pPr>
            <a:r>
              <a:rPr lang="ko-KR" sz="1800">
                <a:solidFill>
                  <a:srgbClr val="3F2A5E"/>
                </a:solidFill>
                <a:latin typeface="KoPub돋움체 Bold" panose="02020603020101020101" pitchFamily="18" charset="-127"/>
                <a:ea typeface="KoPub돋움체 Bold" panose="02020603020101020101" pitchFamily="18" charset="-127"/>
                <a:cs typeface="KoPub돋움체 Bold"/>
              </a:rPr>
              <a:t>개발 완료와 실제 사용을 나눠 확인</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350"/>
                                        <p:tgtEl>
                                          <p:spTgt spid="13"/>
                                        </p:tgtEl>
                                      </p:cBhvr>
                                    </p:animEffect>
                                  </p:childTnLst>
                                </p:cTn>
                              </p:par>
                            </p:childTnLst>
                          </p:cTn>
                        </p:par>
                        <p:par>
                          <p:cTn id="12"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50"/>
                                        <p:tgtEl>
                                          <p:spTgt spid="14"/>
                                        </p:tgtEl>
                                      </p:cBhvr>
                                    </p:animEffect>
                                  </p:childTnLst>
                                </p:cTn>
                              </p:par>
                            </p:childTnLst>
                          </p:cTn>
                        </p:par>
                        <p:par>
                          <p:cTn id="16" fill="hold">
                            <p:stCondLst>
                              <p:cond delay="105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50"/>
                                        <p:tgtEl>
                                          <p:spTgt spid="15"/>
                                        </p:tgtEl>
                                      </p:cBhvr>
                                    </p:animEffect>
                                  </p:childTnLst>
                                </p:cTn>
                              </p:par>
                            </p:childTnLst>
                          </p:cTn>
                        </p:par>
                        <p:par>
                          <p:cTn id="20" fill="hold">
                            <p:stCondLst>
                              <p:cond delay="1400"/>
                            </p:stCondLst>
                            <p:childTnLst>
                              <p:par>
                                <p:cTn id="21" presetID="10" presetClass="entr" presetSubtype="0"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350"/>
                                        <p:tgtEl>
                                          <p:spTgt spid="16"/>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50"/>
                                        <p:tgtEl>
                                          <p:spTgt spid="17"/>
                                        </p:tgtEl>
                                      </p:cBhvr>
                                    </p:animEffect>
                                  </p:childTnLst>
                                </p:cTn>
                              </p:par>
                            </p:childTnLst>
                          </p:cTn>
                        </p:par>
                        <p:par>
                          <p:cTn id="28" fill="hold">
                            <p:stCondLst>
                              <p:cond delay="2100"/>
                            </p:stCondLst>
                            <p:childTnLst>
                              <p:par>
                                <p:cTn id="29" presetID="10"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350"/>
                                        <p:tgtEl>
                                          <p:spTgt spid="18"/>
                                        </p:tgtEl>
                                      </p:cBhvr>
                                    </p:animEffect>
                                  </p:childTnLst>
                                </p:cTn>
                              </p:par>
                            </p:childTnLst>
                          </p:cTn>
                        </p:par>
                        <p:par>
                          <p:cTn id="32" fill="hold">
                            <p:stCondLst>
                              <p:cond delay="2450"/>
                            </p:stCondLst>
                            <p:childTnLst>
                              <p:par>
                                <p:cTn id="33" presetID="10" presetClass="entr" presetSubtype="0"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350"/>
                                        <p:tgtEl>
                                          <p:spTgt spid="19"/>
                                        </p:tgtEl>
                                      </p:cBhvr>
                                    </p:animEffect>
                                  </p:childTnLst>
                                </p:cTn>
                              </p:par>
                            </p:childTnLst>
                          </p:cTn>
                        </p:par>
                        <p:par>
                          <p:cTn id="36" fill="hold">
                            <p:stCondLst>
                              <p:cond delay="2800"/>
                            </p:stCondLst>
                            <p:childTnLst>
                              <p:par>
                                <p:cTn id="37" presetID="10"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350"/>
                                        <p:tgtEl>
                                          <p:spTgt spid="20"/>
                                        </p:tgtEl>
                                      </p:cBhvr>
                                    </p:animEffect>
                                  </p:childTnLst>
                                </p:cTn>
                              </p:par>
                            </p:childTnLst>
                          </p:cTn>
                        </p:par>
                        <p:par>
                          <p:cTn id="40" fill="hold">
                            <p:stCondLst>
                              <p:cond delay="3150"/>
                            </p:stCondLst>
                            <p:childTnLst>
                              <p:par>
                                <p:cTn id="41" presetID="10" presetClass="entr" presetSubtype="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350"/>
                                        <p:tgtEl>
                                          <p:spTgt spid="21"/>
                                        </p:tgtEl>
                                      </p:cBhvr>
                                    </p:animEffect>
                                  </p:childTnLst>
                                </p:cTn>
                              </p:par>
                            </p:childTnLst>
                          </p:cTn>
                        </p:par>
                        <p:par>
                          <p:cTn id="44" fill="hold">
                            <p:stCondLst>
                              <p:cond delay="3500"/>
                            </p:stCondLst>
                            <p:childTnLst>
                              <p:par>
                                <p:cTn id="45" presetID="10" presetClass="entr" presetSubtype="0"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350"/>
                                        <p:tgtEl>
                                          <p:spTgt spid="22"/>
                                        </p:tgtEl>
                                      </p:cBhvr>
                                    </p:animEffect>
                                  </p:childTnLst>
                                </p:cTn>
                              </p:par>
                            </p:childTnLst>
                          </p:cTn>
                        </p:par>
                        <p:par>
                          <p:cTn id="48" fill="hold">
                            <p:stCondLst>
                              <p:cond delay="3850"/>
                            </p:stCondLst>
                            <p:childTnLst>
                              <p:par>
                                <p:cTn id="49" presetID="10" presetClass="entr" presetSubtype="0"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350"/>
                                        <p:tgtEl>
                                          <p:spTgt spid="23"/>
                                        </p:tgtEl>
                                      </p:cBhvr>
                                    </p:animEffect>
                                  </p:childTnLst>
                                </p:cTn>
                              </p:par>
                            </p:childTnLst>
                          </p:cTn>
                        </p:par>
                        <p:par>
                          <p:cTn id="52" fill="hold">
                            <p:stCondLst>
                              <p:cond delay="4200"/>
                            </p:stCondLst>
                            <p:childTnLst>
                              <p:par>
                                <p:cTn id="53" presetID="10" presetClass="entr" presetSubtype="0"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50"/>
                                        <p:tgtEl>
                                          <p:spTgt spid="24"/>
                                        </p:tgtEl>
                                      </p:cBhvr>
                                    </p:animEffect>
                                  </p:childTnLst>
                                </p:cTn>
                              </p:par>
                            </p:childTnLst>
                          </p:cTn>
                        </p:par>
                        <p:par>
                          <p:cTn id="56" fill="hold">
                            <p:stCondLst>
                              <p:cond delay="4550"/>
                            </p:stCondLst>
                            <p:childTnLst>
                              <p:par>
                                <p:cTn id="57" presetID="10" presetClass="entr" presetSubtype="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350"/>
                                        <p:tgtEl>
                                          <p:spTgt spid="25"/>
                                        </p:tgtEl>
                                      </p:cBhvr>
                                    </p:animEffect>
                                  </p:childTnLst>
                                </p:cTn>
                              </p:par>
                            </p:childTnLst>
                          </p:cTn>
                        </p:par>
                        <p:par>
                          <p:cTn id="60" fill="hold">
                            <p:stCondLst>
                              <p:cond delay="4900"/>
                            </p:stCondLst>
                            <p:childTnLst>
                              <p:par>
                                <p:cTn id="61" presetID="10" presetClass="entr" presetSubtype="0" fill="hold" grpId="0" nodeType="after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350"/>
                                        <p:tgtEl>
                                          <p:spTgt spid="26"/>
                                        </p:tgtEl>
                                      </p:cBhvr>
                                    </p:animEffect>
                                  </p:childTnLst>
                                </p:cTn>
                              </p:par>
                            </p:childTnLst>
                          </p:cTn>
                        </p:par>
                        <p:par>
                          <p:cTn id="64" fill="hold">
                            <p:stCondLst>
                              <p:cond delay="5250"/>
                            </p:stCondLst>
                            <p:childTnLst>
                              <p:par>
                                <p:cTn id="65" presetID="10" presetClass="entr" presetSubtype="0" fill="hold" grpId="0"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350"/>
                                        <p:tgtEl>
                                          <p:spTgt spid="27"/>
                                        </p:tgtEl>
                                      </p:cBhvr>
                                    </p:animEffect>
                                  </p:childTnLst>
                                </p:cTn>
                              </p:par>
                            </p:childTnLst>
                          </p:cTn>
                        </p:par>
                        <p:par>
                          <p:cTn id="68" fill="hold">
                            <p:stCondLst>
                              <p:cond delay="5600"/>
                            </p:stCondLst>
                            <p:childTnLst>
                              <p:par>
                                <p:cTn id="69" presetID="10" presetClass="entr" presetSubtype="0"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350"/>
                                        <p:tgtEl>
                                          <p:spTgt spid="28"/>
                                        </p:tgtEl>
                                      </p:cBhvr>
                                    </p:animEffect>
                                  </p:childTnLst>
                                </p:cTn>
                              </p:par>
                            </p:childTnLst>
                          </p:cTn>
                        </p:par>
                        <p:par>
                          <p:cTn id="72" fill="hold">
                            <p:stCondLst>
                              <p:cond delay="5950"/>
                            </p:stCondLst>
                            <p:childTnLst>
                              <p:par>
                                <p:cTn id="73" presetID="10" presetClass="entr" presetSubtype="0" fill="hold" grpId="0" nodeType="after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animBg="1"/>
      <p:bldP spid="17" grpId="0"/>
      <p:bldP spid="18" grpId="0"/>
      <p:bldP spid="20" grpId="0" animBg="1"/>
      <p:bldP spid="21" grpId="0" animBg="1"/>
      <p:bldP spid="22" grpId="0"/>
      <p:bldP spid="23" grpId="0" animBg="1"/>
      <p:bldP spid="24" grpId="0"/>
      <p:bldP spid="25" grpId="0"/>
      <p:bldP spid="26" grpId="0" animBg="1"/>
      <p:bldP spid="27" grpId="0"/>
      <p:bldP spid="28" grpId="0" animBg="1"/>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수입·지출 자료를 정리해 결의서와 분석에 재사용합니다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TF 공동 결과물 · 수입행정 개선</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dirty="0" err="1">
                <a:solidFill>
                  <a:srgbClr val="5E6672"/>
                </a:solidFill>
                <a:latin typeface="KoPub돋움체 Medium" panose="02020603020101020101" pitchFamily="18" charset="-127"/>
                <a:ea typeface="KoPub돋움체 Medium" panose="02020603020101020101" pitchFamily="18" charset="-127"/>
                <a:cs typeface="KoPub돋움체 Medium"/>
              </a:rPr>
              <a:t>수입·지출</a:t>
            </a:r>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 업무혁신 프로젝트 </a:t>
            </a:r>
            <a:r>
              <a:rPr lang="ko-KR" sz="1050" dirty="0" err="1">
                <a:solidFill>
                  <a:srgbClr val="5E6672"/>
                </a:solidFill>
                <a:latin typeface="KoPub돋움체 Medium" panose="02020603020101020101" pitchFamily="18" charset="-127"/>
                <a:ea typeface="KoPub돋움체 Medium" panose="02020603020101020101" pitchFamily="18" charset="-127"/>
                <a:cs typeface="KoPub돋움체 Medium"/>
              </a:rPr>
              <a:t>운영계획·시행</a:t>
            </a:r>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 알림(9.1.) ·</a:t>
            </a:r>
            <a:r>
              <a:rPr lang="en-US" alt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 </a:t>
            </a:r>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업무 구조 설명 도식</a:t>
            </a:r>
          </a:p>
        </p:txBody>
      </p:sp>
      <p:sp>
        <p:nvSpPr>
          <p:cNvPr id="5" name="finance_state"/>
          <p:cNvSpPr/>
          <p:nvPr/>
        </p:nvSpPr>
        <p:spPr>
          <a:xfrm>
            <a:off x="8549640" y="1005840"/>
            <a:ext cx="3017520" cy="329184"/>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FFFFFF"/>
                </a:solidFill>
                <a:latin typeface="KoPub돋움체 Bold" panose="02020603020101020101" pitchFamily="18" charset="-127"/>
                <a:ea typeface="KoPub돋움체 Bold" panose="02020603020101020101" pitchFamily="18" charset="-127"/>
                <a:cs typeface="KoPub돋움체 Bold"/>
              </a:rPr>
              <a:t>운영 개시 · 사용자 검증 중</a:t>
            </a:r>
          </a:p>
        </p:txBody>
      </p:sp>
      <p:sp>
        <p:nvSpPr>
          <p:cNvPr id="6" name="fin_src_box"/>
          <p:cNvSpPr/>
          <p:nvPr/>
        </p:nvSpPr>
        <p:spPr>
          <a:xfrm>
            <a:off x="621792" y="2331720"/>
            <a:ext cx="2011680" cy="1051560"/>
          </a:xfrm>
          <a:prstGeom prst="rect">
            <a:avLst/>
          </a:prstGeom>
          <a:solidFill>
            <a:srgbClr val="FFFFFF"/>
          </a:solidFill>
          <a:ln w="1905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fin_src_text"/>
          <p:cNvSpPr txBox="1"/>
          <p:nvPr/>
        </p:nvSpPr>
        <p:spPr>
          <a:xfrm>
            <a:off x="822960" y="2496312"/>
            <a:ext cx="1645920" cy="777239"/>
          </a:xfrm>
          <a:prstGeom prst="rect">
            <a:avLst/>
          </a:prstGeom>
          <a:noFill/>
        </p:spPr>
        <p:txBody>
          <a:bodyPr wrap="square" lIns="0" tIns="0" rIns="0" bIns="0" anchor="t">
            <a:noAutofit/>
          </a:bodyPr>
          <a:lstStyle/>
          <a:p>
            <a:pPr algn="l"/>
            <a:r>
              <a:rPr lang="ko-KR" sz="1800">
                <a:solidFill>
                  <a:srgbClr val="1F1F1F"/>
                </a:solidFill>
                <a:latin typeface="KoPub돋움체 Bold" panose="02020603020101020101" pitchFamily="18" charset="-127"/>
                <a:ea typeface="KoPub돋움체 Bold" panose="02020603020101020101" pitchFamily="18" charset="-127"/>
                <a:cs typeface="KoPub돋움체 Bold"/>
              </a:rPr>
              <a:t>시설 자료</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수입·지출·환불</a:t>
            </a:r>
          </a:p>
        </p:txBody>
      </p:sp>
      <p:sp>
        <p:nvSpPr>
          <p:cNvPr id="8" name="fin_common_box"/>
          <p:cNvSpPr/>
          <p:nvPr/>
        </p:nvSpPr>
        <p:spPr>
          <a:xfrm>
            <a:off x="3200400" y="2331720"/>
            <a:ext cx="2194560" cy="1051560"/>
          </a:xfrm>
          <a:prstGeom prst="rect">
            <a:avLst/>
          </a:prstGeom>
          <a:solidFill>
            <a:srgbClr val="FFFFFF"/>
          </a:solidFill>
          <a:ln w="19050">
            <a:solidFill>
              <a:srgbClr val="724598"/>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9" name="fin_common_text"/>
          <p:cNvSpPr txBox="1"/>
          <p:nvPr/>
        </p:nvSpPr>
        <p:spPr>
          <a:xfrm>
            <a:off x="3401568" y="2496312"/>
            <a:ext cx="1828800" cy="777239"/>
          </a:xfrm>
          <a:prstGeom prst="rect">
            <a:avLst/>
          </a:prstGeom>
          <a:noFill/>
        </p:spPr>
        <p:txBody>
          <a:bodyPr wrap="square" lIns="0" tIns="0" rIns="0" bIns="0" anchor="t">
            <a:noAutofit/>
          </a:bodyPr>
          <a:lstStyle/>
          <a:p>
            <a:pPr algn="l"/>
            <a:r>
              <a:rPr lang="ko-KR" sz="1800">
                <a:solidFill>
                  <a:srgbClr val="1F1F1F"/>
                </a:solidFill>
                <a:latin typeface="KoPub돋움체 Bold" panose="02020603020101020101" pitchFamily="18" charset="-127"/>
                <a:ea typeface="KoPub돋움체 Bold" panose="02020603020101020101" pitchFamily="18" charset="-127"/>
                <a:cs typeface="KoPub돋움체 Bold"/>
              </a:rPr>
              <a:t>공통 구조</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자료 정리·재사용</a:t>
            </a:r>
          </a:p>
        </p:txBody>
      </p:sp>
      <p:sp>
        <p:nvSpPr>
          <p:cNvPr id="10" name="fin_doc_box"/>
          <p:cNvSpPr/>
          <p:nvPr/>
        </p:nvSpPr>
        <p:spPr>
          <a:xfrm>
            <a:off x="6172200" y="1600200"/>
            <a:ext cx="2377440" cy="1005840"/>
          </a:xfrm>
          <a:prstGeom prst="rect">
            <a:avLst/>
          </a:prstGeom>
          <a:solidFill>
            <a:srgbClr val="FFFFFF"/>
          </a:solidFill>
          <a:ln w="1905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1" name="fin_doc_text"/>
          <p:cNvSpPr txBox="1"/>
          <p:nvPr/>
        </p:nvSpPr>
        <p:spPr>
          <a:xfrm>
            <a:off x="6373368" y="1764792"/>
            <a:ext cx="2011680" cy="731520"/>
          </a:xfrm>
          <a:prstGeom prst="rect">
            <a:avLst/>
          </a:prstGeom>
          <a:noFill/>
        </p:spPr>
        <p:txBody>
          <a:bodyPr wrap="square" lIns="0" tIns="0" rIns="0" bIns="0" anchor="t">
            <a:noAutofit/>
          </a:bodyPr>
          <a:lstStyle/>
          <a:p>
            <a:pPr algn="l"/>
            <a:r>
              <a:rPr lang="ko-KR" sz="1800">
                <a:solidFill>
                  <a:srgbClr val="1F1F1F"/>
                </a:solidFill>
                <a:latin typeface="KoPub돋움체 Bold" panose="02020603020101020101" pitchFamily="18" charset="-127"/>
                <a:ea typeface="KoPub돋움체 Bold" panose="02020603020101020101" pitchFamily="18" charset="-127"/>
                <a:cs typeface="KoPub돋움체 Bold"/>
              </a:rPr>
              <a:t>결의서 생성</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문서 작성 지원</a:t>
            </a:r>
          </a:p>
        </p:txBody>
      </p:sp>
      <p:sp>
        <p:nvSpPr>
          <p:cNvPr id="12" name="fin_ana_box"/>
          <p:cNvSpPr/>
          <p:nvPr/>
        </p:nvSpPr>
        <p:spPr>
          <a:xfrm>
            <a:off x="6172200" y="3108960"/>
            <a:ext cx="2377440" cy="1005840"/>
          </a:xfrm>
          <a:prstGeom prst="rect">
            <a:avLst/>
          </a:prstGeom>
          <a:solidFill>
            <a:srgbClr val="FFFFFF"/>
          </a:solidFill>
          <a:ln w="1905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3" name="fin_ana_text"/>
          <p:cNvSpPr txBox="1"/>
          <p:nvPr/>
        </p:nvSpPr>
        <p:spPr>
          <a:xfrm>
            <a:off x="6373368" y="3273552"/>
            <a:ext cx="2011680" cy="731520"/>
          </a:xfrm>
          <a:prstGeom prst="rect">
            <a:avLst/>
          </a:prstGeom>
          <a:noFill/>
        </p:spPr>
        <p:txBody>
          <a:bodyPr wrap="square" lIns="0" tIns="0" rIns="0" bIns="0" anchor="t">
            <a:noAutofit/>
          </a:bodyPr>
          <a:lstStyle/>
          <a:p>
            <a:pPr algn="l"/>
            <a:r>
              <a:rPr lang="ko-KR" sz="1800">
                <a:solidFill>
                  <a:srgbClr val="1F1F1F"/>
                </a:solidFill>
                <a:latin typeface="KoPub돋움체 Bold" panose="02020603020101020101" pitchFamily="18" charset="-127"/>
                <a:ea typeface="KoPub돋움체 Bold" panose="02020603020101020101" pitchFamily="18" charset="-127"/>
                <a:cs typeface="KoPub돋움체 Bold"/>
              </a:rPr>
              <a:t>실적 분석</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누적 집계 지원</a:t>
            </a:r>
          </a:p>
        </p:txBody>
      </p:sp>
      <p:sp>
        <p:nvSpPr>
          <p:cNvPr id="14" name="fin_check_box"/>
          <p:cNvSpPr/>
          <p:nvPr/>
        </p:nvSpPr>
        <p:spPr>
          <a:xfrm>
            <a:off x="9326880" y="2331720"/>
            <a:ext cx="2240280" cy="1051560"/>
          </a:xfrm>
          <a:prstGeom prst="rect">
            <a:avLst/>
          </a:prstGeom>
          <a:solidFill>
            <a:srgbClr val="FFFFFF"/>
          </a:solidFill>
          <a:ln w="19050">
            <a:solidFill>
              <a:srgbClr val="156A3A"/>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5" name="fin_check_text"/>
          <p:cNvSpPr txBox="1"/>
          <p:nvPr/>
        </p:nvSpPr>
        <p:spPr>
          <a:xfrm>
            <a:off x="9528048" y="2496312"/>
            <a:ext cx="1874520" cy="777239"/>
          </a:xfrm>
          <a:prstGeom prst="rect">
            <a:avLst/>
          </a:prstGeom>
          <a:noFill/>
        </p:spPr>
        <p:txBody>
          <a:bodyPr wrap="square" lIns="0" tIns="0" rIns="0" bIns="0" anchor="t">
            <a:noAutofit/>
          </a:bodyPr>
          <a:lstStyle/>
          <a:p>
            <a:pPr algn="l"/>
            <a:r>
              <a:rPr lang="ko-KR" sz="1800">
                <a:solidFill>
                  <a:srgbClr val="1F1F1F"/>
                </a:solidFill>
                <a:latin typeface="KoPub돋움체 Bold" panose="02020603020101020101" pitchFamily="18" charset="-127"/>
                <a:ea typeface="KoPub돋움체 Bold" panose="02020603020101020101" pitchFamily="18" charset="-127"/>
                <a:cs typeface="KoPub돋움체 Bold"/>
              </a:rPr>
              <a:t>담당자 확인</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결과 검토·보완</a:t>
            </a:r>
          </a:p>
        </p:txBody>
      </p:sp>
      <p:cxnSp>
        <p:nvCxnSpPr>
          <p:cNvPr id="16" name="fin_l1"/>
          <p:cNvCxnSpPr/>
          <p:nvPr/>
        </p:nvCxnSpPr>
        <p:spPr>
          <a:xfrm>
            <a:off x="2633472" y="2852928"/>
            <a:ext cx="566928"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fin_l2"/>
          <p:cNvCxnSpPr/>
          <p:nvPr/>
        </p:nvCxnSpPr>
        <p:spPr>
          <a:xfrm>
            <a:off x="5394960" y="2852928"/>
            <a:ext cx="365760"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18" name="fin_l3"/>
          <p:cNvCxnSpPr/>
          <p:nvPr/>
        </p:nvCxnSpPr>
        <p:spPr>
          <a:xfrm>
            <a:off x="5760720" y="2103120"/>
            <a:ext cx="0" cy="150876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19" name="fin_l4"/>
          <p:cNvCxnSpPr/>
          <p:nvPr/>
        </p:nvCxnSpPr>
        <p:spPr>
          <a:xfrm>
            <a:off x="5760720" y="2103120"/>
            <a:ext cx="41148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fin_l5"/>
          <p:cNvCxnSpPr/>
          <p:nvPr/>
        </p:nvCxnSpPr>
        <p:spPr>
          <a:xfrm>
            <a:off x="5760720" y="3611880"/>
            <a:ext cx="41148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fin_l6"/>
          <p:cNvCxnSpPr/>
          <p:nvPr/>
        </p:nvCxnSpPr>
        <p:spPr>
          <a:xfrm>
            <a:off x="8549640" y="2103120"/>
            <a:ext cx="365760"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22" name="fin_l7"/>
          <p:cNvCxnSpPr/>
          <p:nvPr/>
        </p:nvCxnSpPr>
        <p:spPr>
          <a:xfrm>
            <a:off x="8549640" y="3611880"/>
            <a:ext cx="365760"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23" name="fin_l8"/>
          <p:cNvCxnSpPr/>
          <p:nvPr/>
        </p:nvCxnSpPr>
        <p:spPr>
          <a:xfrm>
            <a:off x="8915400" y="2103120"/>
            <a:ext cx="0" cy="150876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24" name="fin_l9"/>
          <p:cNvCxnSpPr/>
          <p:nvPr/>
        </p:nvCxnSpPr>
        <p:spPr>
          <a:xfrm>
            <a:off x="8915400" y="2852928"/>
            <a:ext cx="41148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fin_roles"/>
          <p:cNvSpPr txBox="1"/>
          <p:nvPr/>
        </p:nvSpPr>
        <p:spPr>
          <a:xfrm>
            <a:off x="621792" y="4343400"/>
            <a:ext cx="6858000" cy="365760"/>
          </a:xfrm>
          <a:prstGeom prst="rect">
            <a:avLst/>
          </a:prstGeom>
          <a:noFill/>
        </p:spPr>
        <p:txBody>
          <a:bodyPr wrap="square" lIns="0" tIns="0" rIns="0" bIns="0" anchor="ctr">
            <a:noAutofit/>
          </a:bodyPr>
          <a:lstStyle/>
          <a:p>
            <a:pPr algn="l"/>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개발 </a:t>
            </a:r>
            <a:r>
              <a:rPr lang="ko-KR" sz="1500">
                <a:solidFill>
                  <a:srgbClr val="1F1F1F"/>
                </a:solidFill>
                <a:latin typeface="KoPub돋움체 Bold" panose="02020603020101020101" pitchFamily="18" charset="-127"/>
                <a:ea typeface="KoPub돋움체 Bold" panose="02020603020101020101" pitchFamily="18" charset="-127"/>
                <a:cs typeface="KoPub돋움체 Bold"/>
              </a:rPr>
              <a:t>김준호</a:t>
            </a: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  지원 </a:t>
            </a:r>
            <a:r>
              <a:rPr lang="ko-KR" sz="1500">
                <a:solidFill>
                  <a:srgbClr val="1F1F1F"/>
                </a:solidFill>
                <a:latin typeface="KoPub돋움체 Bold" panose="02020603020101020101" pitchFamily="18" charset="-127"/>
                <a:ea typeface="KoPub돋움체 Bold" panose="02020603020101020101" pitchFamily="18" charset="-127"/>
                <a:cs typeface="KoPub돋움체 Bold"/>
              </a:rPr>
              <a:t>전략경영실</a:t>
            </a: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  ·  자료·의견 </a:t>
            </a:r>
            <a:r>
              <a:rPr lang="ko-KR" sz="1500">
                <a:solidFill>
                  <a:srgbClr val="1F1F1F"/>
                </a:solidFill>
                <a:latin typeface="KoPub돋움체 Bold" panose="02020603020101020101" pitchFamily="18" charset="-127"/>
                <a:ea typeface="KoPub돋움체 Bold" panose="02020603020101020101" pitchFamily="18" charset="-127"/>
                <a:cs typeface="KoPub돋움체 Bold"/>
              </a:rPr>
              <a:t>현장 담당자</a:t>
            </a:r>
          </a:p>
        </p:txBody>
      </p:sp>
      <p:sp>
        <p:nvSpPr>
          <p:cNvPr id="26" name="fin_support"/>
          <p:cNvSpPr txBox="1"/>
          <p:nvPr/>
        </p:nvSpPr>
        <p:spPr>
          <a:xfrm>
            <a:off x="7589520" y="4343400"/>
            <a:ext cx="3977639" cy="365760"/>
          </a:xfrm>
          <a:prstGeom prst="rect">
            <a:avLst/>
          </a:prstGeom>
          <a:noFill/>
        </p:spPr>
        <p:txBody>
          <a:bodyPr wrap="square" lIns="0" tIns="0" rIns="0" bIns="0" anchor="ctr">
            <a:noAutofit/>
          </a:bodyPr>
          <a:lstStyle/>
          <a:p>
            <a:pPr algn="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원본자료·확인 절차 유지 / 사용설명·백업 안내</a:t>
            </a:r>
          </a:p>
        </p:txBody>
      </p:sp>
      <p:sp>
        <p:nvSpPr>
          <p:cNvPr id="27" name="gemini_box"/>
          <p:cNvSpPr/>
          <p:nvPr/>
        </p:nvSpPr>
        <p:spPr>
          <a:xfrm>
            <a:off x="621792" y="4983480"/>
            <a:ext cx="10945368" cy="109728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8" name="gemini_title"/>
          <p:cNvSpPr txBox="1"/>
          <p:nvPr/>
        </p:nvSpPr>
        <p:spPr>
          <a:xfrm>
            <a:off x="914400" y="4983480"/>
            <a:ext cx="2743200" cy="1097280"/>
          </a:xfrm>
          <a:prstGeom prst="rect">
            <a:avLst/>
          </a:prstGeom>
          <a:noFill/>
        </p:spPr>
        <p:txBody>
          <a:bodyPr wrap="square" lIns="0" tIns="0" rIns="0" bIns="0" anchor="ctr">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함께 만든 콘텐츠</a:t>
            </a:r>
          </a:p>
          <a:p>
            <a:pPr algn="l">
              <a:spcBef>
                <a:spcPts val="200"/>
              </a:spcBef>
            </a:pPr>
            <a:r>
              <a:rPr lang="ko-KR" sz="1800">
                <a:solidFill>
                  <a:srgbClr val="1F1F1F"/>
                </a:solidFill>
                <a:latin typeface="KoPub돋움체 Bold" panose="02020603020101020101" pitchFamily="18" charset="-127"/>
                <a:ea typeface="KoPub돋움체 Bold" panose="02020603020101020101" pitchFamily="18" charset="-127"/>
                <a:cs typeface="KoPub돋움체 Bold"/>
              </a:rPr>
              <a:t>Gemini 안내 콘텐츠</a:t>
            </a:r>
          </a:p>
        </p:txBody>
      </p:sp>
      <p:sp>
        <p:nvSpPr>
          <p:cNvPr id="29" name="gemini_text"/>
          <p:cNvSpPr txBox="1"/>
          <p:nvPr/>
        </p:nvSpPr>
        <p:spPr>
          <a:xfrm>
            <a:off x="3840480" y="4983480"/>
            <a:ext cx="7498079" cy="1097280"/>
          </a:xfrm>
          <a:prstGeom prst="rect">
            <a:avLst/>
          </a:prstGeom>
          <a:noFill/>
        </p:spPr>
        <p:txBody>
          <a:bodyPr wrap="square" lIns="0" tIns="0" rIns="0" bIns="0" anchor="ctr">
            <a:noAutofit/>
          </a:bodyPr>
          <a:lstStyle/>
          <a:p>
            <a:pPr algn="l"/>
            <a:r>
              <a:rPr lang="ko-KR" sz="1500">
                <a:solidFill>
                  <a:srgbClr val="1F1F1F"/>
                </a:solidFill>
                <a:latin typeface="KoPub돋움체 Medium" panose="02020603020101020101" pitchFamily="18" charset="-127"/>
                <a:ea typeface="KoPub돋움체 Medium" panose="02020603020101020101" pitchFamily="18" charset="-127"/>
                <a:cs typeface="KoPub돋움체 Medium"/>
              </a:rPr>
              <a:t>재단 업무 사례 중심으로 따라 해볼 수 있는 자료 배포</a:t>
            </a:r>
          </a:p>
          <a:p>
            <a:pPr algn="l">
              <a:spcBef>
                <a:spcPts val="400"/>
              </a:spcBef>
            </a:pPr>
            <a:r>
              <a:rPr lang="ko-KR" sz="1400">
                <a:solidFill>
                  <a:srgbClr val="724598"/>
                </a:solidFill>
                <a:latin typeface="KoPub돋움체 Bold" panose="02020603020101020101" pitchFamily="18" charset="-127"/>
                <a:ea typeface="KoPub돋움체 Bold" panose="02020603020101020101" pitchFamily="18" charset="-127"/>
                <a:cs typeface="KoPub돋움체 Bold"/>
              </a:rPr>
              <a:t>다음 단계  </a:t>
            </a:r>
            <a:r>
              <a:rPr lang="ko-KR" sz="1500">
                <a:solidFill>
                  <a:srgbClr val="1F1F1F"/>
                </a:solidFill>
                <a:latin typeface="KoPub돋움체 Medium" panose="02020603020101020101" pitchFamily="18" charset="-127"/>
                <a:ea typeface="KoPub돋움체 Medium" panose="02020603020101020101" pitchFamily="18" charset="-127"/>
                <a:cs typeface="KoPub돋움체 Medium"/>
              </a:rPr>
              <a:t>짧은 실습과 사용지원</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50"/>
                                        <p:tgtEl>
                                          <p:spTgt spid="17"/>
                                        </p:tgtEl>
                                      </p:cBhvr>
                                    </p:animEffect>
                                  </p:childTnLst>
                                </p:cTn>
                              </p:par>
                            </p:childTnLst>
                          </p:cTn>
                        </p:par>
                        <p:par>
                          <p:cTn id="8" fill="hold">
                            <p:stCondLst>
                              <p:cond delay="35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350"/>
                                        <p:tgtEl>
                                          <p:spTgt spid="18"/>
                                        </p:tgtEl>
                                      </p:cBhvr>
                                    </p:animEffect>
                                  </p:childTnLst>
                                </p:cTn>
                              </p:par>
                            </p:childTnLst>
                          </p:cTn>
                        </p:par>
                        <p:par>
                          <p:cTn id="12" fill="hold">
                            <p:stCondLst>
                              <p:cond delay="700"/>
                            </p:stCondLst>
                            <p:childTnLst>
                              <p:par>
                                <p:cTn id="13" presetID="10"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childTnLst>
                          </p:cTn>
                        </p:par>
                        <p:par>
                          <p:cTn id="16" fill="hold">
                            <p:stCondLst>
                              <p:cond delay="1050"/>
                            </p:stCondLst>
                            <p:childTnLst>
                              <p:par>
                                <p:cTn id="17" presetID="10"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350"/>
                                        <p:tgtEl>
                                          <p:spTgt spid="20"/>
                                        </p:tgtEl>
                                      </p:cBhvr>
                                    </p:animEffect>
                                  </p:childTnLst>
                                </p:cTn>
                              </p:par>
                            </p:childTnLst>
                          </p:cTn>
                        </p:par>
                        <p:par>
                          <p:cTn id="20" fill="hold">
                            <p:stCondLst>
                              <p:cond delay="14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50"/>
                                        <p:tgtEl>
                                          <p:spTgt spid="10"/>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350"/>
                                        <p:tgtEl>
                                          <p:spTgt spid="11"/>
                                        </p:tgtEl>
                                      </p:cBhvr>
                                    </p:animEffect>
                                  </p:childTnLst>
                                </p:cTn>
                              </p:par>
                            </p:childTnLst>
                          </p:cTn>
                        </p:par>
                        <p:par>
                          <p:cTn id="28" fill="hold">
                            <p:stCondLst>
                              <p:cond delay="210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50"/>
                                        <p:tgtEl>
                                          <p:spTgt spid="12"/>
                                        </p:tgtEl>
                                      </p:cBhvr>
                                    </p:animEffect>
                                  </p:childTnLst>
                                </p:cTn>
                              </p:par>
                            </p:childTnLst>
                          </p:cTn>
                        </p:par>
                        <p:par>
                          <p:cTn id="32" fill="hold">
                            <p:stCondLst>
                              <p:cond delay="245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350"/>
                                        <p:tgtEl>
                                          <p:spTgt spid="13"/>
                                        </p:tgtEl>
                                      </p:cBhvr>
                                    </p:animEffect>
                                  </p:childTnLst>
                                </p:cTn>
                              </p:par>
                            </p:childTnLst>
                          </p:cTn>
                        </p:par>
                        <p:par>
                          <p:cTn id="36" fill="hold">
                            <p:stCondLst>
                              <p:cond delay="2800"/>
                            </p:stCondLst>
                            <p:childTnLst>
                              <p:par>
                                <p:cTn id="37" presetID="10" presetClass="entr" presetSubtype="0"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350"/>
                                        <p:tgtEl>
                                          <p:spTgt spid="21"/>
                                        </p:tgtEl>
                                      </p:cBhvr>
                                    </p:animEffect>
                                  </p:childTnLst>
                                </p:cTn>
                              </p:par>
                            </p:childTnLst>
                          </p:cTn>
                        </p:par>
                        <p:par>
                          <p:cTn id="40" fill="hold">
                            <p:stCondLst>
                              <p:cond delay="3150"/>
                            </p:stCondLst>
                            <p:childTnLst>
                              <p:par>
                                <p:cTn id="41" presetID="10" presetClass="entr" presetSubtype="0"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350"/>
                                        <p:tgtEl>
                                          <p:spTgt spid="22"/>
                                        </p:tgtEl>
                                      </p:cBhvr>
                                    </p:animEffect>
                                  </p:childTnLst>
                                </p:cTn>
                              </p:par>
                            </p:childTnLst>
                          </p:cTn>
                        </p:par>
                        <p:par>
                          <p:cTn id="44" fill="hold">
                            <p:stCondLst>
                              <p:cond delay="3500"/>
                            </p:stCondLst>
                            <p:childTnLst>
                              <p:par>
                                <p:cTn id="45" presetID="10" presetClass="entr" presetSubtype="0" fill="hold"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350"/>
                                        <p:tgtEl>
                                          <p:spTgt spid="23"/>
                                        </p:tgtEl>
                                      </p:cBhvr>
                                    </p:animEffect>
                                  </p:childTnLst>
                                </p:cTn>
                              </p:par>
                            </p:childTnLst>
                          </p:cTn>
                        </p:par>
                        <p:par>
                          <p:cTn id="48" fill="hold">
                            <p:stCondLst>
                              <p:cond delay="3850"/>
                            </p:stCondLst>
                            <p:childTnLst>
                              <p:par>
                                <p:cTn id="49" presetID="10" presetClass="entr" presetSubtype="0" fill="hold"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350"/>
                                        <p:tgtEl>
                                          <p:spTgt spid="24"/>
                                        </p:tgtEl>
                                      </p:cBhvr>
                                    </p:animEffect>
                                  </p:childTnLst>
                                </p:cTn>
                              </p:par>
                            </p:childTnLst>
                          </p:cTn>
                        </p:par>
                        <p:par>
                          <p:cTn id="52" fill="hold">
                            <p:stCondLst>
                              <p:cond delay="4200"/>
                            </p:stCondLst>
                            <p:childTnLst>
                              <p:par>
                                <p:cTn id="53" presetID="10" presetClass="entr" presetSubtype="0"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350"/>
                                        <p:tgtEl>
                                          <p:spTgt spid="14"/>
                                        </p:tgtEl>
                                      </p:cBhvr>
                                    </p:animEffect>
                                  </p:childTnLst>
                                </p:cTn>
                              </p:par>
                            </p:childTnLst>
                          </p:cTn>
                        </p:par>
                        <p:par>
                          <p:cTn id="56" fill="hold">
                            <p:stCondLst>
                              <p:cond delay="4550"/>
                            </p:stCondLst>
                            <p:childTnLst>
                              <p:par>
                                <p:cTn id="57" presetID="10" presetClass="entr" presetSubtype="0"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p:bldP spid="14" grpId="0" animBg="1"/>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_num"/>
          <p:cNvSpPr txBox="1"/>
          <p:nvPr/>
        </p:nvSpPr>
        <p:spPr>
          <a:xfrm>
            <a:off x="841248" y="1417320"/>
            <a:ext cx="2743200" cy="914400"/>
          </a:xfrm>
          <a:prstGeom prst="rect">
            <a:avLst/>
          </a:prstGeom>
          <a:noFill/>
        </p:spPr>
        <p:txBody>
          <a:bodyPr wrap="square" lIns="0" tIns="0" rIns="0" bIns="0" anchor="t">
            <a:noAutofit/>
          </a:bodyPr>
          <a:lstStyle/>
          <a:p>
            <a:pPr algn="l"/>
            <a:r>
              <a:rPr lang="ko-KR" sz="5400">
                <a:solidFill>
                  <a:srgbClr val="724598"/>
                </a:solidFill>
                <a:latin typeface="KoPub돋움체 Bold" panose="02020603020101020101" pitchFamily="18" charset="-127"/>
                <a:ea typeface="KoPub돋움체 Bold" panose="02020603020101020101" pitchFamily="18" charset="-127"/>
                <a:cs typeface="KoPub돋움체 Bold"/>
              </a:rPr>
              <a:t>02</a:t>
            </a:r>
          </a:p>
        </p:txBody>
      </p:sp>
      <p:sp>
        <p:nvSpPr>
          <p:cNvPr id="3" name="sec_title"/>
          <p:cNvSpPr txBox="1"/>
          <p:nvPr/>
        </p:nvSpPr>
        <p:spPr>
          <a:xfrm>
            <a:off x="841248" y="2423160"/>
            <a:ext cx="8046720" cy="786384"/>
          </a:xfrm>
          <a:prstGeom prst="rect">
            <a:avLst/>
          </a:prstGeom>
          <a:noFill/>
        </p:spPr>
        <p:txBody>
          <a:bodyPr wrap="square" lIns="0" tIns="0" rIns="0" bIns="0" anchor="t">
            <a:noAutofit/>
          </a:bodyPr>
          <a:lstStyle/>
          <a:p>
            <a:pPr algn="l"/>
            <a:r>
              <a:rPr lang="ko-KR" sz="4400">
                <a:solidFill>
                  <a:srgbClr val="1F1F1F"/>
                </a:solidFill>
                <a:latin typeface="KoPub돋움체 Bold" panose="02020603020101020101" pitchFamily="18" charset="-127"/>
                <a:ea typeface="KoPub돋움체 Bold" panose="02020603020101020101" pitchFamily="18" charset="-127"/>
                <a:cs typeface="KoPub돋움체 Bold"/>
              </a:rPr>
              <a:t>직원 표창</a:t>
            </a:r>
          </a:p>
        </p:txBody>
      </p:sp>
      <p:sp>
        <p:nvSpPr>
          <p:cNvPr id="4" name="sec_sub"/>
          <p:cNvSpPr txBox="1"/>
          <p:nvPr/>
        </p:nvSpPr>
        <p:spPr>
          <a:xfrm>
            <a:off x="841248" y="3346704"/>
            <a:ext cx="8046720" cy="548640"/>
          </a:xfrm>
          <a:prstGeom prst="rect">
            <a:avLst/>
          </a:prstGeom>
          <a:noFill/>
        </p:spPr>
        <p:txBody>
          <a:bodyPr wrap="square" lIns="0" tIns="0" rIns="0" bIns="0" anchor="t">
            <a:noAutofit/>
          </a:bodyPr>
          <a:lstStyle/>
          <a:p>
            <a:pPr algn="l"/>
            <a:r>
              <a:rPr lang="ko-KR" sz="2200">
                <a:solidFill>
                  <a:srgbClr val="5E6672"/>
                </a:solidFill>
                <a:latin typeface="KoPub돋움체 Medium" panose="02020603020101020101" pitchFamily="18" charset="-127"/>
                <a:ea typeface="KoPub돋움체 Medium" panose="02020603020101020101" pitchFamily="18" charset="-127"/>
                <a:cs typeface="KoPub돋움체 Medium"/>
              </a:rPr>
              <a:t>디지털 경영혁신 활동 우수 직원</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디지털 경영혁신 활동 우수 직원 표창</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직원 표창</a:t>
            </a:r>
          </a:p>
        </p:txBody>
      </p:sp>
      <p:sp>
        <p:nvSpPr>
          <p:cNvPr id="5" name="award_panel"/>
          <p:cNvSpPr/>
          <p:nvPr/>
        </p:nvSpPr>
        <p:spPr>
          <a:xfrm>
            <a:off x="621792" y="1463040"/>
            <a:ext cx="10945368" cy="461772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6" name="award_bar"/>
          <p:cNvSpPr/>
          <p:nvPr/>
        </p:nvSpPr>
        <p:spPr>
          <a:xfrm>
            <a:off x="621792" y="1463040"/>
            <a:ext cx="128016" cy="4617720"/>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award_label"/>
          <p:cNvSpPr txBox="1"/>
          <p:nvPr/>
        </p:nvSpPr>
        <p:spPr>
          <a:xfrm>
            <a:off x="1280160" y="1965960"/>
            <a:ext cx="4206240" cy="365760"/>
          </a:xfrm>
          <a:prstGeom prst="rect">
            <a:avLst/>
          </a:prstGeom>
          <a:noFill/>
        </p:spPr>
        <p:txBody>
          <a:bodyPr wrap="square" lIns="0" tIns="0" rIns="0" bIns="0" anchor="t">
            <a:noAutofit/>
          </a:bodyPr>
          <a:lstStyle/>
          <a:p>
            <a:pPr algn="l"/>
            <a:r>
              <a:rPr lang="ko-KR" sz="1500">
                <a:solidFill>
                  <a:srgbClr val="724598"/>
                </a:solidFill>
                <a:latin typeface="KoPub돋움체 Bold" panose="02020603020101020101" pitchFamily="18" charset="-127"/>
                <a:ea typeface="KoPub돋움체 Bold" panose="02020603020101020101" pitchFamily="18" charset="-127"/>
                <a:cs typeface="KoPub돋움체 Bold"/>
              </a:rPr>
              <a:t>2026 디지털 경영혁신 활동 우수 직원</a:t>
            </a:r>
          </a:p>
        </p:txBody>
      </p:sp>
      <p:sp>
        <p:nvSpPr>
          <p:cNvPr id="8" name="award_name"/>
          <p:cNvSpPr txBox="1"/>
          <p:nvPr/>
        </p:nvSpPr>
        <p:spPr>
          <a:xfrm>
            <a:off x="1280160" y="2423160"/>
            <a:ext cx="4206240" cy="1463040"/>
          </a:xfrm>
          <a:prstGeom prst="rect">
            <a:avLst/>
          </a:prstGeom>
          <a:noFill/>
        </p:spPr>
        <p:txBody>
          <a:bodyPr wrap="square" lIns="0" tIns="0" rIns="0" bIns="0" anchor="ctr">
            <a:noAutofit/>
          </a:bodyPr>
          <a:lstStyle/>
          <a:p>
            <a:pPr algn="l"/>
            <a:r>
              <a:rPr lang="ko-KR" sz="8800">
                <a:solidFill>
                  <a:srgbClr val="1F1F1F"/>
                </a:solidFill>
                <a:latin typeface="KoPub돋움체 Bold" panose="02020603020101020101" pitchFamily="18" charset="-127"/>
                <a:ea typeface="KoPub돋움체 Bold" panose="02020603020101020101" pitchFamily="18" charset="-127"/>
                <a:cs typeface="KoPub돋움체 Bold"/>
              </a:rPr>
              <a:t>김준호</a:t>
            </a:r>
          </a:p>
        </p:txBody>
      </p:sp>
      <p:sp>
        <p:nvSpPr>
          <p:cNvPr id="9" name="award_org"/>
          <p:cNvSpPr txBox="1"/>
          <p:nvPr/>
        </p:nvSpPr>
        <p:spPr>
          <a:xfrm>
            <a:off x="1280160" y="3977639"/>
            <a:ext cx="4206240" cy="457200"/>
          </a:xfrm>
          <a:prstGeom prst="rect">
            <a:avLst/>
          </a:prstGeom>
          <a:noFill/>
        </p:spPr>
        <p:txBody>
          <a:bodyPr wrap="square" lIns="0" tIns="0" rIns="0" bIns="0" anchor="t">
            <a:noAutofit/>
          </a:bodyPr>
          <a:lstStyle/>
          <a:p>
            <a:pPr algn="l"/>
            <a:r>
              <a:rPr lang="ko-KR" sz="2400">
                <a:solidFill>
                  <a:srgbClr val="5E6672"/>
                </a:solidFill>
                <a:latin typeface="KoPub돋움체 Medium" panose="02020603020101020101" pitchFamily="18" charset="-127"/>
                <a:ea typeface="KoPub돋움체 Medium" panose="02020603020101020101" pitchFamily="18" charset="-127"/>
                <a:cs typeface="KoPub돋움체 Medium"/>
              </a:rPr>
              <a:t>소사청소년센터</a:t>
            </a:r>
          </a:p>
        </p:txBody>
      </p:sp>
      <p:cxnSp>
        <p:nvCxnSpPr>
          <p:cNvPr id="10" name="line_4"/>
          <p:cNvCxnSpPr/>
          <p:nvPr/>
        </p:nvCxnSpPr>
        <p:spPr>
          <a:xfrm>
            <a:off x="5623560" y="2011680"/>
            <a:ext cx="0" cy="3520440"/>
          </a:xfrm>
          <a:prstGeom prst="line">
            <a:avLst/>
          </a:prstGeom>
          <a:ln w="12700">
            <a:solidFill>
              <a:srgbClr val="C9C2D6"/>
            </a:solidFill>
          </a:ln>
        </p:spPr>
        <p:style>
          <a:lnRef idx="2">
            <a:schemeClr val="accent1"/>
          </a:lnRef>
          <a:fillRef idx="0">
            <a:schemeClr val="accent1"/>
          </a:fillRef>
          <a:effectRef idx="1">
            <a:schemeClr val="accent1"/>
          </a:effectRef>
          <a:fontRef idx="minor">
            <a:schemeClr val="tx1"/>
          </a:fontRef>
        </p:style>
      </p:cxnSp>
      <p:sp>
        <p:nvSpPr>
          <p:cNvPr id="11" name="award_merit_label"/>
          <p:cNvSpPr txBox="1"/>
          <p:nvPr/>
        </p:nvSpPr>
        <p:spPr>
          <a:xfrm>
            <a:off x="6035040" y="1965960"/>
            <a:ext cx="5212080" cy="365760"/>
          </a:xfrm>
          <a:prstGeom prst="rect">
            <a:avLst/>
          </a:prstGeom>
          <a:noFill/>
        </p:spPr>
        <p:txBody>
          <a:bodyPr wrap="square" lIns="0" tIns="0" rIns="0" bIns="0" anchor="t">
            <a:noAutofit/>
          </a:bodyPr>
          <a:lstStyle/>
          <a:p>
            <a:pPr algn="l"/>
            <a:r>
              <a:rPr lang="ko-KR" sz="1500">
                <a:solidFill>
                  <a:srgbClr val="724598"/>
                </a:solidFill>
                <a:latin typeface="KoPub돋움체 Bold" panose="02020603020101020101" pitchFamily="18" charset="-127"/>
                <a:ea typeface="KoPub돋움체 Bold" panose="02020603020101020101" pitchFamily="18" charset="-127"/>
                <a:cs typeface="KoPub돋움체 Bold"/>
              </a:rPr>
              <a:t>주요 공적</a:t>
            </a:r>
          </a:p>
        </p:txBody>
      </p:sp>
      <p:sp>
        <p:nvSpPr>
          <p:cNvPr id="12" name="award_merit_0_num"/>
          <p:cNvSpPr txBox="1"/>
          <p:nvPr/>
        </p:nvSpPr>
        <p:spPr>
          <a:xfrm>
            <a:off x="6035040" y="2514600"/>
            <a:ext cx="548640" cy="457200"/>
          </a:xfrm>
          <a:prstGeom prst="rect">
            <a:avLst/>
          </a:prstGeom>
          <a:noFill/>
        </p:spPr>
        <p:txBody>
          <a:bodyPr wrap="square" lIns="0" tIns="0" rIns="0" bIns="0" anchor="t">
            <a:noAutofit/>
          </a:bodyPr>
          <a:lstStyle/>
          <a:p>
            <a:pPr algn="l"/>
            <a:r>
              <a:rPr lang="ko-KR" sz="2000">
                <a:solidFill>
                  <a:srgbClr val="724598"/>
                </a:solidFill>
                <a:latin typeface="KoPub돋움체 Bold" panose="02020603020101020101" pitchFamily="18" charset="-127"/>
                <a:ea typeface="KoPub돋움체 Bold" panose="02020603020101020101" pitchFamily="18" charset="-127"/>
                <a:cs typeface="KoPub돋움체 Bold"/>
              </a:rPr>
              <a:t>01</a:t>
            </a:r>
          </a:p>
        </p:txBody>
      </p:sp>
      <p:sp>
        <p:nvSpPr>
          <p:cNvPr id="13" name="award_merit_0"/>
          <p:cNvSpPr txBox="1"/>
          <p:nvPr/>
        </p:nvSpPr>
        <p:spPr>
          <a:xfrm>
            <a:off x="6629400" y="2514600"/>
            <a:ext cx="4663440" cy="822960"/>
          </a:xfrm>
          <a:prstGeom prst="rect">
            <a:avLst/>
          </a:prstGeom>
          <a:noFill/>
        </p:spPr>
        <p:txBody>
          <a:bodyPr wrap="square" lIns="0" tIns="0" rIns="0" bIns="0" anchor="t">
            <a:noAutofit/>
          </a:bodyPr>
          <a:lstStyle/>
          <a:p>
            <a:pPr algn="l"/>
            <a:r>
              <a:rPr lang="ko-KR" sz="1900">
                <a:solidFill>
                  <a:srgbClr val="1F1F1F"/>
                </a:solidFill>
                <a:latin typeface="KoPub돋움체 Bold" panose="02020603020101020101" pitchFamily="18" charset="-127"/>
                <a:ea typeface="KoPub돋움체 Bold" panose="02020603020101020101" pitchFamily="18" charset="-127"/>
                <a:cs typeface="KoPub돋움체 Bold"/>
              </a:rPr>
              <a:t>수입·지출 대시보드와 수입결의서 생성기 개발</a:t>
            </a:r>
          </a:p>
        </p:txBody>
      </p:sp>
      <p:sp>
        <p:nvSpPr>
          <p:cNvPr id="14" name="award_merit_1_num"/>
          <p:cNvSpPr txBox="1"/>
          <p:nvPr/>
        </p:nvSpPr>
        <p:spPr>
          <a:xfrm>
            <a:off x="6035040" y="3502152"/>
            <a:ext cx="548640" cy="457200"/>
          </a:xfrm>
          <a:prstGeom prst="rect">
            <a:avLst/>
          </a:prstGeom>
          <a:noFill/>
        </p:spPr>
        <p:txBody>
          <a:bodyPr wrap="square" lIns="0" tIns="0" rIns="0" bIns="0" anchor="t">
            <a:noAutofit/>
          </a:bodyPr>
          <a:lstStyle/>
          <a:p>
            <a:pPr algn="l"/>
            <a:r>
              <a:rPr lang="ko-KR" sz="2000">
                <a:solidFill>
                  <a:srgbClr val="724598"/>
                </a:solidFill>
                <a:latin typeface="KoPub돋움체 Bold" panose="02020603020101020101" pitchFamily="18" charset="-127"/>
                <a:ea typeface="KoPub돋움체 Bold" panose="02020603020101020101" pitchFamily="18" charset="-127"/>
                <a:cs typeface="KoPub돋움체 Bold"/>
              </a:rPr>
              <a:t>02</a:t>
            </a:r>
          </a:p>
        </p:txBody>
      </p:sp>
      <p:sp>
        <p:nvSpPr>
          <p:cNvPr id="15" name="award_merit_1"/>
          <p:cNvSpPr txBox="1"/>
          <p:nvPr/>
        </p:nvSpPr>
        <p:spPr>
          <a:xfrm>
            <a:off x="6629400" y="3502152"/>
            <a:ext cx="4663440" cy="822960"/>
          </a:xfrm>
          <a:prstGeom prst="rect">
            <a:avLst/>
          </a:prstGeom>
          <a:noFill/>
        </p:spPr>
        <p:txBody>
          <a:bodyPr wrap="square" lIns="0" tIns="0" rIns="0" bIns="0" anchor="t">
            <a:noAutofit/>
          </a:bodyPr>
          <a:lstStyle/>
          <a:p>
            <a:pPr algn="l"/>
            <a:r>
              <a:rPr lang="ko-KR" sz="1900">
                <a:solidFill>
                  <a:srgbClr val="1F1F1F"/>
                </a:solidFill>
                <a:latin typeface="KoPub돋움체 Bold" panose="02020603020101020101" pitchFamily="18" charset="-127"/>
                <a:ea typeface="KoPub돋움체 Bold" panose="02020603020101020101" pitchFamily="18" charset="-127"/>
                <a:cs typeface="KoPub돋움체 Bold"/>
              </a:rPr>
              <a:t>현장자료 표준화, 사용자 검증·보완과 활용 안내</a:t>
            </a:r>
          </a:p>
        </p:txBody>
      </p:sp>
      <p:sp>
        <p:nvSpPr>
          <p:cNvPr id="16" name="award_merit_2_num"/>
          <p:cNvSpPr txBox="1"/>
          <p:nvPr/>
        </p:nvSpPr>
        <p:spPr>
          <a:xfrm>
            <a:off x="6035040" y="4489704"/>
            <a:ext cx="548640" cy="457200"/>
          </a:xfrm>
          <a:prstGeom prst="rect">
            <a:avLst/>
          </a:prstGeom>
          <a:noFill/>
        </p:spPr>
        <p:txBody>
          <a:bodyPr wrap="square" lIns="0" tIns="0" rIns="0" bIns="0" anchor="t">
            <a:noAutofit/>
          </a:bodyPr>
          <a:lstStyle/>
          <a:p>
            <a:pPr algn="l"/>
            <a:r>
              <a:rPr lang="ko-KR" sz="2000">
                <a:solidFill>
                  <a:srgbClr val="724598"/>
                </a:solidFill>
                <a:latin typeface="KoPub돋움체 Bold" panose="02020603020101020101" pitchFamily="18" charset="-127"/>
                <a:ea typeface="KoPub돋움체 Bold" panose="02020603020101020101" pitchFamily="18" charset="-127"/>
                <a:cs typeface="KoPub돋움체 Bold"/>
              </a:rPr>
              <a:t>03</a:t>
            </a:r>
          </a:p>
        </p:txBody>
      </p:sp>
      <p:sp>
        <p:nvSpPr>
          <p:cNvPr id="17" name="award_merit_2"/>
          <p:cNvSpPr txBox="1"/>
          <p:nvPr/>
        </p:nvSpPr>
        <p:spPr>
          <a:xfrm>
            <a:off x="6629400" y="4489704"/>
            <a:ext cx="4663440" cy="822960"/>
          </a:xfrm>
          <a:prstGeom prst="rect">
            <a:avLst/>
          </a:prstGeom>
          <a:noFill/>
        </p:spPr>
        <p:txBody>
          <a:bodyPr wrap="square" lIns="0" tIns="0" rIns="0" bIns="0" anchor="t">
            <a:noAutofit/>
          </a:bodyPr>
          <a:lstStyle/>
          <a:p>
            <a:pPr algn="l"/>
            <a:r>
              <a:rPr lang="ko-KR" altLang="en-US" sz="1900" dirty="0">
                <a:solidFill>
                  <a:srgbClr val="1F1F1F"/>
                </a:solidFill>
                <a:latin typeface="KoPub돋움체 Bold" panose="02020603020101020101" pitchFamily="18" charset="-127"/>
                <a:ea typeface="KoPub돋움체 Bold" panose="02020603020101020101" pitchFamily="18" charset="-127"/>
                <a:cs typeface="KoPub돋움체 Bold"/>
              </a:rPr>
              <a:t>센터 </a:t>
            </a:r>
            <a:r>
              <a:rPr lang="ko-KR" sz="1900" dirty="0">
                <a:solidFill>
                  <a:srgbClr val="1F1F1F"/>
                </a:solidFill>
                <a:latin typeface="KoPub돋움체 Bold" panose="02020603020101020101" pitchFamily="18" charset="-127"/>
                <a:ea typeface="KoPub돋움체 Bold" panose="02020603020101020101" pitchFamily="18" charset="-127"/>
                <a:cs typeface="KoPub돋움체 Bold"/>
              </a:rPr>
              <a:t>안전교육일지 개선과 </a:t>
            </a:r>
            <a:r>
              <a:rPr lang="ko-KR" altLang="en-US" sz="1900" dirty="0">
                <a:solidFill>
                  <a:srgbClr val="1F1F1F"/>
                </a:solidFill>
                <a:latin typeface="KoPub돋움체 Bold" panose="02020603020101020101" pitchFamily="18" charset="-127"/>
                <a:ea typeface="KoPub돋움체 Bold" panose="02020603020101020101" pitchFamily="18" charset="-127"/>
                <a:cs typeface="KoPub돋움체 Bold"/>
              </a:rPr>
              <a:t>타 부서</a:t>
            </a:r>
            <a:r>
              <a:rPr lang="ko-KR" sz="1900" dirty="0">
                <a:solidFill>
                  <a:srgbClr val="1F1F1F"/>
                </a:solidFill>
                <a:latin typeface="KoPub돋움체 Bold" panose="02020603020101020101" pitchFamily="18" charset="-127"/>
                <a:ea typeface="KoPub돋움체 Bold" panose="02020603020101020101" pitchFamily="18" charset="-127"/>
                <a:cs typeface="KoPub돋움체 Bold"/>
              </a:rPr>
              <a:t> 활용</a:t>
            </a:r>
            <a:r>
              <a:rPr lang="en-US" altLang="ko-KR" sz="1900" dirty="0">
                <a:solidFill>
                  <a:srgbClr val="1F1F1F"/>
                </a:solidFill>
                <a:latin typeface="KoPub돋움체 Bold" panose="02020603020101020101" pitchFamily="18" charset="-127"/>
                <a:ea typeface="KoPub돋움체 Bold" panose="02020603020101020101" pitchFamily="18" charset="-127"/>
                <a:cs typeface="KoPub돋움체 Bold"/>
              </a:rPr>
              <a:t> </a:t>
            </a:r>
            <a:r>
              <a:rPr lang="ko-KR" sz="1900" dirty="0">
                <a:solidFill>
                  <a:srgbClr val="1F1F1F"/>
                </a:solidFill>
                <a:latin typeface="KoPub돋움체 Bold" panose="02020603020101020101" pitchFamily="18" charset="-127"/>
                <a:ea typeface="KoPub돋움체 Bold" panose="02020603020101020101" pitchFamily="18" charset="-127"/>
                <a:cs typeface="KoPub돋움체 Bold"/>
              </a:rPr>
              <a:t>지원</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DF3A684B-9486-9AF4-47BB-049909AB6C9B}"/>
              </a:ext>
            </a:extLst>
          </p:cNvPr>
          <p:cNvPicPr>
            <a:picLocks noChangeAspect="1"/>
          </p:cNvPicPr>
          <p:nvPr/>
        </p:nvPicPr>
        <p:blipFill>
          <a:blip r:embed="rId2"/>
          <a:stretch>
            <a:fillRect/>
          </a:stretch>
        </p:blipFill>
        <p:spPr>
          <a:xfrm>
            <a:off x="390247" y="0"/>
            <a:ext cx="11433157" cy="1276528"/>
          </a:xfrm>
          <a:prstGeom prst="rect">
            <a:avLst/>
          </a:prstGeom>
        </p:spPr>
      </p:pic>
      <p:pic>
        <p:nvPicPr>
          <p:cNvPr id="5" name="그림 4">
            <a:extLst>
              <a:ext uri="{FF2B5EF4-FFF2-40B4-BE49-F238E27FC236}">
                <a16:creationId xmlns:a16="http://schemas.microsoft.com/office/drawing/2014/main" id="{A1B94042-D78A-614C-C79E-297FD05915DB}"/>
              </a:ext>
            </a:extLst>
          </p:cNvPr>
          <p:cNvPicPr>
            <a:picLocks noChangeAspect="1"/>
          </p:cNvPicPr>
          <p:nvPr/>
        </p:nvPicPr>
        <p:blipFill>
          <a:blip r:embed="rId3">
            <a:extLst>
              <a:ext uri="{28A0092B-C50C-407E-A947-70E740481C1C}">
                <a14:useLocalDpi xmlns:a14="http://schemas.microsoft.com/office/drawing/2010/main" val="0"/>
              </a:ext>
            </a:extLst>
          </a:blip>
          <a:srcRect l="273" r="223"/>
          <a:stretch>
            <a:fillRect/>
          </a:stretch>
        </p:blipFill>
        <p:spPr>
          <a:xfrm>
            <a:off x="1545486" y="191386"/>
            <a:ext cx="9105792" cy="64752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8454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_num"/>
          <p:cNvSpPr txBox="1"/>
          <p:nvPr/>
        </p:nvSpPr>
        <p:spPr>
          <a:xfrm>
            <a:off x="841248" y="1417320"/>
            <a:ext cx="2743200" cy="914400"/>
          </a:xfrm>
          <a:prstGeom prst="rect">
            <a:avLst/>
          </a:prstGeom>
          <a:noFill/>
        </p:spPr>
        <p:txBody>
          <a:bodyPr wrap="square" lIns="0" tIns="0" rIns="0" bIns="0" anchor="t">
            <a:noAutofit/>
          </a:bodyPr>
          <a:lstStyle/>
          <a:p>
            <a:pPr algn="l"/>
            <a:r>
              <a:rPr lang="ko-KR" sz="5400">
                <a:solidFill>
                  <a:srgbClr val="724598"/>
                </a:solidFill>
                <a:latin typeface="KoPub돋움체 Bold" panose="02020603020101020101" pitchFamily="18" charset="-127"/>
                <a:ea typeface="KoPub돋움체 Bold" panose="02020603020101020101" pitchFamily="18" charset="-127"/>
                <a:cs typeface="KoPub돋움체 Bold"/>
              </a:rPr>
              <a:t>03</a:t>
            </a:r>
          </a:p>
        </p:txBody>
      </p:sp>
      <p:sp>
        <p:nvSpPr>
          <p:cNvPr id="3" name="sec_title"/>
          <p:cNvSpPr txBox="1"/>
          <p:nvPr/>
        </p:nvSpPr>
        <p:spPr>
          <a:xfrm>
            <a:off x="841248" y="2423160"/>
            <a:ext cx="8046720" cy="786384"/>
          </a:xfrm>
          <a:prstGeom prst="rect">
            <a:avLst/>
          </a:prstGeom>
          <a:noFill/>
        </p:spPr>
        <p:txBody>
          <a:bodyPr wrap="square" lIns="0" tIns="0" rIns="0" bIns="0" anchor="t">
            <a:noAutofit/>
          </a:bodyPr>
          <a:lstStyle/>
          <a:p>
            <a:pPr algn="l"/>
            <a:r>
              <a:rPr lang="ko-KR" sz="4400" dirty="0">
                <a:solidFill>
                  <a:srgbClr val="1F1F1F"/>
                </a:solidFill>
                <a:latin typeface="KoPub돋움체 Bold" panose="02020603020101020101" pitchFamily="18" charset="-127"/>
                <a:ea typeface="KoPub돋움체 Bold" panose="02020603020101020101" pitchFamily="18" charset="-127"/>
                <a:cs typeface="KoPub돋움체 Bold"/>
              </a:rPr>
              <a:t>2027년 추진 </a:t>
            </a:r>
            <a:r>
              <a:rPr lang="ko-KR" sz="4400" dirty="0" err="1">
                <a:solidFill>
                  <a:srgbClr val="1F1F1F"/>
                </a:solidFill>
                <a:latin typeface="KoPub돋움체 Bold" panose="02020603020101020101" pitchFamily="18" charset="-127"/>
                <a:ea typeface="KoPub돋움체 Bold" panose="02020603020101020101" pitchFamily="18" charset="-127"/>
                <a:cs typeface="KoPub돋움체 Bold"/>
              </a:rPr>
              <a:t>검토안</a:t>
            </a:r>
            <a:endParaRPr lang="ko-KR" sz="4400" dirty="0">
              <a:solidFill>
                <a:srgbClr val="1F1F1F"/>
              </a:solidFill>
              <a:latin typeface="KoPub돋움체 Bold" panose="02020603020101020101" pitchFamily="18" charset="-127"/>
              <a:ea typeface="KoPub돋움체 Bold" panose="02020603020101020101" pitchFamily="18" charset="-127"/>
              <a:cs typeface="KoPub돋움체 Bold"/>
            </a:endParaRPr>
          </a:p>
        </p:txBody>
      </p:sp>
      <p:sp>
        <p:nvSpPr>
          <p:cNvPr id="4" name="sec_sub"/>
          <p:cNvSpPr txBox="1"/>
          <p:nvPr/>
        </p:nvSpPr>
        <p:spPr>
          <a:xfrm>
            <a:off x="841248" y="3346704"/>
            <a:ext cx="8046720" cy="548640"/>
          </a:xfrm>
          <a:prstGeom prst="rect">
            <a:avLst/>
          </a:prstGeom>
          <a:noFill/>
        </p:spPr>
        <p:txBody>
          <a:bodyPr wrap="square" lIns="0" tIns="0" rIns="0" bIns="0" anchor="t">
            <a:noAutofit/>
          </a:bodyPr>
          <a:lstStyle/>
          <a:p>
            <a:pPr algn="l"/>
            <a:r>
              <a:rPr lang="ko-KR" sz="2200">
                <a:solidFill>
                  <a:srgbClr val="5E6672"/>
                </a:solidFill>
                <a:latin typeface="KoPub돋움체 Medium" panose="02020603020101020101" pitchFamily="18" charset="-127"/>
                <a:ea typeface="KoPub돋움체 Medium" panose="02020603020101020101" pitchFamily="18" charset="-127"/>
                <a:cs typeface="KoPub돋움체 Medium"/>
              </a:rPr>
              <a:t>과제 중심 협업 · 지속 운영 · 내부 활용</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2027년에는 개발과 현업 검증이 같은 과제에 함께합니다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차년도 추진 방향 ①</a:t>
            </a:r>
          </a:p>
        </p:txBody>
      </p:sp>
      <p:sp>
        <p:nvSpPr>
          <p:cNvPr id="4" name="proposal_state"/>
          <p:cNvSpPr/>
          <p:nvPr/>
        </p:nvSpPr>
        <p:spPr>
          <a:xfrm>
            <a:off x="10104120" y="1005840"/>
            <a:ext cx="1463040" cy="329184"/>
          </a:xfrm>
          <a:prstGeom prst="roundRect">
            <a:avLst>
              <a:gd name="adj" fmla="val 50000"/>
            </a:avLst>
          </a:prstGeom>
          <a:solidFill>
            <a:srgbClr val="FFFFFF"/>
          </a:solidFill>
          <a:ln w="15875">
            <a:solidFill>
              <a:srgbClr val="72459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724598"/>
                </a:solidFill>
                <a:latin typeface="KoPub돋움체 Bold" panose="02020603020101020101" pitchFamily="18" charset="-127"/>
                <a:ea typeface="KoPub돋움체 Bold" panose="02020603020101020101" pitchFamily="18" charset="-127"/>
                <a:cs typeface="KoPub돋움체 Bold"/>
              </a:rPr>
              <a:t>추진 검토안</a:t>
            </a:r>
          </a:p>
        </p:txBody>
      </p:sp>
      <p:sp>
        <p:nvSpPr>
          <p:cNvPr id="5"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dirty="0">
                <a:solidFill>
                  <a:srgbClr val="5E6672"/>
                </a:solidFill>
                <a:latin typeface="KoPub돋움체 Medium" panose="02020603020101020101" pitchFamily="18" charset="-127"/>
                <a:ea typeface="KoPub돋움체 Medium" panose="02020603020101020101" pitchFamily="18" charset="-127"/>
                <a:cs typeface="KoPub돋움체 Medium"/>
              </a:rPr>
              <a:t>2027년 세부사업계획안(8.21.)</a:t>
            </a:r>
          </a:p>
        </p:txBody>
      </p:sp>
      <p:sp>
        <p:nvSpPr>
          <p:cNvPr id="6" name="plan_lead"/>
          <p:cNvSpPr txBox="1"/>
          <p:nvPr/>
        </p:nvSpPr>
        <p:spPr>
          <a:xfrm>
            <a:off x="621792" y="1371600"/>
            <a:ext cx="9144000" cy="36576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기존 도구 안정화와 재사용을 먼저 살피고, 조건에 맞는 과제를 발굴합니다</a:t>
            </a:r>
          </a:p>
        </p:txBody>
      </p:sp>
      <p:sp>
        <p:nvSpPr>
          <p:cNvPr id="7" name="cue_join_text"/>
          <p:cNvSpPr txBox="1"/>
          <p:nvPr/>
        </p:nvSpPr>
        <p:spPr>
          <a:xfrm>
            <a:off x="621792" y="2011680"/>
            <a:ext cx="2194560" cy="1463040"/>
          </a:xfrm>
          <a:prstGeom prst="rect">
            <a:avLst/>
          </a:prstGeom>
          <a:noFill/>
        </p:spPr>
        <p:txBody>
          <a:bodyPr wrap="square" lIns="0" tIns="0" rIns="0" bIns="0" anchor="t">
            <a:noAutofit/>
          </a:bodyPr>
          <a:lstStyle/>
          <a:p>
            <a:pPr algn="l"/>
            <a:r>
              <a:rPr lang="ko-KR" sz="2000">
                <a:solidFill>
                  <a:srgbClr val="724598"/>
                </a:solidFill>
                <a:latin typeface="KoPub돋움체 Bold" panose="02020603020101020101" pitchFamily="18" charset="-127"/>
                <a:ea typeface="KoPub돋움체 Bold" panose="02020603020101020101" pitchFamily="18" charset="-127"/>
                <a:cs typeface="KoPub돋움체 Bold"/>
              </a:rPr>
              <a:t>개발 참여</a:t>
            </a:r>
          </a:p>
          <a:p>
            <a:pPr algn="l">
              <a:spcBef>
                <a:spcPts val="200"/>
              </a:spcBef>
            </a:pPr>
            <a:r>
              <a:rPr lang="ko-KR" sz="1600">
                <a:solidFill>
                  <a:srgbClr val="5E6672"/>
                </a:solidFill>
                <a:latin typeface="KoPub돋움체 Bold" panose="02020603020101020101" pitchFamily="18" charset="-127"/>
                <a:ea typeface="KoPub돋움체 Bold" panose="02020603020101020101" pitchFamily="18" charset="-127"/>
                <a:cs typeface="KoPub돋움체 Bold"/>
              </a:rPr>
              <a:t>＋</a:t>
            </a:r>
          </a:p>
          <a:p>
            <a:pPr algn="l">
              <a:spcBef>
                <a:spcPts val="200"/>
              </a:spcBef>
            </a:pPr>
            <a:r>
              <a:rPr lang="ko-KR" sz="2000">
                <a:solidFill>
                  <a:srgbClr val="156A3A"/>
                </a:solidFill>
                <a:latin typeface="KoPub돋움체 Bold" panose="02020603020101020101" pitchFamily="18" charset="-127"/>
                <a:ea typeface="KoPub돋움체 Bold" panose="02020603020101020101" pitchFamily="18" charset="-127"/>
                <a:cs typeface="KoPub돋움체 Bold"/>
              </a:rPr>
              <a:t>현업 검증·확산</a:t>
            </a:r>
          </a:p>
        </p:txBody>
      </p:sp>
      <p:sp>
        <p:nvSpPr>
          <p:cNvPr id="8" name="cue_join_sub"/>
          <p:cNvSpPr txBox="1"/>
          <p:nvPr/>
        </p:nvSpPr>
        <p:spPr>
          <a:xfrm>
            <a:off x="621792" y="3520440"/>
            <a:ext cx="2194560" cy="320040"/>
          </a:xfrm>
          <a:prstGeom prst="rect">
            <a:avLst/>
          </a:prstGeom>
          <a:noFill/>
        </p:spPr>
        <p:txBody>
          <a:bodyPr wrap="square" lIns="0" tIns="0" rIns="0" bIns="0" anchor="t">
            <a:noAutofit/>
          </a:bodyPr>
          <a:lstStyle/>
          <a:p>
            <a:pPr algn="l"/>
            <a:r>
              <a:rPr lang="ko-KR" sz="1500">
                <a:solidFill>
                  <a:srgbClr val="5E6672"/>
                </a:solidFill>
                <a:latin typeface="KoPub돋움체 Medium" panose="02020603020101020101" pitchFamily="18" charset="-127"/>
                <a:ea typeface="KoPub돋움체 Medium" panose="02020603020101020101" pitchFamily="18" charset="-127"/>
                <a:cs typeface="KoPub돋움체 Medium"/>
              </a:rPr>
              <a:t>같은 과제에 합류</a:t>
            </a:r>
          </a:p>
        </p:txBody>
      </p:sp>
      <p:cxnSp>
        <p:nvCxnSpPr>
          <p:cNvPr id="9" name="cue_join_l1"/>
          <p:cNvCxnSpPr/>
          <p:nvPr/>
        </p:nvCxnSpPr>
        <p:spPr>
          <a:xfrm>
            <a:off x="2606040" y="2240280"/>
            <a:ext cx="274320"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10" name="cue_join_l2"/>
          <p:cNvCxnSpPr/>
          <p:nvPr/>
        </p:nvCxnSpPr>
        <p:spPr>
          <a:xfrm>
            <a:off x="2606040" y="3200400"/>
            <a:ext cx="274320"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11" name="cue_join_l3"/>
          <p:cNvCxnSpPr/>
          <p:nvPr/>
        </p:nvCxnSpPr>
        <p:spPr>
          <a:xfrm>
            <a:off x="2880360" y="2240280"/>
            <a:ext cx="0" cy="96012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12" name="cue_join_l4"/>
          <p:cNvCxnSpPr/>
          <p:nvPr/>
        </p:nvCxnSpPr>
        <p:spPr>
          <a:xfrm>
            <a:off x="2880360" y="2715768"/>
            <a:ext cx="32004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mvp_0_box"/>
          <p:cNvSpPr/>
          <p:nvPr/>
        </p:nvSpPr>
        <p:spPr>
          <a:xfrm>
            <a:off x="3200400" y="2057400"/>
            <a:ext cx="1828800" cy="1325880"/>
          </a:xfrm>
          <a:prstGeom prst="rect">
            <a:avLst/>
          </a:prstGeom>
          <a:solidFill>
            <a:srgbClr val="FFFFFF"/>
          </a:solidFill>
          <a:ln w="1905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4" name="mvp_0_text"/>
          <p:cNvSpPr txBox="1"/>
          <p:nvPr/>
        </p:nvSpPr>
        <p:spPr>
          <a:xfrm>
            <a:off x="3364992" y="2212848"/>
            <a:ext cx="1554480" cy="1097280"/>
          </a:xfrm>
          <a:prstGeom prst="rect">
            <a:avLst/>
          </a:prstGeom>
          <a:noFill/>
        </p:spPr>
        <p:txBody>
          <a:bodyPr wrap="square" lIns="0" tIns="0" rIns="0" bIns="0" anchor="t">
            <a:noAutofit/>
          </a:bodyPr>
          <a:lstStyle/>
          <a:p>
            <a:pPr algn="l"/>
            <a:r>
              <a:rPr lang="ko-KR" sz="1700">
                <a:solidFill>
                  <a:srgbClr val="1F1F1F"/>
                </a:solidFill>
                <a:latin typeface="KoPub돋움체 Bold" panose="02020603020101020101" pitchFamily="18" charset="-127"/>
                <a:ea typeface="KoPub돋움체 Bold" panose="02020603020101020101" pitchFamily="18" charset="-127"/>
                <a:cs typeface="KoPub돋움체 Bold"/>
              </a:rPr>
              <a:t>문제 정의</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반복업무와 병목</a:t>
            </a:r>
          </a:p>
        </p:txBody>
      </p:sp>
      <p:cxnSp>
        <p:nvCxnSpPr>
          <p:cNvPr id="15" name="mvp_arrow_0"/>
          <p:cNvCxnSpPr/>
          <p:nvPr/>
        </p:nvCxnSpPr>
        <p:spPr>
          <a:xfrm>
            <a:off x="5065776" y="2715768"/>
            <a:ext cx="27432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mvp_1_box"/>
          <p:cNvSpPr/>
          <p:nvPr/>
        </p:nvSpPr>
        <p:spPr>
          <a:xfrm>
            <a:off x="5376672" y="2057400"/>
            <a:ext cx="1828800" cy="1325880"/>
          </a:xfrm>
          <a:prstGeom prst="rect">
            <a:avLst/>
          </a:prstGeom>
          <a:solidFill>
            <a:srgbClr val="FFFFFF"/>
          </a:solidFill>
          <a:ln w="19050">
            <a:solidFill>
              <a:srgbClr val="724598"/>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7" name="mvp_1_text"/>
          <p:cNvSpPr txBox="1"/>
          <p:nvPr/>
        </p:nvSpPr>
        <p:spPr>
          <a:xfrm>
            <a:off x="5541264" y="2212848"/>
            <a:ext cx="1554480" cy="1097280"/>
          </a:xfrm>
          <a:prstGeom prst="rect">
            <a:avLst/>
          </a:prstGeom>
          <a:noFill/>
        </p:spPr>
        <p:txBody>
          <a:bodyPr wrap="square" lIns="0" tIns="0" rIns="0" bIns="0" anchor="t">
            <a:noAutofit/>
          </a:bodyPr>
          <a:lstStyle/>
          <a:p>
            <a:pPr algn="l"/>
            <a:r>
              <a:rPr lang="ko-KR" sz="1700">
                <a:solidFill>
                  <a:srgbClr val="1F1F1F"/>
                </a:solidFill>
                <a:latin typeface="KoPub돋움체 Bold" panose="02020603020101020101" pitchFamily="18" charset="-127"/>
                <a:ea typeface="KoPub돋움체 Bold" panose="02020603020101020101" pitchFamily="18" charset="-127"/>
                <a:cs typeface="KoPub돋움체 Bold"/>
              </a:rPr>
              <a:t>MVP 제작</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핵심 기능 시제품</a:t>
            </a:r>
          </a:p>
        </p:txBody>
      </p:sp>
      <p:cxnSp>
        <p:nvCxnSpPr>
          <p:cNvPr id="18" name="mvp_arrow_1"/>
          <p:cNvCxnSpPr/>
          <p:nvPr/>
        </p:nvCxnSpPr>
        <p:spPr>
          <a:xfrm>
            <a:off x="7242048" y="2715768"/>
            <a:ext cx="274320"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mvp_2_box"/>
          <p:cNvSpPr/>
          <p:nvPr/>
        </p:nvSpPr>
        <p:spPr>
          <a:xfrm>
            <a:off x="7552944" y="2057400"/>
            <a:ext cx="1828800" cy="1325880"/>
          </a:xfrm>
          <a:prstGeom prst="rect">
            <a:avLst/>
          </a:prstGeom>
          <a:solidFill>
            <a:srgbClr val="FFFFFF"/>
          </a:solidFill>
          <a:ln w="1905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0" name="mvp_2_text"/>
          <p:cNvSpPr txBox="1"/>
          <p:nvPr/>
        </p:nvSpPr>
        <p:spPr>
          <a:xfrm>
            <a:off x="7717536" y="2212848"/>
            <a:ext cx="1554480" cy="1097280"/>
          </a:xfrm>
          <a:prstGeom prst="rect">
            <a:avLst/>
          </a:prstGeom>
          <a:noFill/>
        </p:spPr>
        <p:txBody>
          <a:bodyPr wrap="square" lIns="0" tIns="0" rIns="0" bIns="0" anchor="t">
            <a:noAutofit/>
          </a:bodyPr>
          <a:lstStyle/>
          <a:p>
            <a:pPr algn="l"/>
            <a:r>
              <a:rPr lang="ko-KR" sz="1700">
                <a:solidFill>
                  <a:srgbClr val="1F1F1F"/>
                </a:solidFill>
                <a:latin typeface="KoPub돋움체 Bold" panose="02020603020101020101" pitchFamily="18" charset="-127"/>
                <a:ea typeface="KoPub돋움체 Bold" panose="02020603020101020101" pitchFamily="18" charset="-127"/>
                <a:cs typeface="KoPub돋움체 Bold"/>
              </a:rPr>
              <a:t>실제 업무 검증</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오류·입력 부담 확인</a:t>
            </a:r>
          </a:p>
        </p:txBody>
      </p:sp>
      <p:cxnSp>
        <p:nvCxnSpPr>
          <p:cNvPr id="21" name="mvp_arrow_2"/>
          <p:cNvCxnSpPr/>
          <p:nvPr/>
        </p:nvCxnSpPr>
        <p:spPr>
          <a:xfrm>
            <a:off x="9418319" y="2715768"/>
            <a:ext cx="274321"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mvp_3_box"/>
          <p:cNvSpPr/>
          <p:nvPr/>
        </p:nvSpPr>
        <p:spPr>
          <a:xfrm>
            <a:off x="9729216" y="2057400"/>
            <a:ext cx="1828800" cy="1325880"/>
          </a:xfrm>
          <a:prstGeom prst="rect">
            <a:avLst/>
          </a:prstGeom>
          <a:solidFill>
            <a:srgbClr val="FFFFFF"/>
          </a:solidFill>
          <a:ln w="1905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3" name="mvp_3_text"/>
          <p:cNvSpPr txBox="1"/>
          <p:nvPr/>
        </p:nvSpPr>
        <p:spPr>
          <a:xfrm>
            <a:off x="9893808" y="2212848"/>
            <a:ext cx="1554480" cy="1097280"/>
          </a:xfrm>
          <a:prstGeom prst="rect">
            <a:avLst/>
          </a:prstGeom>
          <a:noFill/>
        </p:spPr>
        <p:txBody>
          <a:bodyPr wrap="square" lIns="0" tIns="0" rIns="0" bIns="0" anchor="t">
            <a:noAutofit/>
          </a:bodyPr>
          <a:lstStyle/>
          <a:p>
            <a:pPr algn="l"/>
            <a:r>
              <a:rPr lang="ko-KR" sz="1700">
                <a:solidFill>
                  <a:srgbClr val="1F1F1F"/>
                </a:solidFill>
                <a:latin typeface="KoPub돋움체 Bold" panose="02020603020101020101" pitchFamily="18" charset="-127"/>
                <a:ea typeface="KoPub돋움체 Bold" panose="02020603020101020101" pitchFamily="18" charset="-127"/>
                <a:cs typeface="KoPub돋움체 Bold"/>
              </a:rPr>
              <a:t>배포·사용지원</a:t>
            </a:r>
          </a:p>
          <a:p>
            <a:pPr algn="l">
              <a:spcBef>
                <a:spcPts val="400"/>
              </a:spcBef>
            </a:pPr>
            <a:r>
              <a:rPr lang="ko-KR" sz="1400">
                <a:solidFill>
                  <a:srgbClr val="5E6672"/>
                </a:solidFill>
                <a:latin typeface="KoPub돋움체 Medium" panose="02020603020101020101" pitchFamily="18" charset="-127"/>
                <a:ea typeface="KoPub돋움체 Medium" panose="02020603020101020101" pitchFamily="18" charset="-127"/>
                <a:cs typeface="KoPub돋움체 Medium"/>
              </a:rPr>
              <a:t>운영 조건 확인 후</a:t>
            </a:r>
          </a:p>
        </p:txBody>
      </p:sp>
      <p:cxnSp>
        <p:nvCxnSpPr>
          <p:cNvPr id="24" name="cue_loop_0"/>
          <p:cNvCxnSpPr/>
          <p:nvPr/>
        </p:nvCxnSpPr>
        <p:spPr>
          <a:xfrm>
            <a:off x="8467344" y="3383280"/>
            <a:ext cx="0" cy="45720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25" name="cue_loop_1"/>
          <p:cNvCxnSpPr/>
          <p:nvPr/>
        </p:nvCxnSpPr>
        <p:spPr>
          <a:xfrm flipH="1">
            <a:off x="6291072" y="3840480"/>
            <a:ext cx="2176272" cy="0"/>
          </a:xfrm>
          <a:prstGeom prst="line">
            <a:avLst/>
          </a:prstGeom>
          <a:ln w="25400">
            <a:solidFill>
              <a:srgbClr val="724598"/>
            </a:solidFill>
          </a:ln>
        </p:spPr>
        <p:style>
          <a:lnRef idx="2">
            <a:schemeClr val="accent1"/>
          </a:lnRef>
          <a:fillRef idx="0">
            <a:schemeClr val="accent1"/>
          </a:fillRef>
          <a:effectRef idx="1">
            <a:schemeClr val="accent1"/>
          </a:effectRef>
          <a:fontRef idx="minor">
            <a:schemeClr val="tx1"/>
          </a:fontRef>
        </p:style>
      </p:cxnSp>
      <p:cxnSp>
        <p:nvCxnSpPr>
          <p:cNvPr id="26" name="cue_loop_2"/>
          <p:cNvCxnSpPr/>
          <p:nvPr/>
        </p:nvCxnSpPr>
        <p:spPr>
          <a:xfrm flipV="1">
            <a:off x="6291072" y="3383280"/>
            <a:ext cx="0" cy="45720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cue_loop_label"/>
          <p:cNvSpPr txBox="1"/>
          <p:nvPr/>
        </p:nvSpPr>
        <p:spPr>
          <a:xfrm>
            <a:off x="6291072" y="3931920"/>
            <a:ext cx="2176272" cy="320040"/>
          </a:xfrm>
          <a:prstGeom prst="rect">
            <a:avLst/>
          </a:prstGeom>
          <a:noFill/>
        </p:spPr>
        <p:txBody>
          <a:bodyPr wrap="square" lIns="0" tIns="0" rIns="0" bIns="0" anchor="t">
            <a:noAutofit/>
          </a:bodyPr>
          <a:lstStyle/>
          <a:p>
            <a:pPr algn="ctr"/>
            <a:r>
              <a:rPr lang="ko-KR" sz="1400">
                <a:solidFill>
                  <a:srgbClr val="724598"/>
                </a:solidFill>
                <a:latin typeface="KoPub돋움체 Bold" panose="02020603020101020101" pitchFamily="18" charset="-127"/>
                <a:ea typeface="KoPub돋움체 Bold" panose="02020603020101020101" pitchFamily="18" charset="-127"/>
                <a:cs typeface="KoPub돋움체 Bold"/>
              </a:rPr>
              <a:t>검증 결과에 따라 보완</a:t>
            </a:r>
          </a:p>
        </p:txBody>
      </p:sp>
      <p:sp>
        <p:nvSpPr>
          <p:cNvPr id="28" name="cue_mvp"/>
          <p:cNvSpPr/>
          <p:nvPr/>
        </p:nvSpPr>
        <p:spPr>
          <a:xfrm>
            <a:off x="621792" y="4069080"/>
            <a:ext cx="2011680" cy="347472"/>
          </a:xfrm>
          <a:prstGeom prst="roundRect">
            <a:avLst>
              <a:gd name="adj" fmla="val 50000"/>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altLang="ko-KR" sz="1300" dirty="0">
                <a:solidFill>
                  <a:srgbClr val="FFFFFF"/>
                </a:solidFill>
                <a:latin typeface="KoPub돋움체 Bold" panose="02020603020101020101" pitchFamily="18" charset="-127"/>
                <a:ea typeface="KoPub돋움체 Bold" panose="02020603020101020101" pitchFamily="18" charset="-127"/>
                <a:cs typeface="KoPub돋움체 Bold"/>
              </a:rPr>
              <a:t>4</a:t>
            </a:r>
            <a:r>
              <a:rPr lang="ko-KR" sz="1300" dirty="0">
                <a:solidFill>
                  <a:srgbClr val="FFFFFF"/>
                </a:solidFill>
                <a:latin typeface="KoPub돋움체 Bold" panose="02020603020101020101" pitchFamily="18" charset="-127"/>
                <a:ea typeface="KoPub돋움체 Bold" panose="02020603020101020101" pitchFamily="18" charset="-127"/>
                <a:cs typeface="KoPub돋움체 Bold"/>
              </a:rPr>
              <a:t>주 육성과정 제안</a:t>
            </a:r>
          </a:p>
        </p:txBody>
      </p:sp>
      <p:sp>
        <p:nvSpPr>
          <p:cNvPr id="29" name="plan_take_box"/>
          <p:cNvSpPr/>
          <p:nvPr/>
        </p:nvSpPr>
        <p:spPr>
          <a:xfrm>
            <a:off x="621792" y="4709160"/>
            <a:ext cx="10945368" cy="132588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0" name="plan_take"/>
          <p:cNvSpPr txBox="1"/>
          <p:nvPr/>
        </p:nvSpPr>
        <p:spPr>
          <a:xfrm>
            <a:off x="914400" y="4709160"/>
            <a:ext cx="10424160" cy="1325880"/>
          </a:xfrm>
          <a:prstGeom prst="rect">
            <a:avLst/>
          </a:prstGeom>
          <a:noFill/>
        </p:spPr>
        <p:txBody>
          <a:bodyPr wrap="square" lIns="0" tIns="0" rIns="0" bIns="0" anchor="ctr">
            <a:noAutofit/>
          </a:bodyPr>
          <a:lstStyle/>
          <a:p>
            <a:pPr algn="l"/>
            <a:r>
              <a:rPr lang="ko-KR" sz="1400">
                <a:solidFill>
                  <a:srgbClr val="724598"/>
                </a:solidFill>
                <a:latin typeface="KoPub돋움체 Bold" panose="02020603020101020101" pitchFamily="18" charset="-127"/>
                <a:ea typeface="KoPub돋움체 Bold" panose="02020603020101020101" pitchFamily="18" charset="-127"/>
                <a:cs typeface="KoPub돋움체 Bold"/>
              </a:rPr>
              <a:t>과제 선정 기준  </a:t>
            </a:r>
            <a:r>
              <a:rPr lang="ko-KR" sz="1700">
                <a:solidFill>
                  <a:srgbClr val="3F2A5E"/>
                </a:solidFill>
                <a:latin typeface="KoPub돋움체 Bold" panose="02020603020101020101" pitchFamily="18" charset="-127"/>
                <a:ea typeface="KoPub돋움체 Bold" panose="02020603020101020101" pitchFamily="18" charset="-127"/>
                <a:cs typeface="KoPub돋움체 Bold"/>
              </a:rPr>
              <a:t>반복 빈도·시간 · 공동 활용성 · 구현 가능성·보안</a:t>
            </a:r>
          </a:p>
          <a:p>
            <a:pPr algn="l">
              <a:spcBef>
                <a:spcPts val="800"/>
              </a:spcBef>
            </a:pPr>
            <a:r>
              <a:rPr lang="ko-KR" sz="1400">
                <a:solidFill>
                  <a:srgbClr val="724598"/>
                </a:solidFill>
                <a:latin typeface="KoPub돋움체 Bold" panose="02020603020101020101" pitchFamily="18" charset="-127"/>
                <a:ea typeface="KoPub돋움체 Bold" panose="02020603020101020101" pitchFamily="18" charset="-127"/>
                <a:cs typeface="KoPub돋움체 Bold"/>
              </a:rPr>
              <a:t>함께 준비할 것  </a:t>
            </a:r>
            <a:r>
              <a:rPr lang="ko-KR" sz="1700">
                <a:solidFill>
                  <a:srgbClr val="3F2A5E"/>
                </a:solidFill>
                <a:latin typeface="KoPub돋움체 Bold" panose="02020603020101020101" pitchFamily="18" charset="-127"/>
                <a:ea typeface="KoPub돋움체 Bold" panose="02020603020101020101" pitchFamily="18" charset="-127"/>
                <a:cs typeface="KoPub돋움체 Bold"/>
              </a:rPr>
              <a:t>운영·대체 담당과 백업·복원 조건</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50"/>
                                        <p:tgtEl>
                                          <p:spTgt spid="8"/>
                                        </p:tgtEl>
                                      </p:cBhvr>
                                    </p:animEffect>
                                  </p:childTnLst>
                                </p:cTn>
                              </p:par>
                            </p:childTnLst>
                          </p:cTn>
                        </p:par>
                        <p:par>
                          <p:cTn id="12" fill="hold">
                            <p:stCondLst>
                              <p:cond delay="7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50"/>
                                        <p:tgtEl>
                                          <p:spTgt spid="9"/>
                                        </p:tgtEl>
                                      </p:cBhvr>
                                    </p:animEffect>
                                  </p:childTnLst>
                                </p:cTn>
                              </p:par>
                            </p:childTnLst>
                          </p:cTn>
                        </p:par>
                        <p:par>
                          <p:cTn id="16" fill="hold">
                            <p:stCondLst>
                              <p:cond delay="105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childTnLst>
                          </p:cTn>
                        </p:par>
                        <p:par>
                          <p:cTn id="20" fill="hold">
                            <p:stCondLst>
                              <p:cond delay="14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childTnLst>
                          </p:cTn>
                        </p:par>
                        <p:par>
                          <p:cTn id="24" fill="hold">
                            <p:stCondLst>
                              <p:cond delay="1750"/>
                            </p:stCondLst>
                            <p:childTnLst>
                              <p:par>
                                <p:cTn id="25" presetID="10"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childTnLst>
                          </p:cTn>
                        </p:par>
                        <p:par>
                          <p:cTn id="28" fill="hold">
                            <p:stCondLst>
                              <p:cond delay="2450"/>
                            </p:stCondLst>
                            <p:childTnLst>
                              <p:par>
                                <p:cTn id="29" presetID="10" presetClass="entr" presetSubtype="0"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350"/>
                                        <p:tgtEl>
                                          <p:spTgt spid="24"/>
                                        </p:tgtEl>
                                      </p:cBhvr>
                                    </p:animEffect>
                                  </p:childTnLst>
                                </p:cTn>
                              </p:par>
                            </p:childTnLst>
                          </p:cTn>
                        </p:par>
                        <p:par>
                          <p:cTn id="32" fill="hold">
                            <p:stCondLst>
                              <p:cond delay="2800"/>
                            </p:stCondLst>
                            <p:childTnLst>
                              <p:par>
                                <p:cTn id="33" presetID="10" presetClass="entr" presetSubtype="0" fill="hold"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350"/>
                                        <p:tgtEl>
                                          <p:spTgt spid="25"/>
                                        </p:tgtEl>
                                      </p:cBhvr>
                                    </p:animEffect>
                                  </p:childTnLst>
                                </p:cTn>
                              </p:par>
                            </p:childTnLst>
                          </p:cTn>
                        </p:par>
                        <p:par>
                          <p:cTn id="36" fill="hold">
                            <p:stCondLst>
                              <p:cond delay="3150"/>
                            </p:stCondLst>
                            <p:childTnLst>
                              <p:par>
                                <p:cTn id="37" presetID="10" presetClass="entr" presetSubtype="0" fill="hold"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350"/>
                                        <p:tgtEl>
                                          <p:spTgt spid="26"/>
                                        </p:tgtEl>
                                      </p:cBhvr>
                                    </p:animEffect>
                                  </p:childTnLst>
                                </p:cTn>
                              </p:par>
                            </p:childTnLst>
                          </p:cTn>
                        </p:par>
                        <p:par>
                          <p:cTn id="40" fill="hold">
                            <p:stCondLst>
                              <p:cond delay="3500"/>
                            </p:stCondLst>
                            <p:childTnLst>
                              <p:par>
                                <p:cTn id="41" presetID="10" presetClass="entr" presetSubtype="0"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350"/>
                                        <p:tgtEl>
                                          <p:spTgt spid="27"/>
                                        </p:tgtEl>
                                      </p:cBhvr>
                                    </p:animEffect>
                                  </p:childTnLst>
                                </p:cTn>
                              </p:par>
                            </p:childTnLst>
                          </p:cTn>
                        </p:par>
                        <p:par>
                          <p:cTn id="44" fill="hold">
                            <p:stCondLst>
                              <p:cond delay="3850"/>
                            </p:stCondLst>
                            <p:childTnLst>
                              <p:par>
                                <p:cTn id="45" presetID="10" presetClass="entr" presetSubtype="0"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7" grpId="0"/>
      <p:bldP spid="2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eaLnBrk="0"/>
            <a:r>
              <a:rPr lang="ko-KR" sz="2600">
                <a:solidFill>
                  <a:srgbClr val="1F1F1F"/>
                </a:solidFill>
                <a:latin typeface="KoPub돋움체 Bold" panose="02020603020101020101" pitchFamily="18" charset="-127"/>
                <a:ea typeface="KoPub돋움체 Bold" panose="02020603020101020101" pitchFamily="18" charset="-127"/>
                <a:cs typeface="KoPub돋움체 Bold"/>
              </a:rPr>
              <a:t>4주 동안 바이브 코딩을 배우며 시제품부터 현장 검증까지</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eaLnBrk="0"/>
            <a:r>
              <a:rPr lang="ko-KR" sz="1300" dirty="0">
                <a:solidFill>
                  <a:srgbClr val="724598"/>
                </a:solidFill>
                <a:latin typeface="KoPub돋움체 Bold" panose="02020603020101020101" pitchFamily="18" charset="-127"/>
                <a:ea typeface="KoPub돋움체 Bold" panose="02020603020101020101" pitchFamily="18" charset="-127"/>
                <a:cs typeface="KoPub돋움체 Bold"/>
              </a:rPr>
              <a:t>차년도 추진 방향 · 4주 육성과정(안) · 바이브 코딩 교육</a:t>
            </a:r>
          </a:p>
        </p:txBody>
      </p:sp>
      <p:sp>
        <p:nvSpPr>
          <p:cNvPr id="4" name="proposal_state"/>
          <p:cNvSpPr/>
          <p:nvPr/>
        </p:nvSpPr>
        <p:spPr>
          <a:xfrm>
            <a:off x="10104120" y="1005840"/>
            <a:ext cx="1463040" cy="329184"/>
          </a:xfrm>
          <a:prstGeom prst="roundRect">
            <a:avLst>
              <a:gd name="adj" fmla="val 50000"/>
            </a:avLst>
          </a:prstGeom>
          <a:solidFill>
            <a:srgbClr val="FFFFFF"/>
          </a:solidFill>
          <a:ln w="15875">
            <a:solidFill>
              <a:srgbClr val="72459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724598"/>
                </a:solidFill>
                <a:latin typeface="KoPub돋움체 Bold" panose="02020603020101020101" pitchFamily="18" charset="-127"/>
                <a:ea typeface="KoPub돋움체 Bold" panose="02020603020101020101" pitchFamily="18" charset="-127"/>
                <a:cs typeface="KoPub돋움체 Bold"/>
              </a:rPr>
              <a:t>추진 검토안</a:t>
            </a:r>
          </a:p>
        </p:txBody>
      </p:sp>
      <p:sp>
        <p:nvSpPr>
          <p:cNvPr id="5" name="source_note"/>
          <p:cNvSpPr txBox="1"/>
          <p:nvPr/>
        </p:nvSpPr>
        <p:spPr>
          <a:xfrm>
            <a:off x="621792" y="6382512"/>
            <a:ext cx="9875520" cy="256032"/>
          </a:xfrm>
          <a:prstGeom prst="rect">
            <a:avLst/>
          </a:prstGeom>
          <a:noFill/>
        </p:spPr>
        <p:txBody>
          <a:bodyPr wrap="square" lIns="0" tIns="0" rIns="0" bIns="0" anchor="ctr">
            <a:noAutofit/>
          </a:bodyPr>
          <a:lstStyle/>
          <a:p>
            <a:pPr algn="l" eaLnBrk="0"/>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바이브 코딩: 만들 기능을 말로 설명하고 AI 코딩 도구와 대화하며 프로그램을 만드는 방식 · 07 추가 실행설계(8주안)를 4주로 재구성한 검토안</a:t>
            </a:r>
          </a:p>
        </p:txBody>
      </p:sp>
      <p:sp>
        <p:nvSpPr>
          <p:cNvPr id="6" name="w4_pre_box"/>
          <p:cNvSpPr/>
          <p:nvPr/>
        </p:nvSpPr>
        <p:spPr>
          <a:xfrm>
            <a:off x="621792" y="1371600"/>
            <a:ext cx="10945368" cy="457200"/>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w4_team"/>
          <p:cNvSpPr txBox="1"/>
          <p:nvPr/>
        </p:nvSpPr>
        <p:spPr>
          <a:xfrm>
            <a:off x="868680" y="1371600"/>
            <a:ext cx="5120640" cy="457200"/>
          </a:xfrm>
          <a:prstGeom prst="rect">
            <a:avLst/>
          </a:prstGeom>
          <a:noFill/>
        </p:spPr>
        <p:txBody>
          <a:bodyPr wrap="square" lIns="0" tIns="0" rIns="0" bIns="0" anchor="ctr">
            <a:noAutofit/>
          </a:bodyPr>
          <a:lstStyle/>
          <a:p>
            <a:pPr algn="l" eaLnBrk="0"/>
            <a:r>
              <a:rPr lang="ko-KR" sz="1300">
                <a:solidFill>
                  <a:srgbClr val="724598"/>
                </a:solidFill>
                <a:latin typeface="KoPub돋움체 Bold" panose="02020603020101020101" pitchFamily="18" charset="-127"/>
                <a:ea typeface="KoPub돋움체 Bold" panose="02020603020101020101" pitchFamily="18" charset="-127"/>
                <a:cs typeface="KoPub돋움체 Bold"/>
              </a:rPr>
              <a:t>과제팀  </a:t>
            </a:r>
            <a:r>
              <a:rPr lang="ko-KR" sz="1500">
                <a:solidFill>
                  <a:srgbClr val="3F2A5E"/>
                </a:solidFill>
                <a:latin typeface="KoPub돋움체 Bold" panose="02020603020101020101" pitchFamily="18" charset="-127"/>
                <a:ea typeface="KoPub돋움체 Bold" panose="02020603020101020101" pitchFamily="18" charset="-127"/>
                <a:cs typeface="KoPub돋움체 Bold"/>
              </a:rPr>
              <a:t>개발 · 현업 검증 · 확산 3~5명</a:t>
            </a:r>
          </a:p>
        </p:txBody>
      </p:sp>
      <p:sp>
        <p:nvSpPr>
          <p:cNvPr id="8" name="w4_start"/>
          <p:cNvSpPr txBox="1"/>
          <p:nvPr/>
        </p:nvSpPr>
        <p:spPr>
          <a:xfrm>
            <a:off x="5852160" y="1371600"/>
            <a:ext cx="5577840" cy="457200"/>
          </a:xfrm>
          <a:prstGeom prst="rect">
            <a:avLst/>
          </a:prstGeom>
          <a:noFill/>
        </p:spPr>
        <p:txBody>
          <a:bodyPr wrap="square" lIns="0" tIns="0" rIns="0" bIns="0" anchor="ctr">
            <a:noAutofit/>
          </a:bodyPr>
          <a:lstStyle/>
          <a:p>
            <a:pPr algn="l" eaLnBrk="0"/>
            <a:r>
              <a:rPr lang="ko-KR" sz="1300">
                <a:solidFill>
                  <a:srgbClr val="724598"/>
                </a:solidFill>
                <a:latin typeface="KoPub돋움체 Bold" panose="02020603020101020101" pitchFamily="18" charset="-127"/>
                <a:ea typeface="KoPub돋움체 Bold" panose="02020603020101020101" pitchFamily="18" charset="-127"/>
                <a:cs typeface="KoPub돋움체 Bold"/>
              </a:rPr>
              <a:t>착수 조건  </a:t>
            </a:r>
            <a:r>
              <a:rPr lang="ko-KR" sz="1500">
                <a:solidFill>
                  <a:srgbClr val="3F2A5E"/>
                </a:solidFill>
                <a:latin typeface="KoPub돋움체 Bold" panose="02020603020101020101" pitchFamily="18" charset="-127"/>
                <a:ea typeface="KoPub돋움체 Bold" panose="02020603020101020101" pitchFamily="18" charset="-127"/>
                <a:cs typeface="KoPub돋움체 Bold"/>
              </a:rPr>
              <a:t>검증자 · 예제자료 · 자료 범위 · 기준선</a:t>
            </a:r>
          </a:p>
        </p:txBody>
      </p:sp>
      <p:sp>
        <p:nvSpPr>
          <p:cNvPr id="9" name="w4_0_head"/>
          <p:cNvSpPr/>
          <p:nvPr/>
        </p:nvSpPr>
        <p:spPr>
          <a:xfrm>
            <a:off x="621792" y="2011680"/>
            <a:ext cx="2564892" cy="56692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0" name="w4_0_htext"/>
          <p:cNvSpPr txBox="1"/>
          <p:nvPr/>
        </p:nvSpPr>
        <p:spPr>
          <a:xfrm>
            <a:off x="804672" y="2011680"/>
            <a:ext cx="2290572" cy="566928"/>
          </a:xfrm>
          <a:prstGeom prst="rect">
            <a:avLst/>
          </a:prstGeom>
          <a:noFill/>
        </p:spPr>
        <p:txBody>
          <a:bodyPr wrap="square" lIns="0" tIns="0" rIns="0" bIns="0" anchor="ctr">
            <a:noAutofit/>
          </a:bodyPr>
          <a:lstStyle/>
          <a:p>
            <a:pPr algn="l" eaLnBrk="0"/>
            <a:r>
              <a:rPr lang="ko-KR" sz="2100">
                <a:solidFill>
                  <a:srgbClr val="FFFFFF"/>
                </a:solidFill>
                <a:latin typeface="KoPub돋움체 Bold" panose="02020603020101020101" pitchFamily="18" charset="-127"/>
                <a:ea typeface="KoPub돋움체 Bold" panose="02020603020101020101" pitchFamily="18" charset="-127"/>
                <a:cs typeface="KoPub돋움체 Bold"/>
              </a:rPr>
              <a:t>1주  </a:t>
            </a:r>
            <a:r>
              <a:rPr lang="ko-KR" sz="1600">
                <a:solidFill>
                  <a:srgbClr val="FFFFFF"/>
                </a:solidFill>
                <a:latin typeface="KoPub돋움체 Bold" panose="02020603020101020101" pitchFamily="18" charset="-127"/>
                <a:ea typeface="KoPub돋움체 Bold" panose="02020603020101020101" pitchFamily="18" charset="-127"/>
                <a:cs typeface="KoPub돋움체 Bold"/>
              </a:rPr>
              <a:t>문제 정의</a:t>
            </a:r>
          </a:p>
        </p:txBody>
      </p:sp>
      <p:sp>
        <p:nvSpPr>
          <p:cNvPr id="11" name="w4_0_body"/>
          <p:cNvSpPr/>
          <p:nvPr/>
        </p:nvSpPr>
        <p:spPr>
          <a:xfrm>
            <a:off x="621792" y="2578608"/>
            <a:ext cx="2564892" cy="128016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2" name="w4_0_acts"/>
          <p:cNvSpPr txBox="1"/>
          <p:nvPr/>
        </p:nvSpPr>
        <p:spPr>
          <a:xfrm>
            <a:off x="804672" y="2688336"/>
            <a:ext cx="2244852" cy="640080"/>
          </a:xfrm>
          <a:prstGeom prst="rect">
            <a:avLst/>
          </a:prstGeom>
          <a:noFill/>
        </p:spPr>
        <p:txBody>
          <a:bodyPr wrap="square" lIns="0" tIns="0" rIns="0" bIns="0" anchor="t">
            <a:noAutofit/>
          </a:bodyPr>
          <a:lstStyle/>
          <a:p>
            <a:pPr algn="l" eaLnBrk="0"/>
            <a:r>
              <a:rPr lang="ko-KR" sz="1400">
                <a:solidFill>
                  <a:srgbClr val="1F1F1F"/>
                </a:solidFill>
                <a:latin typeface="KoPub돋움체 Medium" panose="02020603020101020101" pitchFamily="18" charset="-127"/>
                <a:ea typeface="KoPub돋움체 Medium" panose="02020603020101020101" pitchFamily="18" charset="-127"/>
                <a:cs typeface="KoPub돋움체 Medium"/>
              </a:rPr>
              <a:t>· 문제·서식·입력 위치 확인</a:t>
            </a:r>
          </a:p>
          <a:p>
            <a:pPr algn="l" eaLnBrk="0">
              <a:spcBef>
                <a:spcPts val="300"/>
              </a:spcBef>
            </a:pPr>
            <a:r>
              <a:rPr lang="ko-KR" sz="1400">
                <a:solidFill>
                  <a:srgbClr val="1F1F1F"/>
                </a:solidFill>
                <a:latin typeface="KoPub돋움체 Medium" panose="02020603020101020101" pitchFamily="18" charset="-127"/>
                <a:ea typeface="KoPub돋움체 Medium" panose="02020603020101020101" pitchFamily="18" charset="-127"/>
                <a:cs typeface="KoPub돋움체 Medium"/>
              </a:rPr>
              <a:t>· 최소 기능 합의</a:t>
            </a:r>
          </a:p>
        </p:txBody>
      </p:sp>
      <p:cxnSp>
        <p:nvCxnSpPr>
          <p:cNvPr id="13" name="line_1"/>
          <p:cNvCxnSpPr/>
          <p:nvPr/>
        </p:nvCxnSpPr>
        <p:spPr>
          <a:xfrm>
            <a:off x="804672" y="3401568"/>
            <a:ext cx="2199132"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14" name="w4_0_out"/>
          <p:cNvSpPr txBox="1"/>
          <p:nvPr/>
        </p:nvSpPr>
        <p:spPr>
          <a:xfrm>
            <a:off x="804672" y="3474720"/>
            <a:ext cx="2244852" cy="310896"/>
          </a:xfrm>
          <a:prstGeom prst="rect">
            <a:avLst/>
          </a:prstGeom>
          <a:noFill/>
        </p:spPr>
        <p:txBody>
          <a:bodyPr wrap="square" lIns="0" tIns="0" rIns="0" bIns="0" anchor="t">
            <a:noAutofit/>
          </a:bodyPr>
          <a:lstStyle/>
          <a:p>
            <a:pPr algn="l" eaLnBrk="0"/>
            <a:r>
              <a:rPr lang="ko-KR" sz="1200">
                <a:solidFill>
                  <a:srgbClr val="724598"/>
                </a:solidFill>
                <a:latin typeface="KoPub돋움체 Bold" panose="02020603020101020101" pitchFamily="18" charset="-127"/>
                <a:ea typeface="KoPub돋움체 Bold" panose="02020603020101020101" pitchFamily="18" charset="-127"/>
                <a:cs typeface="KoPub돋움체 Bold"/>
              </a:rPr>
              <a:t>산출  </a:t>
            </a: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과제카드·기준선·검증 예제</a:t>
            </a:r>
          </a:p>
        </p:txBody>
      </p:sp>
      <p:sp>
        <p:nvSpPr>
          <p:cNvPr id="15" name="w4_0_vibe_box"/>
          <p:cNvSpPr/>
          <p:nvPr/>
        </p:nvSpPr>
        <p:spPr>
          <a:xfrm>
            <a:off x="621792" y="3950208"/>
            <a:ext cx="2564892" cy="1097280"/>
          </a:xfrm>
          <a:prstGeom prst="rect">
            <a:avLst/>
          </a:prstGeom>
          <a:solidFill>
            <a:srgbClr val="EAF4E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6" name="w4_0_vibe_bar"/>
          <p:cNvSpPr/>
          <p:nvPr/>
        </p:nvSpPr>
        <p:spPr>
          <a:xfrm>
            <a:off x="621792" y="3950208"/>
            <a:ext cx="64008" cy="1097280"/>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7" name="w4_0_vibe_chip"/>
          <p:cNvSpPr/>
          <p:nvPr/>
        </p:nvSpPr>
        <p:spPr>
          <a:xfrm>
            <a:off x="804672" y="4050791"/>
            <a:ext cx="1143000" cy="256032"/>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100">
                <a:solidFill>
                  <a:srgbClr val="FFFFFF"/>
                </a:solidFill>
                <a:latin typeface="KoPub돋움체 Bold" panose="02020603020101020101" pitchFamily="18" charset="-127"/>
                <a:ea typeface="KoPub돋움체 Bold" panose="02020603020101020101" pitchFamily="18" charset="-127"/>
                <a:cs typeface="KoPub돋움체 Bold"/>
              </a:rPr>
              <a:t>바이브 코딩</a:t>
            </a:r>
          </a:p>
        </p:txBody>
      </p:sp>
      <p:sp>
        <p:nvSpPr>
          <p:cNvPr id="18" name="w4_0_vibe"/>
          <p:cNvSpPr txBox="1"/>
          <p:nvPr/>
        </p:nvSpPr>
        <p:spPr>
          <a:xfrm>
            <a:off x="804672" y="4389120"/>
            <a:ext cx="2244852" cy="621792"/>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AI 코딩 도구 환경 준비</a:t>
            </a:r>
          </a:p>
          <a:p>
            <a:pPr algn="l" eaLnBrk="0">
              <a:spcBef>
                <a:spcPts val="300"/>
              </a:spcBef>
            </a:pPr>
            <a:r>
              <a:rPr lang="ko-KR" sz="1300">
                <a:solidFill>
                  <a:srgbClr val="1F1F1F"/>
                </a:solidFill>
                <a:latin typeface="KoPub돋움체 Bold" panose="02020603020101020101" pitchFamily="18" charset="-127"/>
                <a:ea typeface="KoPub돋움체 Bold" panose="02020603020101020101" pitchFamily="18" charset="-127"/>
                <a:cs typeface="KoPub돋움체 Bold"/>
              </a:rPr>
              <a:t>요구사항을 프롬프트로 쓰기</a:t>
            </a:r>
          </a:p>
        </p:txBody>
      </p:sp>
      <p:cxnSp>
        <p:nvCxnSpPr>
          <p:cNvPr id="19" name="line_2"/>
          <p:cNvCxnSpPr/>
          <p:nvPr/>
        </p:nvCxnSpPr>
        <p:spPr>
          <a:xfrm>
            <a:off x="3204972" y="2295144"/>
            <a:ext cx="192024"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w4_1_head"/>
          <p:cNvSpPr/>
          <p:nvPr/>
        </p:nvSpPr>
        <p:spPr>
          <a:xfrm>
            <a:off x="3415284" y="2011680"/>
            <a:ext cx="2564892" cy="56692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1" name="w4_1_htext"/>
          <p:cNvSpPr txBox="1"/>
          <p:nvPr/>
        </p:nvSpPr>
        <p:spPr>
          <a:xfrm>
            <a:off x="3598164" y="2011680"/>
            <a:ext cx="2290572" cy="566928"/>
          </a:xfrm>
          <a:prstGeom prst="rect">
            <a:avLst/>
          </a:prstGeom>
          <a:noFill/>
        </p:spPr>
        <p:txBody>
          <a:bodyPr wrap="square" lIns="0" tIns="0" rIns="0" bIns="0" anchor="ctr">
            <a:noAutofit/>
          </a:bodyPr>
          <a:lstStyle/>
          <a:p>
            <a:pPr algn="l" eaLnBrk="0"/>
            <a:r>
              <a:rPr lang="ko-KR" sz="2100">
                <a:solidFill>
                  <a:srgbClr val="FFFFFF"/>
                </a:solidFill>
                <a:latin typeface="KoPub돋움체 Bold" panose="02020603020101020101" pitchFamily="18" charset="-127"/>
                <a:ea typeface="KoPub돋움체 Bold" panose="02020603020101020101" pitchFamily="18" charset="-127"/>
                <a:cs typeface="KoPub돋움체 Bold"/>
              </a:rPr>
              <a:t>2주  </a:t>
            </a:r>
            <a:r>
              <a:rPr lang="ko-KR" sz="1600">
                <a:solidFill>
                  <a:srgbClr val="FFFFFF"/>
                </a:solidFill>
                <a:latin typeface="KoPub돋움체 Bold" panose="02020603020101020101" pitchFamily="18" charset="-127"/>
                <a:ea typeface="KoPub돋움체 Bold" panose="02020603020101020101" pitchFamily="18" charset="-127"/>
                <a:cs typeface="KoPub돋움체 Bold"/>
              </a:rPr>
              <a:t>MVP 제작</a:t>
            </a:r>
          </a:p>
        </p:txBody>
      </p:sp>
      <p:sp>
        <p:nvSpPr>
          <p:cNvPr id="22" name="w4_1_body"/>
          <p:cNvSpPr/>
          <p:nvPr/>
        </p:nvSpPr>
        <p:spPr>
          <a:xfrm>
            <a:off x="3415284" y="2578608"/>
            <a:ext cx="2564892" cy="128016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3" name="w4_1_acts"/>
          <p:cNvSpPr txBox="1"/>
          <p:nvPr/>
        </p:nvSpPr>
        <p:spPr>
          <a:xfrm>
            <a:off x="3598164" y="2688336"/>
            <a:ext cx="2244852" cy="640080"/>
          </a:xfrm>
          <a:prstGeom prst="rect">
            <a:avLst/>
          </a:prstGeom>
          <a:noFill/>
        </p:spPr>
        <p:txBody>
          <a:bodyPr wrap="square" lIns="0" tIns="0" rIns="0" bIns="0" anchor="t">
            <a:noAutofit/>
          </a:bodyPr>
          <a:lstStyle/>
          <a:p>
            <a:pPr algn="l" eaLnBrk="0"/>
            <a:r>
              <a:rPr lang="ko-KR" sz="1400">
                <a:solidFill>
                  <a:srgbClr val="1F1F1F"/>
                </a:solidFill>
                <a:latin typeface="KoPub돋움체 Medium" panose="02020603020101020101" pitchFamily="18" charset="-127"/>
                <a:ea typeface="KoPub돋움체 Medium" panose="02020603020101020101" pitchFamily="18" charset="-127"/>
                <a:cs typeface="KoPub돋움체 Medium"/>
              </a:rPr>
              <a:t>· 핵심 기능 구현</a:t>
            </a:r>
          </a:p>
          <a:p>
            <a:pPr algn="l" eaLnBrk="0">
              <a:spcBef>
                <a:spcPts val="300"/>
              </a:spcBef>
            </a:pPr>
            <a:r>
              <a:rPr lang="ko-KR" sz="1400">
                <a:solidFill>
                  <a:srgbClr val="1F1F1F"/>
                </a:solidFill>
                <a:latin typeface="KoPub돋움체 Medium" panose="02020603020101020101" pitchFamily="18" charset="-127"/>
                <a:ea typeface="KoPub돋움체 Medium" panose="02020603020101020101" pitchFamily="18" charset="-127"/>
                <a:cs typeface="KoPub돋움체 Medium"/>
              </a:rPr>
              <a:t>· 현업 중간 확인</a:t>
            </a:r>
          </a:p>
        </p:txBody>
      </p:sp>
      <p:cxnSp>
        <p:nvCxnSpPr>
          <p:cNvPr id="24" name="line_3"/>
          <p:cNvCxnSpPr/>
          <p:nvPr/>
        </p:nvCxnSpPr>
        <p:spPr>
          <a:xfrm>
            <a:off x="3598164" y="3401568"/>
            <a:ext cx="2199132"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25" name="w4_1_out"/>
          <p:cNvSpPr txBox="1"/>
          <p:nvPr/>
        </p:nvSpPr>
        <p:spPr>
          <a:xfrm>
            <a:off x="3598164" y="3474720"/>
            <a:ext cx="2244852" cy="310896"/>
          </a:xfrm>
          <a:prstGeom prst="rect">
            <a:avLst/>
          </a:prstGeom>
          <a:noFill/>
        </p:spPr>
        <p:txBody>
          <a:bodyPr wrap="square" lIns="0" tIns="0" rIns="0" bIns="0" anchor="t">
            <a:noAutofit/>
          </a:bodyPr>
          <a:lstStyle/>
          <a:p>
            <a:pPr algn="l" eaLnBrk="0"/>
            <a:r>
              <a:rPr lang="ko-KR" sz="1200">
                <a:solidFill>
                  <a:srgbClr val="724598"/>
                </a:solidFill>
                <a:latin typeface="KoPub돋움체 Bold" panose="02020603020101020101" pitchFamily="18" charset="-127"/>
                <a:ea typeface="KoPub돋움체 Bold" panose="02020603020101020101" pitchFamily="18" charset="-127"/>
                <a:cs typeface="KoPub돋움체 Bold"/>
              </a:rPr>
              <a:t>산출  </a:t>
            </a: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시제품·오류·변경 기록</a:t>
            </a:r>
          </a:p>
        </p:txBody>
      </p:sp>
      <p:sp>
        <p:nvSpPr>
          <p:cNvPr id="26" name="w4_1_vibe_box"/>
          <p:cNvSpPr/>
          <p:nvPr/>
        </p:nvSpPr>
        <p:spPr>
          <a:xfrm>
            <a:off x="3415284" y="3950208"/>
            <a:ext cx="2564892" cy="1097280"/>
          </a:xfrm>
          <a:prstGeom prst="rect">
            <a:avLst/>
          </a:prstGeom>
          <a:solidFill>
            <a:srgbClr val="EAF4E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7" name="w4_1_vibe_bar"/>
          <p:cNvSpPr/>
          <p:nvPr/>
        </p:nvSpPr>
        <p:spPr>
          <a:xfrm>
            <a:off x="3415284" y="3950208"/>
            <a:ext cx="64008" cy="1097280"/>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8" name="w4_1_vibe_chip"/>
          <p:cNvSpPr/>
          <p:nvPr/>
        </p:nvSpPr>
        <p:spPr>
          <a:xfrm>
            <a:off x="3598164" y="4050791"/>
            <a:ext cx="1143000" cy="256032"/>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100">
                <a:solidFill>
                  <a:srgbClr val="FFFFFF"/>
                </a:solidFill>
                <a:latin typeface="KoPub돋움체 Bold" panose="02020603020101020101" pitchFamily="18" charset="-127"/>
                <a:ea typeface="KoPub돋움체 Bold" panose="02020603020101020101" pitchFamily="18" charset="-127"/>
                <a:cs typeface="KoPub돋움체 Bold"/>
              </a:rPr>
              <a:t>바이브 코딩</a:t>
            </a:r>
          </a:p>
        </p:txBody>
      </p:sp>
      <p:sp>
        <p:nvSpPr>
          <p:cNvPr id="29" name="w4_1_vibe"/>
          <p:cNvSpPr txBox="1"/>
          <p:nvPr/>
        </p:nvSpPr>
        <p:spPr>
          <a:xfrm>
            <a:off x="3598164" y="4389120"/>
            <a:ext cx="2244852" cy="621792"/>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AI와 대화하며 기능 제작</a:t>
            </a:r>
          </a:p>
          <a:p>
            <a:pPr algn="l" eaLnBrk="0">
              <a:spcBef>
                <a:spcPts val="300"/>
              </a:spcBef>
            </a:pPr>
            <a:r>
              <a:rPr lang="ko-KR" sz="1300">
                <a:solidFill>
                  <a:srgbClr val="1F1F1F"/>
                </a:solidFill>
                <a:latin typeface="KoPub돋움체 Bold" panose="02020603020101020101" pitchFamily="18" charset="-127"/>
                <a:ea typeface="KoPub돋움체 Bold" panose="02020603020101020101" pitchFamily="18" charset="-127"/>
                <a:cs typeface="KoPub돋움체 Bold"/>
              </a:rPr>
              <a:t>작게 요청→실행→수정 반복</a:t>
            </a:r>
          </a:p>
        </p:txBody>
      </p:sp>
      <p:cxnSp>
        <p:nvCxnSpPr>
          <p:cNvPr id="30" name="line_4"/>
          <p:cNvCxnSpPr/>
          <p:nvPr/>
        </p:nvCxnSpPr>
        <p:spPr>
          <a:xfrm>
            <a:off x="5998464" y="2295144"/>
            <a:ext cx="192024"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w4_2_head"/>
          <p:cNvSpPr/>
          <p:nvPr/>
        </p:nvSpPr>
        <p:spPr>
          <a:xfrm>
            <a:off x="6208776" y="2011680"/>
            <a:ext cx="2564892" cy="566928"/>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2" name="w4_2_htext"/>
          <p:cNvSpPr txBox="1"/>
          <p:nvPr/>
        </p:nvSpPr>
        <p:spPr>
          <a:xfrm>
            <a:off x="6391656" y="2011680"/>
            <a:ext cx="2290572" cy="566928"/>
          </a:xfrm>
          <a:prstGeom prst="rect">
            <a:avLst/>
          </a:prstGeom>
          <a:noFill/>
        </p:spPr>
        <p:txBody>
          <a:bodyPr wrap="square" lIns="0" tIns="0" rIns="0" bIns="0" anchor="ctr">
            <a:noAutofit/>
          </a:bodyPr>
          <a:lstStyle/>
          <a:p>
            <a:pPr algn="l" eaLnBrk="0"/>
            <a:r>
              <a:rPr lang="ko-KR" sz="2100">
                <a:solidFill>
                  <a:srgbClr val="FFFFFF"/>
                </a:solidFill>
                <a:latin typeface="KoPub돋움체 Bold" panose="02020603020101020101" pitchFamily="18" charset="-127"/>
                <a:ea typeface="KoPub돋움체 Bold" panose="02020603020101020101" pitchFamily="18" charset="-127"/>
                <a:cs typeface="KoPub돋움체 Bold"/>
              </a:rPr>
              <a:t>3주  </a:t>
            </a:r>
            <a:r>
              <a:rPr lang="ko-KR" sz="1600">
                <a:solidFill>
                  <a:srgbClr val="FFFFFF"/>
                </a:solidFill>
                <a:latin typeface="KoPub돋움체 Bold" panose="02020603020101020101" pitchFamily="18" charset="-127"/>
                <a:ea typeface="KoPub돋움체 Bold" panose="02020603020101020101" pitchFamily="18" charset="-127"/>
                <a:cs typeface="KoPub돋움체 Bold"/>
              </a:rPr>
              <a:t>실제 업무 검증</a:t>
            </a:r>
          </a:p>
        </p:txBody>
      </p:sp>
      <p:sp>
        <p:nvSpPr>
          <p:cNvPr id="33" name="w4_2_body"/>
          <p:cNvSpPr/>
          <p:nvPr/>
        </p:nvSpPr>
        <p:spPr>
          <a:xfrm>
            <a:off x="6208776" y="2578608"/>
            <a:ext cx="2564892" cy="128016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4" name="w4_2_acts"/>
          <p:cNvSpPr txBox="1"/>
          <p:nvPr/>
        </p:nvSpPr>
        <p:spPr>
          <a:xfrm>
            <a:off x="6391656" y="2688336"/>
            <a:ext cx="2244852" cy="640080"/>
          </a:xfrm>
          <a:prstGeom prst="rect">
            <a:avLst/>
          </a:prstGeom>
          <a:noFill/>
        </p:spPr>
        <p:txBody>
          <a:bodyPr wrap="square" lIns="0" tIns="0" rIns="0" bIns="0" anchor="t">
            <a:noAutofit/>
          </a:bodyPr>
          <a:lstStyle/>
          <a:p>
            <a:pPr algn="l" eaLnBrk="0"/>
            <a:r>
              <a:rPr lang="ko-KR" sz="1400">
                <a:solidFill>
                  <a:srgbClr val="1F1F1F"/>
                </a:solidFill>
                <a:latin typeface="KoPub돋움체 Medium" panose="02020603020101020101" pitchFamily="18" charset="-127"/>
                <a:ea typeface="KoPub돋움체 Medium" panose="02020603020101020101" pitchFamily="18" charset="-127"/>
                <a:cs typeface="KoPub돋움체 Medium"/>
              </a:rPr>
              <a:t>· 정상·예외·저장 결과 시험</a:t>
            </a:r>
          </a:p>
          <a:p>
            <a:pPr algn="l" eaLnBrk="0">
              <a:spcBef>
                <a:spcPts val="300"/>
              </a:spcBef>
            </a:pPr>
            <a:r>
              <a:rPr lang="ko-KR" sz="1400">
                <a:solidFill>
                  <a:srgbClr val="1F1F1F"/>
                </a:solidFill>
                <a:latin typeface="KoPub돋움체 Medium" panose="02020603020101020101" pitchFamily="18" charset="-127"/>
                <a:ea typeface="KoPub돋움체 Medium" panose="02020603020101020101" pitchFamily="18" charset="-127"/>
                <a:cs typeface="KoPub돋움체 Medium"/>
              </a:rPr>
              <a:t>· 현업이 최종 확인</a:t>
            </a:r>
          </a:p>
        </p:txBody>
      </p:sp>
      <p:cxnSp>
        <p:nvCxnSpPr>
          <p:cNvPr id="35" name="line_5"/>
          <p:cNvCxnSpPr/>
          <p:nvPr/>
        </p:nvCxnSpPr>
        <p:spPr>
          <a:xfrm>
            <a:off x="6391656" y="3401568"/>
            <a:ext cx="2199132"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36" name="w4_2_out"/>
          <p:cNvSpPr txBox="1"/>
          <p:nvPr/>
        </p:nvSpPr>
        <p:spPr>
          <a:xfrm>
            <a:off x="6391656" y="3474720"/>
            <a:ext cx="2244852" cy="310896"/>
          </a:xfrm>
          <a:prstGeom prst="rect">
            <a:avLst/>
          </a:prstGeom>
          <a:noFill/>
        </p:spPr>
        <p:txBody>
          <a:bodyPr wrap="square" lIns="0" tIns="0" rIns="0" bIns="0" anchor="t">
            <a:noAutofit/>
          </a:bodyPr>
          <a:lstStyle/>
          <a:p>
            <a:pPr algn="l" eaLnBrk="0"/>
            <a:r>
              <a:rPr lang="ko-KR" sz="1200">
                <a:solidFill>
                  <a:srgbClr val="724598"/>
                </a:solidFill>
                <a:latin typeface="KoPub돋움체 Bold" panose="02020603020101020101" pitchFamily="18" charset="-127"/>
                <a:ea typeface="KoPub돋움체 Bold" panose="02020603020101020101" pitchFamily="18" charset="-127"/>
                <a:cs typeface="KoPub돋움체 Bold"/>
              </a:rPr>
              <a:t>산출  </a:t>
            </a: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원본 일치·입력 부담 점검</a:t>
            </a:r>
          </a:p>
        </p:txBody>
      </p:sp>
      <p:sp>
        <p:nvSpPr>
          <p:cNvPr id="37" name="w4_2_vibe_box"/>
          <p:cNvSpPr/>
          <p:nvPr/>
        </p:nvSpPr>
        <p:spPr>
          <a:xfrm>
            <a:off x="6208776" y="3950208"/>
            <a:ext cx="2564892" cy="1097280"/>
          </a:xfrm>
          <a:prstGeom prst="rect">
            <a:avLst/>
          </a:prstGeom>
          <a:solidFill>
            <a:srgbClr val="EAF4E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8" name="w4_2_vibe_bar"/>
          <p:cNvSpPr/>
          <p:nvPr/>
        </p:nvSpPr>
        <p:spPr>
          <a:xfrm>
            <a:off x="6208776" y="3950208"/>
            <a:ext cx="64008" cy="1097280"/>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39" name="w4_2_vibe_chip"/>
          <p:cNvSpPr/>
          <p:nvPr/>
        </p:nvSpPr>
        <p:spPr>
          <a:xfrm>
            <a:off x="6391656" y="4050791"/>
            <a:ext cx="1143000" cy="256032"/>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100">
                <a:solidFill>
                  <a:srgbClr val="FFFFFF"/>
                </a:solidFill>
                <a:latin typeface="KoPub돋움체 Bold" panose="02020603020101020101" pitchFamily="18" charset="-127"/>
                <a:ea typeface="KoPub돋움체 Bold" panose="02020603020101020101" pitchFamily="18" charset="-127"/>
                <a:cs typeface="KoPub돋움체 Bold"/>
              </a:rPr>
              <a:t>바이브 코딩</a:t>
            </a:r>
          </a:p>
        </p:txBody>
      </p:sp>
      <p:sp>
        <p:nvSpPr>
          <p:cNvPr id="40" name="w4_2_vibe"/>
          <p:cNvSpPr txBox="1"/>
          <p:nvPr/>
        </p:nvSpPr>
        <p:spPr>
          <a:xfrm>
            <a:off x="6391656" y="4389120"/>
            <a:ext cx="2244852" cy="621792"/>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오류를 AI와 함께 고치기</a:t>
            </a:r>
          </a:p>
          <a:p>
            <a:pPr algn="l" eaLnBrk="0">
              <a:spcBef>
                <a:spcPts val="300"/>
              </a:spcBef>
            </a:pPr>
            <a:r>
              <a:rPr lang="ko-KR" sz="1300">
                <a:solidFill>
                  <a:srgbClr val="1F1F1F"/>
                </a:solidFill>
                <a:latin typeface="KoPub돋움체 Bold" panose="02020603020101020101" pitchFamily="18" charset="-127"/>
                <a:ea typeface="KoPub돋움체 Bold" panose="02020603020101020101" pitchFamily="18" charset="-127"/>
                <a:cs typeface="KoPub돋움체 Bold"/>
              </a:rPr>
              <a:t>예외 자료·개인정보 점검</a:t>
            </a:r>
          </a:p>
        </p:txBody>
      </p:sp>
      <p:cxnSp>
        <p:nvCxnSpPr>
          <p:cNvPr id="41" name="line_6"/>
          <p:cNvCxnSpPr/>
          <p:nvPr/>
        </p:nvCxnSpPr>
        <p:spPr>
          <a:xfrm>
            <a:off x="8791956" y="2295144"/>
            <a:ext cx="192024" cy="0"/>
          </a:xfrm>
          <a:prstGeom prst="line">
            <a:avLst/>
          </a:prstGeom>
          <a:ln w="25400">
            <a:solidFill>
              <a:srgbClr val="7245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w4_3_head"/>
          <p:cNvSpPr/>
          <p:nvPr/>
        </p:nvSpPr>
        <p:spPr>
          <a:xfrm>
            <a:off x="9002268" y="2011680"/>
            <a:ext cx="2564892" cy="566928"/>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3" name="w4_3_htext"/>
          <p:cNvSpPr txBox="1"/>
          <p:nvPr/>
        </p:nvSpPr>
        <p:spPr>
          <a:xfrm>
            <a:off x="9185148" y="2011680"/>
            <a:ext cx="2290572" cy="566928"/>
          </a:xfrm>
          <a:prstGeom prst="rect">
            <a:avLst/>
          </a:prstGeom>
          <a:noFill/>
        </p:spPr>
        <p:txBody>
          <a:bodyPr wrap="square" lIns="0" tIns="0" rIns="0" bIns="0" anchor="ctr">
            <a:noAutofit/>
          </a:bodyPr>
          <a:lstStyle/>
          <a:p>
            <a:pPr algn="l" eaLnBrk="0"/>
            <a:r>
              <a:rPr lang="ko-KR" sz="2100">
                <a:solidFill>
                  <a:srgbClr val="FFFFFF"/>
                </a:solidFill>
                <a:latin typeface="KoPub돋움체 Bold" panose="02020603020101020101" pitchFamily="18" charset="-127"/>
                <a:ea typeface="KoPub돋움체 Bold" panose="02020603020101020101" pitchFamily="18" charset="-127"/>
                <a:cs typeface="KoPub돋움체 Bold"/>
              </a:rPr>
              <a:t>4주  </a:t>
            </a:r>
            <a:r>
              <a:rPr lang="ko-KR" sz="1600">
                <a:solidFill>
                  <a:srgbClr val="FFFFFF"/>
                </a:solidFill>
                <a:latin typeface="KoPub돋움체 Bold" panose="02020603020101020101" pitchFamily="18" charset="-127"/>
                <a:ea typeface="KoPub돋움체 Bold" panose="02020603020101020101" pitchFamily="18" charset="-127"/>
                <a:cs typeface="KoPub돋움체 Bold"/>
              </a:rPr>
              <a:t>보완·인계</a:t>
            </a:r>
          </a:p>
        </p:txBody>
      </p:sp>
      <p:sp>
        <p:nvSpPr>
          <p:cNvPr id="44" name="w4_3_body"/>
          <p:cNvSpPr/>
          <p:nvPr/>
        </p:nvSpPr>
        <p:spPr>
          <a:xfrm>
            <a:off x="9002268" y="2578608"/>
            <a:ext cx="2564892" cy="128016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5" name="w4_3_acts"/>
          <p:cNvSpPr txBox="1"/>
          <p:nvPr/>
        </p:nvSpPr>
        <p:spPr>
          <a:xfrm>
            <a:off x="9185148" y="2688336"/>
            <a:ext cx="2244852" cy="640080"/>
          </a:xfrm>
          <a:prstGeom prst="rect">
            <a:avLst/>
          </a:prstGeom>
          <a:noFill/>
        </p:spPr>
        <p:txBody>
          <a:bodyPr wrap="square" lIns="0" tIns="0" rIns="0" bIns="0" anchor="t">
            <a:noAutofit/>
          </a:bodyPr>
          <a:lstStyle/>
          <a:p>
            <a:pPr algn="l" eaLnBrk="0"/>
            <a:r>
              <a:rPr lang="ko-KR" sz="1400">
                <a:solidFill>
                  <a:srgbClr val="1F1F1F"/>
                </a:solidFill>
                <a:latin typeface="KoPub돋움체 Medium" panose="02020603020101020101" pitchFamily="18" charset="-127"/>
                <a:ea typeface="KoPub돋움체 Medium" panose="02020603020101020101" pitchFamily="18" charset="-127"/>
                <a:cs typeface="KoPub돋움체 Medium"/>
              </a:rPr>
              <a:t>· 보완, 설명서·실습 준비</a:t>
            </a:r>
          </a:p>
          <a:p>
            <a:pPr algn="l" eaLnBrk="0">
              <a:spcBef>
                <a:spcPts val="300"/>
              </a:spcBef>
            </a:pPr>
            <a:r>
              <a:rPr lang="ko-KR" sz="1400">
                <a:solidFill>
                  <a:srgbClr val="1F1F1F"/>
                </a:solidFill>
                <a:latin typeface="KoPub돋움체 Medium" panose="02020603020101020101" pitchFamily="18" charset="-127"/>
                <a:ea typeface="KoPub돋움체 Medium" panose="02020603020101020101" pitchFamily="18" charset="-127"/>
                <a:cs typeface="KoPub돋움체 Medium"/>
              </a:rPr>
              <a:t>· 운영·대체 담당 인계</a:t>
            </a:r>
          </a:p>
        </p:txBody>
      </p:sp>
      <p:cxnSp>
        <p:nvCxnSpPr>
          <p:cNvPr id="46" name="line_7"/>
          <p:cNvCxnSpPr/>
          <p:nvPr/>
        </p:nvCxnSpPr>
        <p:spPr>
          <a:xfrm>
            <a:off x="9185148" y="3401568"/>
            <a:ext cx="2199132"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7" name="w4_3_out"/>
          <p:cNvSpPr txBox="1"/>
          <p:nvPr/>
        </p:nvSpPr>
        <p:spPr>
          <a:xfrm>
            <a:off x="9185148" y="3474720"/>
            <a:ext cx="2244852" cy="310896"/>
          </a:xfrm>
          <a:prstGeom prst="rect">
            <a:avLst/>
          </a:prstGeom>
          <a:noFill/>
        </p:spPr>
        <p:txBody>
          <a:bodyPr wrap="square" lIns="0" tIns="0" rIns="0" bIns="0" anchor="t">
            <a:noAutofit/>
          </a:bodyPr>
          <a:lstStyle/>
          <a:p>
            <a:pPr algn="l" eaLnBrk="0"/>
            <a:r>
              <a:rPr lang="ko-KR" sz="1200">
                <a:solidFill>
                  <a:srgbClr val="724598"/>
                </a:solidFill>
                <a:latin typeface="KoPub돋움체 Bold" panose="02020603020101020101" pitchFamily="18" charset="-127"/>
                <a:ea typeface="KoPub돋움체 Bold" panose="02020603020101020101" pitchFamily="18" charset="-127"/>
                <a:cs typeface="KoPub돋움체 Bold"/>
              </a:rPr>
              <a:t>산출  </a:t>
            </a:r>
            <a:r>
              <a:rPr lang="ko-KR" sz="1300">
                <a:solidFill>
                  <a:srgbClr val="5E6672"/>
                </a:solidFill>
                <a:latin typeface="KoPub돋움체 Medium" panose="02020603020101020101" pitchFamily="18" charset="-127"/>
                <a:ea typeface="KoPub돋움체 Medium" panose="02020603020101020101" pitchFamily="18" charset="-127"/>
                <a:cs typeface="KoPub돋움체 Medium"/>
              </a:rPr>
              <a:t>배포 또는 보완 결정</a:t>
            </a:r>
          </a:p>
        </p:txBody>
      </p:sp>
      <p:sp>
        <p:nvSpPr>
          <p:cNvPr id="48" name="w4_3_vibe_box"/>
          <p:cNvSpPr/>
          <p:nvPr/>
        </p:nvSpPr>
        <p:spPr>
          <a:xfrm>
            <a:off x="9002268" y="3950208"/>
            <a:ext cx="2564892" cy="1097280"/>
          </a:xfrm>
          <a:prstGeom prst="rect">
            <a:avLst/>
          </a:prstGeom>
          <a:solidFill>
            <a:srgbClr val="EAF4EE"/>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49" name="w4_3_vibe_bar"/>
          <p:cNvSpPr/>
          <p:nvPr/>
        </p:nvSpPr>
        <p:spPr>
          <a:xfrm>
            <a:off x="9002268" y="3950208"/>
            <a:ext cx="64008" cy="1097280"/>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50" name="w4_3_vibe_chip"/>
          <p:cNvSpPr/>
          <p:nvPr/>
        </p:nvSpPr>
        <p:spPr>
          <a:xfrm>
            <a:off x="9185148" y="4050791"/>
            <a:ext cx="1143000" cy="256032"/>
          </a:xfrm>
          <a:prstGeom prst="roundRect">
            <a:avLst>
              <a:gd name="adj" fmla="val 50000"/>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100">
                <a:solidFill>
                  <a:srgbClr val="FFFFFF"/>
                </a:solidFill>
                <a:latin typeface="KoPub돋움체 Bold" panose="02020603020101020101" pitchFamily="18" charset="-127"/>
                <a:ea typeface="KoPub돋움체 Bold" panose="02020603020101020101" pitchFamily="18" charset="-127"/>
                <a:cs typeface="KoPub돋움체 Bold"/>
              </a:rPr>
              <a:t>바이브 코딩</a:t>
            </a:r>
          </a:p>
        </p:txBody>
      </p:sp>
      <p:sp>
        <p:nvSpPr>
          <p:cNvPr id="51" name="w4_3_vibe"/>
          <p:cNvSpPr txBox="1"/>
          <p:nvPr/>
        </p:nvSpPr>
        <p:spPr>
          <a:xfrm>
            <a:off x="9185148" y="4389120"/>
            <a:ext cx="2244852" cy="621792"/>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AI로 설명서·인계 문서 작성</a:t>
            </a:r>
          </a:p>
          <a:p>
            <a:pPr algn="l" eaLnBrk="0">
              <a:spcBef>
                <a:spcPts val="300"/>
              </a:spcBef>
            </a:pPr>
            <a:r>
              <a:rPr lang="ko-KR" sz="1300">
                <a:solidFill>
                  <a:srgbClr val="1F1F1F"/>
                </a:solidFill>
                <a:latin typeface="KoPub돋움체 Bold" panose="02020603020101020101" pitchFamily="18" charset="-127"/>
                <a:ea typeface="KoPub돋움체 Bold" panose="02020603020101020101" pitchFamily="18" charset="-127"/>
                <a:cs typeface="KoPub돋움체 Bold"/>
              </a:rPr>
              <a:t>버전 관리·프롬프트 공유</a:t>
            </a:r>
          </a:p>
        </p:txBody>
      </p:sp>
      <p:sp>
        <p:nvSpPr>
          <p:cNvPr id="52" name="w4_gate_box"/>
          <p:cNvSpPr/>
          <p:nvPr/>
        </p:nvSpPr>
        <p:spPr>
          <a:xfrm>
            <a:off x="621792" y="5193792"/>
            <a:ext cx="10945368" cy="987552"/>
          </a:xfrm>
          <a:prstGeom prst="rect">
            <a:avLst/>
          </a:prstGeom>
          <a:solidFill>
            <a:srgbClr val="F3F1F7"/>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53" name="w4_gate_label"/>
          <p:cNvSpPr txBox="1"/>
          <p:nvPr/>
        </p:nvSpPr>
        <p:spPr>
          <a:xfrm>
            <a:off x="868680" y="5193792"/>
            <a:ext cx="1371600" cy="987552"/>
          </a:xfrm>
          <a:prstGeom prst="rect">
            <a:avLst/>
          </a:prstGeom>
          <a:noFill/>
        </p:spPr>
        <p:txBody>
          <a:bodyPr wrap="square" lIns="0" tIns="0" rIns="0" bIns="0" anchor="ctr">
            <a:noAutofit/>
          </a:bodyPr>
          <a:lstStyle/>
          <a:p>
            <a:pPr algn="l" eaLnBrk="0"/>
            <a:r>
              <a:rPr lang="ko-KR" sz="1500">
                <a:solidFill>
                  <a:srgbClr val="724598"/>
                </a:solidFill>
                <a:latin typeface="KoPub돋움체 Bold" panose="02020603020101020101" pitchFamily="18" charset="-127"/>
                <a:ea typeface="KoPub돋움체 Bold" panose="02020603020101020101" pitchFamily="18" charset="-127"/>
                <a:cs typeface="KoPub돋움체 Bold"/>
              </a:rPr>
              <a:t>배포 조건</a:t>
            </a:r>
          </a:p>
          <a:p>
            <a:pPr algn="l" eaLnBrk="0"/>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모두 확인</a:t>
            </a:r>
          </a:p>
          <a:p>
            <a:pPr algn="l" eaLnBrk="0"/>
            <a:r>
              <a:rPr lang="ko-KR" sz="1200">
                <a:solidFill>
                  <a:srgbClr val="5E6672"/>
                </a:solidFill>
                <a:latin typeface="KoPub돋움체 Medium" panose="02020603020101020101" pitchFamily="18" charset="-127"/>
                <a:ea typeface="KoPub돋움체 Medium" panose="02020603020101020101" pitchFamily="18" charset="-127"/>
                <a:cs typeface="KoPub돋움체 Medium"/>
              </a:rPr>
              <a:t>미충족 시 보완</a:t>
            </a:r>
          </a:p>
        </p:txBody>
      </p:sp>
      <p:sp>
        <p:nvSpPr>
          <p:cNvPr id="54" name="w4_gate_0_n"/>
          <p:cNvSpPr txBox="1"/>
          <p:nvPr/>
        </p:nvSpPr>
        <p:spPr>
          <a:xfrm>
            <a:off x="2286000" y="5330952"/>
            <a:ext cx="365760" cy="36576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①</a:t>
            </a:r>
          </a:p>
        </p:txBody>
      </p:sp>
      <p:sp>
        <p:nvSpPr>
          <p:cNvPr id="55" name="w4_gate_0"/>
          <p:cNvSpPr txBox="1"/>
          <p:nvPr/>
        </p:nvSpPr>
        <p:spPr>
          <a:xfrm>
            <a:off x="2633472" y="5330952"/>
            <a:ext cx="1435607" cy="731520"/>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원본과</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출력·집계 일치</a:t>
            </a:r>
          </a:p>
        </p:txBody>
      </p:sp>
      <p:sp>
        <p:nvSpPr>
          <p:cNvPr id="56" name="w4_gate_1_n"/>
          <p:cNvSpPr txBox="1"/>
          <p:nvPr/>
        </p:nvSpPr>
        <p:spPr>
          <a:xfrm>
            <a:off x="4105656" y="5330952"/>
            <a:ext cx="365760" cy="36576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②</a:t>
            </a:r>
          </a:p>
        </p:txBody>
      </p:sp>
      <p:sp>
        <p:nvSpPr>
          <p:cNvPr id="57" name="w4_gate_1"/>
          <p:cNvSpPr txBox="1"/>
          <p:nvPr/>
        </p:nvSpPr>
        <p:spPr>
          <a:xfrm>
            <a:off x="4453128" y="5330952"/>
            <a:ext cx="1435607" cy="731520"/>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재입력·이중</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관리 감소</a:t>
            </a:r>
          </a:p>
        </p:txBody>
      </p:sp>
      <p:sp>
        <p:nvSpPr>
          <p:cNvPr id="58" name="w4_gate_2_n"/>
          <p:cNvSpPr txBox="1"/>
          <p:nvPr/>
        </p:nvSpPr>
        <p:spPr>
          <a:xfrm>
            <a:off x="5925312" y="5330952"/>
            <a:ext cx="365760" cy="36576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③</a:t>
            </a:r>
          </a:p>
        </p:txBody>
      </p:sp>
      <p:sp>
        <p:nvSpPr>
          <p:cNvPr id="59" name="w4_gate_2"/>
          <p:cNvSpPr txBox="1"/>
          <p:nvPr/>
        </p:nvSpPr>
        <p:spPr>
          <a:xfrm>
            <a:off x="6272783" y="5330952"/>
            <a:ext cx="1435607" cy="731520"/>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권한·실제</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저장 검증</a:t>
            </a:r>
          </a:p>
        </p:txBody>
      </p:sp>
      <p:sp>
        <p:nvSpPr>
          <p:cNvPr id="60" name="w4_gate_3_n"/>
          <p:cNvSpPr txBox="1"/>
          <p:nvPr/>
        </p:nvSpPr>
        <p:spPr>
          <a:xfrm>
            <a:off x="7744967" y="5330952"/>
            <a:ext cx="365760" cy="36576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④</a:t>
            </a:r>
          </a:p>
        </p:txBody>
      </p:sp>
      <p:sp>
        <p:nvSpPr>
          <p:cNvPr id="61" name="w4_gate_3"/>
          <p:cNvSpPr txBox="1"/>
          <p:nvPr/>
        </p:nvSpPr>
        <p:spPr>
          <a:xfrm>
            <a:off x="8092440" y="5330952"/>
            <a:ext cx="1435607" cy="731520"/>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운영·대체 담당</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비용·복원 방법</a:t>
            </a:r>
          </a:p>
        </p:txBody>
      </p:sp>
      <p:sp>
        <p:nvSpPr>
          <p:cNvPr id="62" name="w4_gate_4_n"/>
          <p:cNvSpPr txBox="1"/>
          <p:nvPr/>
        </p:nvSpPr>
        <p:spPr>
          <a:xfrm>
            <a:off x="9564624" y="5330952"/>
            <a:ext cx="365760" cy="365760"/>
          </a:xfrm>
          <a:prstGeom prst="rect">
            <a:avLst/>
          </a:prstGeom>
          <a:noFill/>
        </p:spPr>
        <p:txBody>
          <a:bodyPr wrap="square" lIns="0" tIns="0" rIns="0" bIns="0" anchor="t">
            <a:noAutofit/>
          </a:bodyPr>
          <a:lstStyle/>
          <a:p>
            <a:pPr algn="l" eaLnBrk="0"/>
            <a:r>
              <a:rPr lang="ko-KR" sz="1700">
                <a:solidFill>
                  <a:srgbClr val="724598"/>
                </a:solidFill>
                <a:latin typeface="KoPub돋움체 Bold" panose="02020603020101020101" pitchFamily="18" charset="-127"/>
                <a:ea typeface="KoPub돋움체 Bold" panose="02020603020101020101" pitchFamily="18" charset="-127"/>
                <a:cs typeface="KoPub돋움체 Bold"/>
              </a:rPr>
              <a:t>⑤</a:t>
            </a:r>
          </a:p>
        </p:txBody>
      </p:sp>
      <p:sp>
        <p:nvSpPr>
          <p:cNvPr id="63" name="w4_gate_4"/>
          <p:cNvSpPr txBox="1"/>
          <p:nvPr/>
        </p:nvSpPr>
        <p:spPr>
          <a:xfrm>
            <a:off x="9912096" y="5330952"/>
            <a:ext cx="1435607" cy="731520"/>
          </a:xfrm>
          <a:prstGeom prst="rect">
            <a:avLst/>
          </a:prstGeom>
          <a:noFill/>
        </p:spPr>
        <p:txBody>
          <a:bodyPr wrap="square" lIns="0" tIns="0" rIns="0" bIns="0" anchor="t">
            <a:noAutofit/>
          </a:bodyPr>
          <a:lstStyle/>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사용자 안내</a:t>
            </a:r>
          </a:p>
          <a:p>
            <a:pPr algn="l" eaLnBrk="0"/>
            <a:r>
              <a:rPr lang="ko-KR" sz="1300">
                <a:solidFill>
                  <a:srgbClr val="1F1F1F"/>
                </a:solidFill>
                <a:latin typeface="KoPub돋움체 Bold" panose="02020603020101020101" pitchFamily="18" charset="-127"/>
                <a:ea typeface="KoPub돋움체 Bold" panose="02020603020101020101" pitchFamily="18" charset="-127"/>
                <a:cs typeface="KoPub돋움체 Bold"/>
              </a:rPr>
              <a:t>대체 절차</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지속 운영과 내부 활용까지 함께 준비합니다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차년도 추진 방향 ②</a:t>
            </a:r>
          </a:p>
        </p:txBody>
      </p:sp>
      <p:sp>
        <p:nvSpPr>
          <p:cNvPr id="4" name="proposal_state"/>
          <p:cNvSpPr/>
          <p:nvPr/>
        </p:nvSpPr>
        <p:spPr>
          <a:xfrm>
            <a:off x="10104120" y="1005840"/>
            <a:ext cx="1463040" cy="329184"/>
          </a:xfrm>
          <a:prstGeom prst="roundRect">
            <a:avLst>
              <a:gd name="adj" fmla="val 50000"/>
            </a:avLst>
          </a:prstGeom>
          <a:solidFill>
            <a:srgbClr val="FFFFFF"/>
          </a:solidFill>
          <a:ln w="15875">
            <a:solidFill>
              <a:srgbClr val="72459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ko-KR" sz="1300">
                <a:solidFill>
                  <a:srgbClr val="724598"/>
                </a:solidFill>
                <a:latin typeface="KoPub돋움체 Bold" panose="02020603020101020101" pitchFamily="18" charset="-127"/>
                <a:ea typeface="KoPub돋움체 Bold" panose="02020603020101020101" pitchFamily="18" charset="-127"/>
                <a:cs typeface="KoPub돋움체 Bold"/>
              </a:rPr>
              <a:t>추진 검토안</a:t>
            </a:r>
          </a:p>
        </p:txBody>
      </p:sp>
      <p:sp>
        <p:nvSpPr>
          <p:cNvPr id="5"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연중 유지관리: 비용·권한·백업·복원·문의 대응 · 세부 일정과 도입 제품은 검토 후 확정</a:t>
            </a:r>
          </a:p>
        </p:txBody>
      </p:sp>
      <p:sp>
        <p:nvSpPr>
          <p:cNvPr id="6" name="enable_0_box"/>
          <p:cNvSpPr/>
          <p:nvPr/>
        </p:nvSpPr>
        <p:spPr>
          <a:xfrm>
            <a:off x="621792" y="1463040"/>
            <a:ext cx="3465576" cy="251460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enable_0_bar"/>
          <p:cNvSpPr/>
          <p:nvPr/>
        </p:nvSpPr>
        <p:spPr>
          <a:xfrm>
            <a:off x="621792" y="1463040"/>
            <a:ext cx="3465576"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8" name="enable_0_title"/>
          <p:cNvSpPr txBox="1"/>
          <p:nvPr/>
        </p:nvSpPr>
        <p:spPr>
          <a:xfrm>
            <a:off x="896112" y="1691640"/>
            <a:ext cx="2926080" cy="457200"/>
          </a:xfrm>
          <a:prstGeom prst="rect">
            <a:avLst/>
          </a:prstGeom>
          <a:noFill/>
        </p:spPr>
        <p:txBody>
          <a:bodyPr wrap="square" lIns="0" tIns="0" rIns="0" bIns="0" anchor="t">
            <a:noAutofit/>
          </a:bodyPr>
          <a:lstStyle/>
          <a:p>
            <a:pPr algn="l"/>
            <a:r>
              <a:rPr lang="ko-KR" sz="1800">
                <a:solidFill>
                  <a:srgbClr val="724598"/>
                </a:solidFill>
                <a:latin typeface="KoPub돋움체 Bold" panose="02020603020101020101" pitchFamily="18" charset="-127"/>
                <a:ea typeface="KoPub돋움체 Bold" panose="02020603020101020101" pitchFamily="18" charset="-127"/>
                <a:cs typeface="KoPub돋움체 Bold"/>
              </a:rPr>
              <a:t>03  </a:t>
            </a:r>
            <a:r>
              <a:rPr lang="ko-KR" sz="2100">
                <a:solidFill>
                  <a:srgbClr val="1F1F1F"/>
                </a:solidFill>
                <a:latin typeface="KoPub돋움체 Bold" panose="02020603020101020101" pitchFamily="18" charset="-127"/>
                <a:ea typeface="KoPub돋움체 Bold" panose="02020603020101020101" pitchFamily="18" charset="-127"/>
                <a:cs typeface="KoPub돋움체 Bold"/>
              </a:rPr>
              <a:t>개발 도구·계정</a:t>
            </a:r>
          </a:p>
        </p:txBody>
      </p:sp>
      <p:sp>
        <p:nvSpPr>
          <p:cNvPr id="9" name="enable_0_items"/>
          <p:cNvSpPr txBox="1"/>
          <p:nvPr/>
        </p:nvSpPr>
        <p:spPr>
          <a:xfrm>
            <a:off x="896112" y="2331720"/>
            <a:ext cx="2971800" cy="155448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외부 AI 서비스 연결(API)</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서비스 주소·서버 운영 방식</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기관 소유·사용량·비용 기준</a:t>
            </a:r>
          </a:p>
        </p:txBody>
      </p:sp>
      <p:sp>
        <p:nvSpPr>
          <p:cNvPr id="10" name="enable_1_box"/>
          <p:cNvSpPr/>
          <p:nvPr/>
        </p:nvSpPr>
        <p:spPr>
          <a:xfrm>
            <a:off x="4361688" y="1463040"/>
            <a:ext cx="3465576" cy="251460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1" name="enable_1_bar"/>
          <p:cNvSpPr/>
          <p:nvPr/>
        </p:nvSpPr>
        <p:spPr>
          <a:xfrm>
            <a:off x="4361688" y="1463040"/>
            <a:ext cx="3465576" cy="73152"/>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2" name="enable_1_title"/>
          <p:cNvSpPr txBox="1"/>
          <p:nvPr/>
        </p:nvSpPr>
        <p:spPr>
          <a:xfrm>
            <a:off x="4636007" y="1691640"/>
            <a:ext cx="2926080" cy="457200"/>
          </a:xfrm>
          <a:prstGeom prst="rect">
            <a:avLst/>
          </a:prstGeom>
          <a:noFill/>
        </p:spPr>
        <p:txBody>
          <a:bodyPr wrap="square" lIns="0" tIns="0" rIns="0" bIns="0" anchor="t">
            <a:noAutofit/>
          </a:bodyPr>
          <a:lstStyle/>
          <a:p>
            <a:pPr algn="l"/>
            <a:r>
              <a:rPr lang="ko-KR" sz="1800">
                <a:solidFill>
                  <a:srgbClr val="724598"/>
                </a:solidFill>
                <a:latin typeface="KoPub돋움체 Bold" panose="02020603020101020101" pitchFamily="18" charset="-127"/>
                <a:ea typeface="KoPub돋움체 Bold" panose="02020603020101020101" pitchFamily="18" charset="-127"/>
                <a:cs typeface="KoPub돋움체 Bold"/>
              </a:rPr>
              <a:t>04  </a:t>
            </a:r>
            <a:r>
              <a:rPr lang="ko-KR" sz="2100">
                <a:solidFill>
                  <a:srgbClr val="1F1F1F"/>
                </a:solidFill>
                <a:latin typeface="KoPub돋움체 Bold" panose="02020603020101020101" pitchFamily="18" charset="-127"/>
                <a:ea typeface="KoPub돋움체 Bold" panose="02020603020101020101" pitchFamily="18" charset="-127"/>
                <a:cs typeface="KoPub돋움체 Bold"/>
              </a:rPr>
              <a:t>운영·보안·백업</a:t>
            </a:r>
          </a:p>
        </p:txBody>
      </p:sp>
      <p:sp>
        <p:nvSpPr>
          <p:cNvPr id="13" name="enable_1_items"/>
          <p:cNvSpPr txBox="1"/>
          <p:nvPr/>
        </p:nvSpPr>
        <p:spPr>
          <a:xfrm>
            <a:off x="4636007" y="2331720"/>
            <a:ext cx="2971800" cy="155448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운영 담당과 대체 담당 지정</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접근권한과 변경 기록 관리</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백업·복원 점검과 인수인계</a:t>
            </a:r>
          </a:p>
        </p:txBody>
      </p:sp>
      <p:sp>
        <p:nvSpPr>
          <p:cNvPr id="14" name="enable_2_box"/>
          <p:cNvSpPr/>
          <p:nvPr/>
        </p:nvSpPr>
        <p:spPr>
          <a:xfrm>
            <a:off x="8101583" y="1463040"/>
            <a:ext cx="3465576" cy="251460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5" name="enable_2_bar"/>
          <p:cNvSpPr/>
          <p:nvPr/>
        </p:nvSpPr>
        <p:spPr>
          <a:xfrm>
            <a:off x="8101583" y="1463040"/>
            <a:ext cx="3465576" cy="73152"/>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6" name="enable_2_title"/>
          <p:cNvSpPr txBox="1"/>
          <p:nvPr/>
        </p:nvSpPr>
        <p:spPr>
          <a:xfrm>
            <a:off x="8375904" y="1691640"/>
            <a:ext cx="2926080" cy="457200"/>
          </a:xfrm>
          <a:prstGeom prst="rect">
            <a:avLst/>
          </a:prstGeom>
          <a:noFill/>
        </p:spPr>
        <p:txBody>
          <a:bodyPr wrap="square" lIns="0" tIns="0" rIns="0" bIns="0" anchor="t">
            <a:noAutofit/>
          </a:bodyPr>
          <a:lstStyle/>
          <a:p>
            <a:pPr algn="l"/>
            <a:r>
              <a:rPr lang="ko-KR" sz="1800">
                <a:solidFill>
                  <a:srgbClr val="724598"/>
                </a:solidFill>
                <a:latin typeface="KoPub돋움체 Bold" panose="02020603020101020101" pitchFamily="18" charset="-127"/>
                <a:ea typeface="KoPub돋움체 Bold" panose="02020603020101020101" pitchFamily="18" charset="-127"/>
                <a:cs typeface="KoPub돋움체 Bold"/>
              </a:rPr>
              <a:t>05  </a:t>
            </a:r>
            <a:r>
              <a:rPr lang="ko-KR" sz="2100">
                <a:solidFill>
                  <a:srgbClr val="1F1F1F"/>
                </a:solidFill>
                <a:latin typeface="KoPub돋움체 Bold" panose="02020603020101020101" pitchFamily="18" charset="-127"/>
                <a:ea typeface="KoPub돋움체 Bold" panose="02020603020101020101" pitchFamily="18" charset="-127"/>
                <a:cs typeface="KoPub돋움체 Bold"/>
              </a:rPr>
              <a:t>내부 활용 지원</a:t>
            </a:r>
          </a:p>
        </p:txBody>
      </p:sp>
      <p:sp>
        <p:nvSpPr>
          <p:cNvPr id="17" name="enable_2_items"/>
          <p:cNvSpPr txBox="1"/>
          <p:nvPr/>
        </p:nvSpPr>
        <p:spPr>
          <a:xfrm>
            <a:off x="8375904" y="2331720"/>
            <a:ext cx="2971800" cy="155448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기존 도구 사용성 개선</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업무별 짧은 실습</a:t>
            </a:r>
          </a:p>
          <a:p>
            <a:pPr algn="l">
              <a:spcBef>
                <a:spcPts val="10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 실제 사용자·반복 사용 확인</a:t>
            </a:r>
          </a:p>
        </p:txBody>
      </p:sp>
      <p:sp>
        <p:nvSpPr>
          <p:cNvPr id="18" name="tl_label"/>
          <p:cNvSpPr txBox="1"/>
          <p:nvPr/>
        </p:nvSpPr>
        <p:spPr>
          <a:xfrm>
            <a:off x="621792" y="4343400"/>
            <a:ext cx="5486400" cy="320040"/>
          </a:xfrm>
          <a:prstGeom prst="rect">
            <a:avLst/>
          </a:prstGeom>
          <a:noFill/>
        </p:spPr>
        <p:txBody>
          <a:bodyPr wrap="square" lIns="0" tIns="0" rIns="0" bIns="0" anchor="t">
            <a:noAutofit/>
          </a:bodyPr>
          <a:lstStyle/>
          <a:p>
            <a:pPr algn="l"/>
            <a:r>
              <a:rPr lang="ko-KR" sz="1400">
                <a:solidFill>
                  <a:srgbClr val="724598"/>
                </a:solidFill>
                <a:latin typeface="KoPub돋움체 Bold" panose="02020603020101020101" pitchFamily="18" charset="-127"/>
                <a:ea typeface="KoPub돋움체 Bold" panose="02020603020101020101" pitchFamily="18" charset="-127"/>
                <a:cs typeface="KoPub돋움체 Bold"/>
              </a:rPr>
              <a:t>연간 흐름(안)</a:t>
            </a:r>
          </a:p>
        </p:txBody>
      </p:sp>
      <p:sp>
        <p:nvSpPr>
          <p:cNvPr id="19" name="tl_0_bar"/>
          <p:cNvSpPr/>
          <p:nvPr/>
        </p:nvSpPr>
        <p:spPr>
          <a:xfrm>
            <a:off x="621792" y="4754880"/>
            <a:ext cx="2651760"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0" name="tl_0"/>
          <p:cNvSpPr txBox="1"/>
          <p:nvPr/>
        </p:nvSpPr>
        <p:spPr>
          <a:xfrm>
            <a:off x="621792" y="4937760"/>
            <a:ext cx="2651760" cy="914400"/>
          </a:xfrm>
          <a:prstGeom prst="rect">
            <a:avLst/>
          </a:prstGeom>
          <a:noFill/>
        </p:spPr>
        <p:txBody>
          <a:bodyPr wrap="square" lIns="0" tIns="0" rIns="0" bIns="0" anchor="t">
            <a:noAutofit/>
          </a:bodyPr>
          <a:lstStyle/>
          <a:p>
            <a:pPr algn="l"/>
            <a:r>
              <a:rPr lang="ko-KR" sz="2200">
                <a:solidFill>
                  <a:srgbClr val="1F1F1F"/>
                </a:solidFill>
                <a:latin typeface="KoPub돋움체 Bold" panose="02020603020101020101" pitchFamily="18" charset="-127"/>
                <a:ea typeface="KoPub돋움체 Bold" panose="02020603020101020101" pitchFamily="18" charset="-127"/>
                <a:cs typeface="KoPub돋움체 Bold"/>
              </a:rPr>
              <a:t>1~2월</a:t>
            </a:r>
          </a:p>
          <a:p>
            <a:pPr algn="l">
              <a:spcBef>
                <a:spcPts val="2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기반 정비</a:t>
            </a:r>
          </a:p>
        </p:txBody>
      </p:sp>
      <p:sp>
        <p:nvSpPr>
          <p:cNvPr id="21" name="tl_1_bar"/>
          <p:cNvSpPr/>
          <p:nvPr/>
        </p:nvSpPr>
        <p:spPr>
          <a:xfrm>
            <a:off x="3386023" y="4754880"/>
            <a:ext cx="2651760"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2" name="tl_1"/>
          <p:cNvSpPr txBox="1"/>
          <p:nvPr/>
        </p:nvSpPr>
        <p:spPr>
          <a:xfrm>
            <a:off x="3386023" y="4937760"/>
            <a:ext cx="2651760" cy="914400"/>
          </a:xfrm>
          <a:prstGeom prst="rect">
            <a:avLst/>
          </a:prstGeom>
          <a:noFill/>
        </p:spPr>
        <p:txBody>
          <a:bodyPr wrap="square" lIns="0" tIns="0" rIns="0" bIns="0" anchor="t">
            <a:noAutofit/>
          </a:bodyPr>
          <a:lstStyle/>
          <a:p>
            <a:pPr algn="l"/>
            <a:r>
              <a:rPr lang="ko-KR" sz="2200">
                <a:solidFill>
                  <a:srgbClr val="1F1F1F"/>
                </a:solidFill>
                <a:latin typeface="KoPub돋움체 Bold" panose="02020603020101020101" pitchFamily="18" charset="-127"/>
                <a:ea typeface="KoPub돋움체 Bold" panose="02020603020101020101" pitchFamily="18" charset="-127"/>
                <a:cs typeface="KoPub돋움체 Bold"/>
              </a:rPr>
              <a:t>2~3월</a:t>
            </a:r>
          </a:p>
          <a:p>
            <a:pPr algn="l">
              <a:spcBef>
                <a:spcPts val="2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과제 선정</a:t>
            </a:r>
          </a:p>
        </p:txBody>
      </p:sp>
      <p:sp>
        <p:nvSpPr>
          <p:cNvPr id="23" name="tl_2_bar"/>
          <p:cNvSpPr/>
          <p:nvPr/>
        </p:nvSpPr>
        <p:spPr>
          <a:xfrm>
            <a:off x="6150254" y="4754880"/>
            <a:ext cx="2651760" cy="73152"/>
          </a:xfrm>
          <a:prstGeom prst="rect">
            <a:avLst/>
          </a:prstGeom>
          <a:solidFill>
            <a:srgbClr val="156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4" name="tl_2"/>
          <p:cNvSpPr txBox="1"/>
          <p:nvPr/>
        </p:nvSpPr>
        <p:spPr>
          <a:xfrm>
            <a:off x="6150254" y="4937760"/>
            <a:ext cx="2651760" cy="914400"/>
          </a:xfrm>
          <a:prstGeom prst="rect">
            <a:avLst/>
          </a:prstGeom>
          <a:noFill/>
        </p:spPr>
        <p:txBody>
          <a:bodyPr wrap="square" lIns="0" tIns="0" rIns="0" bIns="0" anchor="t">
            <a:noAutofit/>
          </a:bodyPr>
          <a:lstStyle/>
          <a:p>
            <a:pPr algn="l"/>
            <a:r>
              <a:rPr lang="ko-KR" sz="2200">
                <a:solidFill>
                  <a:srgbClr val="1F1F1F"/>
                </a:solidFill>
                <a:latin typeface="KoPub돋움체 Bold" panose="02020603020101020101" pitchFamily="18" charset="-127"/>
                <a:ea typeface="KoPub돋움체 Bold" panose="02020603020101020101" pitchFamily="18" charset="-127"/>
                <a:cs typeface="KoPub돋움체 Bold"/>
              </a:rPr>
              <a:t>3~11월</a:t>
            </a:r>
          </a:p>
          <a:p>
            <a:pPr algn="l">
              <a:spcBef>
                <a:spcPts val="2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개발·현장 적용</a:t>
            </a:r>
          </a:p>
        </p:txBody>
      </p:sp>
      <p:sp>
        <p:nvSpPr>
          <p:cNvPr id="25" name="tl_3_bar"/>
          <p:cNvSpPr/>
          <p:nvPr/>
        </p:nvSpPr>
        <p:spPr>
          <a:xfrm>
            <a:off x="8914485" y="4754880"/>
            <a:ext cx="2651760" cy="73152"/>
          </a:xfrm>
          <a:prstGeom prst="rect">
            <a:avLst/>
          </a:prstGeom>
          <a:solidFill>
            <a:srgbClr val="C97A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6" name="tl_3"/>
          <p:cNvSpPr txBox="1"/>
          <p:nvPr/>
        </p:nvSpPr>
        <p:spPr>
          <a:xfrm>
            <a:off x="8914485" y="4937760"/>
            <a:ext cx="2651760" cy="914400"/>
          </a:xfrm>
          <a:prstGeom prst="rect">
            <a:avLst/>
          </a:prstGeom>
          <a:noFill/>
        </p:spPr>
        <p:txBody>
          <a:bodyPr wrap="square" lIns="0" tIns="0" rIns="0" bIns="0" anchor="t">
            <a:noAutofit/>
          </a:bodyPr>
          <a:lstStyle/>
          <a:p>
            <a:pPr algn="l"/>
            <a:r>
              <a:rPr lang="ko-KR" sz="2200">
                <a:solidFill>
                  <a:srgbClr val="1F1F1F"/>
                </a:solidFill>
                <a:latin typeface="KoPub돋움체 Bold" panose="02020603020101020101" pitchFamily="18" charset="-127"/>
                <a:ea typeface="KoPub돋움체 Bold" panose="02020603020101020101" pitchFamily="18" charset="-127"/>
                <a:cs typeface="KoPub돋움체 Bold"/>
              </a:rPr>
              <a:t>6·12월</a:t>
            </a:r>
          </a:p>
          <a:p>
            <a:pPr algn="l">
              <a:spcBef>
                <a:spcPts val="200"/>
              </a:spcBef>
            </a:pPr>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점검·재조정</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par>
                          <p:cTn id="8" fill="hold">
                            <p:stCondLst>
                              <p:cond delay="35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50"/>
                                        <p:tgtEl>
                                          <p:spTgt spid="11"/>
                                        </p:tgtEl>
                                      </p:cBhvr>
                                    </p:animEffect>
                                  </p:childTnLst>
                                </p:cTn>
                              </p:par>
                            </p:childTnLst>
                          </p:cTn>
                        </p:par>
                        <p:par>
                          <p:cTn id="12" fill="hold">
                            <p:stCondLst>
                              <p:cond delay="7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350"/>
                                        <p:tgtEl>
                                          <p:spTgt spid="12"/>
                                        </p:tgtEl>
                                      </p:cBhvr>
                                    </p:animEffect>
                                  </p:childTnLst>
                                </p:cTn>
                              </p:par>
                            </p:childTnLst>
                          </p:cTn>
                        </p:par>
                        <p:par>
                          <p:cTn id="16" fill="hold">
                            <p:stCondLst>
                              <p:cond delay="105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350"/>
                                        <p:tgtEl>
                                          <p:spTgt spid="13"/>
                                        </p:tgtEl>
                                      </p:cBhvr>
                                    </p:animEffect>
                                  </p:childTnLst>
                                </p:cTn>
                              </p:par>
                            </p:childTnLst>
                          </p:cTn>
                        </p:par>
                        <p:par>
                          <p:cTn id="20" fill="hold">
                            <p:stCondLst>
                              <p:cond delay="14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350"/>
                                        <p:tgtEl>
                                          <p:spTgt spid="14"/>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50"/>
                                        <p:tgtEl>
                                          <p:spTgt spid="15"/>
                                        </p:tgtEl>
                                      </p:cBhvr>
                                    </p:animEffect>
                                  </p:childTnLst>
                                </p:cTn>
                              </p:par>
                            </p:childTnLst>
                          </p:cTn>
                        </p:par>
                        <p:par>
                          <p:cTn id="28" fill="hold">
                            <p:stCondLst>
                              <p:cond delay="2100"/>
                            </p:stCondLst>
                            <p:childTnLst>
                              <p:par>
                                <p:cTn id="29" presetID="10"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50"/>
                                        <p:tgtEl>
                                          <p:spTgt spid="16"/>
                                        </p:tgtEl>
                                      </p:cBhvr>
                                    </p:animEffect>
                                  </p:childTnLst>
                                </p:cTn>
                              </p:par>
                            </p:childTnLst>
                          </p:cTn>
                        </p:par>
                        <p:par>
                          <p:cTn id="32" fill="hold">
                            <p:stCondLst>
                              <p:cond delay="2450"/>
                            </p:stCondLst>
                            <p:childTnLst>
                              <p:par>
                                <p:cTn id="33" presetID="10" presetClass="entr" presetSubtype="0"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animBg="1"/>
      <p:bldP spid="15" grpId="0" animBg="1"/>
      <p:bldP spid="16"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1792" y="274320"/>
            <a:ext cx="9418320" cy="566928"/>
          </a:xfrm>
          <a:prstGeom prst="rect">
            <a:avLst/>
          </a:prstGeom>
          <a:noFill/>
        </p:spPr>
        <p:txBody>
          <a:bodyPr wrap="square" lIns="0" tIns="0" rIns="0" bIns="0" anchor="b">
            <a:noAutofit/>
          </a:bodyPr>
          <a:lstStyle/>
          <a:p>
            <a:pPr algn="l"/>
            <a:r>
              <a:rPr lang="ko-KR" sz="2600">
                <a:solidFill>
                  <a:srgbClr val="1F1F1F"/>
                </a:solidFill>
                <a:latin typeface="KoPub돋움체 Bold" panose="02020603020101020101" pitchFamily="18" charset="-127"/>
                <a:ea typeface="KoPub돋움체 Bold" panose="02020603020101020101" pitchFamily="18" charset="-127"/>
                <a:cs typeface="KoPub돋움체 Bold"/>
              </a:rPr>
              <a:t>여러분의 반복업무가 다음 과제입니다</a:t>
            </a:r>
          </a:p>
        </p:txBody>
      </p:sp>
      <p:sp>
        <p:nvSpPr>
          <p:cNvPr id="3" name="kicker"/>
          <p:cNvSpPr txBox="1"/>
          <p:nvPr/>
        </p:nvSpPr>
        <p:spPr>
          <a:xfrm>
            <a:off x="621792" y="1024128"/>
            <a:ext cx="7315200" cy="274320"/>
          </a:xfrm>
          <a:prstGeom prst="rect">
            <a:avLst/>
          </a:prstGeom>
          <a:noFill/>
        </p:spPr>
        <p:txBody>
          <a:bodyPr wrap="square" lIns="0" tIns="0" rIns="0" bIns="0" anchor="t">
            <a:noAutofit/>
          </a:bodyPr>
          <a:lstStyle/>
          <a:p>
            <a:pPr algn="l"/>
            <a:r>
              <a:rPr lang="ko-KR" sz="1300">
                <a:solidFill>
                  <a:srgbClr val="724598"/>
                </a:solidFill>
                <a:latin typeface="KoPub돋움체 Bold" panose="02020603020101020101" pitchFamily="18" charset="-127"/>
                <a:ea typeface="KoPub돋움체 Bold" panose="02020603020101020101" pitchFamily="18" charset="-127"/>
                <a:cs typeface="KoPub돋움체 Bold"/>
              </a:rPr>
              <a:t>직원의 다음 행동</a:t>
            </a:r>
          </a:p>
        </p:txBody>
      </p:sp>
      <p:sp>
        <p:nvSpPr>
          <p:cNvPr id="4" name="source_note"/>
          <p:cNvSpPr txBox="1"/>
          <p:nvPr/>
        </p:nvSpPr>
        <p:spPr>
          <a:xfrm>
            <a:off x="621792" y="6382512"/>
            <a:ext cx="9875520" cy="256032"/>
          </a:xfrm>
          <a:prstGeom prst="rect">
            <a:avLst/>
          </a:prstGeom>
          <a:noFill/>
        </p:spPr>
        <p:txBody>
          <a:bodyPr wrap="square" lIns="0" tIns="0" rIns="0" bIns="0" anchor="ctr">
            <a:noAutofit/>
          </a:bodyPr>
          <a:lstStyle/>
          <a:p>
            <a:pPr algn="l"/>
            <a:r>
              <a:rPr lang="ko-KR" sz="1050">
                <a:solidFill>
                  <a:srgbClr val="5E6672"/>
                </a:solidFill>
                <a:latin typeface="KoPub돋움체 Medium" panose="02020603020101020101" pitchFamily="18" charset="-127"/>
                <a:ea typeface="KoPub돋움체 Medium" panose="02020603020101020101" pitchFamily="18" charset="-127"/>
                <a:cs typeface="KoPub돋움체 Medium"/>
              </a:rPr>
              <a:t>모집 일정과 접수 경로는 추후 안내 · 문의: 전략경영실 전략기획부</a:t>
            </a:r>
          </a:p>
        </p:txBody>
      </p:sp>
      <p:sp>
        <p:nvSpPr>
          <p:cNvPr id="5" name="act_0_box"/>
          <p:cNvSpPr/>
          <p:nvPr/>
        </p:nvSpPr>
        <p:spPr>
          <a:xfrm>
            <a:off x="621792" y="1508760"/>
            <a:ext cx="3465576" cy="30175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6" name="act_0_bar"/>
          <p:cNvSpPr/>
          <p:nvPr/>
        </p:nvSpPr>
        <p:spPr>
          <a:xfrm>
            <a:off x="621792" y="1508760"/>
            <a:ext cx="3465576"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7" name="act_0_num"/>
          <p:cNvSpPr txBox="1"/>
          <p:nvPr/>
        </p:nvSpPr>
        <p:spPr>
          <a:xfrm>
            <a:off x="941832" y="1783080"/>
            <a:ext cx="2834640" cy="914400"/>
          </a:xfrm>
          <a:prstGeom prst="rect">
            <a:avLst/>
          </a:prstGeom>
          <a:noFill/>
        </p:spPr>
        <p:txBody>
          <a:bodyPr wrap="square" lIns="0" tIns="0" rIns="0" bIns="0" anchor="ctr">
            <a:noAutofit/>
          </a:bodyPr>
          <a:lstStyle/>
          <a:p>
            <a:pPr algn="l"/>
            <a:r>
              <a:rPr lang="ko-KR" sz="4800">
                <a:solidFill>
                  <a:srgbClr val="724598"/>
                </a:solidFill>
                <a:latin typeface="KoPub돋움체 Bold" panose="02020603020101020101" pitchFamily="18" charset="-127"/>
                <a:ea typeface="KoPub돋움체 Bold" panose="02020603020101020101" pitchFamily="18" charset="-127"/>
                <a:cs typeface="KoPub돋움체 Bold"/>
              </a:rPr>
              <a:t>01</a:t>
            </a:r>
          </a:p>
        </p:txBody>
      </p:sp>
      <p:sp>
        <p:nvSpPr>
          <p:cNvPr id="8" name="act_0_title"/>
          <p:cNvSpPr txBox="1"/>
          <p:nvPr/>
        </p:nvSpPr>
        <p:spPr>
          <a:xfrm>
            <a:off x="941832" y="2880360"/>
            <a:ext cx="2834640" cy="502920"/>
          </a:xfrm>
          <a:prstGeom prst="rect">
            <a:avLst/>
          </a:prstGeom>
          <a:noFill/>
        </p:spPr>
        <p:txBody>
          <a:bodyPr wrap="square" lIns="0" tIns="0" rIns="0" bIns="0" anchor="t">
            <a:noAutofit/>
          </a:bodyPr>
          <a:lstStyle/>
          <a:p>
            <a:pPr algn="l"/>
            <a:r>
              <a:rPr lang="ko-KR" sz="2200">
                <a:solidFill>
                  <a:srgbClr val="1F1F1F"/>
                </a:solidFill>
                <a:latin typeface="KoPub돋움체 Bold" panose="02020603020101020101" pitchFamily="18" charset="-127"/>
                <a:ea typeface="KoPub돋움체 Bold" panose="02020603020101020101" pitchFamily="18" charset="-127"/>
                <a:cs typeface="KoPub돋움체 Bold"/>
              </a:rPr>
              <a:t>기존 도구 활용 요청</a:t>
            </a:r>
          </a:p>
        </p:txBody>
      </p:sp>
      <p:sp>
        <p:nvSpPr>
          <p:cNvPr id="9" name="act_0_desc"/>
          <p:cNvSpPr txBox="1"/>
          <p:nvPr/>
        </p:nvSpPr>
        <p:spPr>
          <a:xfrm>
            <a:off x="941832" y="3474720"/>
            <a:ext cx="2926080" cy="91440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써보고 싶은 업무를 알려 주세요</a:t>
            </a:r>
          </a:p>
        </p:txBody>
      </p:sp>
      <p:sp>
        <p:nvSpPr>
          <p:cNvPr id="10" name="act_1_box"/>
          <p:cNvSpPr/>
          <p:nvPr/>
        </p:nvSpPr>
        <p:spPr>
          <a:xfrm>
            <a:off x="4361688" y="1508760"/>
            <a:ext cx="3465576" cy="30175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1" name="act_1_bar"/>
          <p:cNvSpPr/>
          <p:nvPr/>
        </p:nvSpPr>
        <p:spPr>
          <a:xfrm>
            <a:off x="4361688" y="1508760"/>
            <a:ext cx="3465576"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2" name="act_1_num"/>
          <p:cNvSpPr txBox="1"/>
          <p:nvPr/>
        </p:nvSpPr>
        <p:spPr>
          <a:xfrm>
            <a:off x="4681727" y="1783080"/>
            <a:ext cx="2834640" cy="914400"/>
          </a:xfrm>
          <a:prstGeom prst="rect">
            <a:avLst/>
          </a:prstGeom>
          <a:noFill/>
        </p:spPr>
        <p:txBody>
          <a:bodyPr wrap="square" lIns="0" tIns="0" rIns="0" bIns="0" anchor="ctr">
            <a:noAutofit/>
          </a:bodyPr>
          <a:lstStyle/>
          <a:p>
            <a:pPr algn="l"/>
            <a:r>
              <a:rPr lang="ko-KR" sz="4800">
                <a:solidFill>
                  <a:srgbClr val="724598"/>
                </a:solidFill>
                <a:latin typeface="KoPub돋움체 Bold" panose="02020603020101020101" pitchFamily="18" charset="-127"/>
                <a:ea typeface="KoPub돋움체 Bold" panose="02020603020101020101" pitchFamily="18" charset="-127"/>
                <a:cs typeface="KoPub돋움체 Bold"/>
              </a:rPr>
              <a:t>02</a:t>
            </a:r>
          </a:p>
        </p:txBody>
      </p:sp>
      <p:sp>
        <p:nvSpPr>
          <p:cNvPr id="13" name="act_1_title"/>
          <p:cNvSpPr txBox="1"/>
          <p:nvPr/>
        </p:nvSpPr>
        <p:spPr>
          <a:xfrm>
            <a:off x="4681727" y="2880360"/>
            <a:ext cx="2834640" cy="502920"/>
          </a:xfrm>
          <a:prstGeom prst="rect">
            <a:avLst/>
          </a:prstGeom>
          <a:noFill/>
        </p:spPr>
        <p:txBody>
          <a:bodyPr wrap="square" lIns="0" tIns="0" rIns="0" bIns="0" anchor="t">
            <a:noAutofit/>
          </a:bodyPr>
          <a:lstStyle/>
          <a:p>
            <a:pPr algn="l"/>
            <a:r>
              <a:rPr lang="ko-KR" sz="2200">
                <a:solidFill>
                  <a:srgbClr val="1F1F1F"/>
                </a:solidFill>
                <a:latin typeface="KoPub돋움체 Bold" panose="02020603020101020101" pitchFamily="18" charset="-127"/>
                <a:ea typeface="KoPub돋움체 Bold" panose="02020603020101020101" pitchFamily="18" charset="-127"/>
                <a:cs typeface="KoPub돋움체 Bold"/>
              </a:rPr>
              <a:t>반복업무 과제 제안</a:t>
            </a:r>
          </a:p>
        </p:txBody>
      </p:sp>
      <p:sp>
        <p:nvSpPr>
          <p:cNvPr id="14" name="act_1_desc"/>
          <p:cNvSpPr txBox="1"/>
          <p:nvPr/>
        </p:nvSpPr>
        <p:spPr>
          <a:xfrm>
            <a:off x="4681727" y="3474720"/>
            <a:ext cx="2926080" cy="91440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같은 자료를 다시</a:t>
            </a:r>
          </a:p>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입력·정리하는 일</a:t>
            </a:r>
          </a:p>
        </p:txBody>
      </p:sp>
      <p:sp>
        <p:nvSpPr>
          <p:cNvPr id="15" name="act_2_box"/>
          <p:cNvSpPr/>
          <p:nvPr/>
        </p:nvSpPr>
        <p:spPr>
          <a:xfrm>
            <a:off x="8101583" y="1508760"/>
            <a:ext cx="3465576" cy="3017520"/>
          </a:xfrm>
          <a:prstGeom prst="rect">
            <a:avLst/>
          </a:prstGeom>
          <a:solidFill>
            <a:srgbClr val="FFFFFF"/>
          </a:solidFill>
          <a:ln w="12700">
            <a:solidFill>
              <a:srgbClr val="D5DDE6"/>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6" name="act_2_bar"/>
          <p:cNvSpPr/>
          <p:nvPr/>
        </p:nvSpPr>
        <p:spPr>
          <a:xfrm>
            <a:off x="8101583" y="1508760"/>
            <a:ext cx="3465576" cy="73152"/>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17" name="act_2_num"/>
          <p:cNvSpPr txBox="1"/>
          <p:nvPr/>
        </p:nvSpPr>
        <p:spPr>
          <a:xfrm>
            <a:off x="8421624" y="1783080"/>
            <a:ext cx="2834640" cy="914400"/>
          </a:xfrm>
          <a:prstGeom prst="rect">
            <a:avLst/>
          </a:prstGeom>
          <a:noFill/>
        </p:spPr>
        <p:txBody>
          <a:bodyPr wrap="square" lIns="0" tIns="0" rIns="0" bIns="0" anchor="ctr">
            <a:noAutofit/>
          </a:bodyPr>
          <a:lstStyle/>
          <a:p>
            <a:pPr algn="l"/>
            <a:r>
              <a:rPr lang="ko-KR" sz="4800">
                <a:solidFill>
                  <a:srgbClr val="724598"/>
                </a:solidFill>
                <a:latin typeface="KoPub돋움체 Bold" panose="02020603020101020101" pitchFamily="18" charset="-127"/>
                <a:ea typeface="KoPub돋움체 Bold" panose="02020603020101020101" pitchFamily="18" charset="-127"/>
                <a:cs typeface="KoPub돋움체 Bold"/>
              </a:rPr>
              <a:t>03</a:t>
            </a:r>
          </a:p>
        </p:txBody>
      </p:sp>
      <p:sp>
        <p:nvSpPr>
          <p:cNvPr id="18" name="act_2_title"/>
          <p:cNvSpPr txBox="1"/>
          <p:nvPr/>
        </p:nvSpPr>
        <p:spPr>
          <a:xfrm>
            <a:off x="8421624" y="2880360"/>
            <a:ext cx="2834640" cy="502920"/>
          </a:xfrm>
          <a:prstGeom prst="rect">
            <a:avLst/>
          </a:prstGeom>
          <a:noFill/>
        </p:spPr>
        <p:txBody>
          <a:bodyPr wrap="square" lIns="0" tIns="0" rIns="0" bIns="0" anchor="t">
            <a:noAutofit/>
          </a:bodyPr>
          <a:lstStyle/>
          <a:p>
            <a:pPr algn="l"/>
            <a:r>
              <a:rPr lang="ko-KR" sz="2200">
                <a:solidFill>
                  <a:srgbClr val="1F1F1F"/>
                </a:solidFill>
                <a:latin typeface="KoPub돋움체 Bold" panose="02020603020101020101" pitchFamily="18" charset="-127"/>
                <a:ea typeface="KoPub돋움체 Bold" panose="02020603020101020101" pitchFamily="18" charset="-127"/>
                <a:cs typeface="KoPub돋움체 Bold"/>
              </a:rPr>
              <a:t>2기 참여 관심 표현</a:t>
            </a:r>
          </a:p>
        </p:txBody>
      </p:sp>
      <p:sp>
        <p:nvSpPr>
          <p:cNvPr id="19" name="act_2_desc"/>
          <p:cNvSpPr txBox="1"/>
          <p:nvPr/>
        </p:nvSpPr>
        <p:spPr>
          <a:xfrm>
            <a:off x="8421624" y="3474720"/>
            <a:ext cx="2926080" cy="914400"/>
          </a:xfrm>
          <a:prstGeom prst="rect">
            <a:avLst/>
          </a:prstGeom>
          <a:noFill/>
        </p:spPr>
        <p:txBody>
          <a:bodyPr wrap="square" lIns="0" tIns="0" rIns="0" bIns="0" anchor="t">
            <a:noAutofit/>
          </a:bodyPr>
          <a:lstStyle/>
          <a:p>
            <a:pPr algn="l"/>
            <a:r>
              <a:rPr lang="ko-KR" sz="1600">
                <a:solidFill>
                  <a:srgbClr val="5E6672"/>
                </a:solidFill>
                <a:latin typeface="KoPub돋움체 Medium" panose="02020603020101020101" pitchFamily="18" charset="-127"/>
                <a:ea typeface="KoPub돋움체 Medium" panose="02020603020101020101" pitchFamily="18" charset="-127"/>
                <a:cs typeface="KoPub돋움체 Medium"/>
              </a:rPr>
              <a:t>개발, 검증, 동료 사용지원</a:t>
            </a:r>
          </a:p>
        </p:txBody>
      </p:sp>
      <p:sp>
        <p:nvSpPr>
          <p:cNvPr id="20" name="close_box"/>
          <p:cNvSpPr/>
          <p:nvPr/>
        </p:nvSpPr>
        <p:spPr>
          <a:xfrm>
            <a:off x="621792" y="4846320"/>
            <a:ext cx="10945368" cy="1097280"/>
          </a:xfrm>
          <a:prstGeom prst="rect">
            <a:avLst/>
          </a:prstGeom>
          <a:solidFill>
            <a:srgbClr val="724598"/>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a:p>
        </p:txBody>
      </p:sp>
      <p:sp>
        <p:nvSpPr>
          <p:cNvPr id="21" name="close_text"/>
          <p:cNvSpPr txBox="1"/>
          <p:nvPr/>
        </p:nvSpPr>
        <p:spPr>
          <a:xfrm>
            <a:off x="914400" y="4846320"/>
            <a:ext cx="10424160" cy="1097280"/>
          </a:xfrm>
          <a:prstGeom prst="rect">
            <a:avLst/>
          </a:prstGeom>
          <a:noFill/>
        </p:spPr>
        <p:txBody>
          <a:bodyPr wrap="square" lIns="0" tIns="0" rIns="0" bIns="0" anchor="ctr">
            <a:noAutofit/>
          </a:bodyPr>
          <a:lstStyle/>
          <a:p>
            <a:pPr algn="ctr"/>
            <a:r>
              <a:rPr lang="ko-KR" sz="2200">
                <a:solidFill>
                  <a:srgbClr val="FFFFFF"/>
                </a:solidFill>
                <a:latin typeface="KoPub돋움체 Bold" panose="02020603020101020101" pitchFamily="18" charset="-127"/>
                <a:ea typeface="KoPub돋움체 Bold" panose="02020603020101020101" pitchFamily="18" charset="-127"/>
                <a:cs typeface="KoPub돋움체 Bold"/>
              </a:rPr>
              <a:t>현장의 문제를 직접 개선한 경험을 이어가겠습니다</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nd_main"/>
          <p:cNvSpPr txBox="1"/>
          <p:nvPr/>
        </p:nvSpPr>
        <p:spPr>
          <a:xfrm>
            <a:off x="365760" y="4681728"/>
            <a:ext cx="11457432" cy="685800"/>
          </a:xfrm>
          <a:prstGeom prst="rect">
            <a:avLst/>
          </a:prstGeom>
          <a:noFill/>
        </p:spPr>
        <p:txBody>
          <a:bodyPr wrap="square" lIns="0" tIns="0" rIns="0" bIns="0" anchor="ctr">
            <a:noAutofit/>
          </a:bodyPr>
          <a:lstStyle/>
          <a:p>
            <a:pPr algn="ctr" eaLnBrk="0"/>
            <a:r>
              <a:rPr lang="ko-KR" sz="3600">
                <a:solidFill>
                  <a:srgbClr val="1F1F1F"/>
                </a:solidFill>
                <a:latin typeface="KoPub돋움체 Bold" panose="02020603020101020101" pitchFamily="18" charset="-127"/>
                <a:ea typeface="KoPub돋움체 Bold" panose="02020603020101020101" pitchFamily="18" charset="-127"/>
                <a:cs typeface="KoPub돋움체 Bold"/>
              </a:rPr>
              <a:t>현장을 바꾼 15명의 AX 챌린저, 고맙습니다</a:t>
            </a:r>
          </a:p>
        </p:txBody>
      </p:sp>
      <p:sp>
        <p:nvSpPr>
          <p:cNvPr id="3" name="end_sub"/>
          <p:cNvSpPr txBox="1"/>
          <p:nvPr/>
        </p:nvSpPr>
        <p:spPr>
          <a:xfrm>
            <a:off x="365760" y="5413248"/>
            <a:ext cx="11457432" cy="457200"/>
          </a:xfrm>
          <a:prstGeom prst="rect">
            <a:avLst/>
          </a:prstGeom>
          <a:noFill/>
        </p:spPr>
        <p:txBody>
          <a:bodyPr wrap="square" lIns="0" tIns="0" rIns="0" bIns="0" anchor="ctr">
            <a:noAutofit/>
          </a:bodyPr>
          <a:lstStyle/>
          <a:p>
            <a:pPr algn="ctr" eaLnBrk="0"/>
            <a:r>
              <a:rPr lang="ko-KR" sz="1800">
                <a:solidFill>
                  <a:srgbClr val="5E6672"/>
                </a:solidFill>
                <a:latin typeface="KoPub돋움체 Medium" panose="02020603020101020101" pitchFamily="18" charset="-127"/>
                <a:ea typeface="KoPub돋움체 Medium" panose="02020603020101020101" pitchFamily="18" charset="-127"/>
                <a:cs typeface="KoPub돋움체 Medium"/>
              </a:rPr>
              <a:t>2027년, 여러분의 반복업무가 다음 혁신이 됩니다  ·  </a:t>
            </a:r>
            <a:r>
              <a:rPr lang="ko-KR" sz="1800">
                <a:solidFill>
                  <a:srgbClr val="724598"/>
                </a:solidFill>
                <a:latin typeface="KoPub돋움체 Bold" panose="02020603020101020101" pitchFamily="18" charset="-127"/>
                <a:ea typeface="KoPub돋움체 Bold" panose="02020603020101020101" pitchFamily="18" charset="-127"/>
                <a:cs typeface="KoPub돋움체 Bold"/>
              </a:rPr>
              <a:t>2기 AX 챌린저로 함께해 주세요</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1337</TotalTime>
  <Words>5075</Words>
  <Application>Microsoft Office PowerPoint</Application>
  <PresentationFormat>와이드스크린</PresentationFormat>
  <Paragraphs>645</Paragraphs>
  <Slides>24</Slides>
  <Notes>23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24</vt:i4>
      </vt:variant>
    </vt:vector>
  </HeadingPairs>
  <TitlesOfParts>
    <vt:vector size="29" baseType="lpstr">
      <vt:lpstr>KoPub돋움체 Bold</vt:lpstr>
      <vt:lpstr>Arial</vt:lpstr>
      <vt:lpstr>맑은 고딕</vt:lpstr>
      <vt:lpstr>KoPub돋움체 Medium</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2023. 정책기획실 업무보고</dc:title>
  <dc:creator>서원하</dc:creator>
  <cp:lastModifiedBy>원하 서</cp:lastModifiedBy>
  <cp:revision>109</cp:revision>
  <cp:lastPrinted>2023-03-03T00:06:42Z</cp:lastPrinted>
  <dcterms:created xsi:type="dcterms:W3CDTF">2023-03-02T11:57:50Z</dcterms:created>
  <dcterms:modified xsi:type="dcterms:W3CDTF">2026-10-04T08:00:00Z</dcterms:modified>
</cp:coreProperties>
</file>